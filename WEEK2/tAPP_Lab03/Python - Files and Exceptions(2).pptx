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60" r:id="rId7"/>
    <p:sldId id="268" r:id="rId8"/>
    <p:sldId id="269" r:id="rId9"/>
    <p:sldId id="267" r:id="rId10"/>
    <p:sldId id="270" r:id="rId11"/>
    <p:sldId id="261" r:id="rId12"/>
    <p:sldId id="265" r:id="rId13"/>
    <p:sldId id="262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851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04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787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44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05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72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01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39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14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000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85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E25BE-D9B3-4940-8004-C496024AF85B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A62CC-719D-4BF8-A3ED-858A81B04B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4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Files and Exceptions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522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Files are suitable for storing results that are needed for an extended period of time, and for holding input values for a programme that will run several times.</a:t>
            </a:r>
          </a:p>
          <a:p>
            <a:r>
              <a:rPr lang="en-GB" dirty="0"/>
              <a:t>Files are classified as text file or binary file</a:t>
            </a:r>
          </a:p>
          <a:p>
            <a:endParaRPr lang="en-GB" dirty="0"/>
          </a:p>
          <a:p>
            <a:r>
              <a:rPr lang="en-GB" dirty="0"/>
              <a:t>Text files: Can only contains characters using an encoding system such as ASCII and UTF-8. can be viewed and modified using any text editor. </a:t>
            </a:r>
          </a:p>
          <a:p>
            <a:endParaRPr lang="en-GB" dirty="0"/>
          </a:p>
          <a:p>
            <a:r>
              <a:rPr lang="en-GB" dirty="0"/>
              <a:t>Binary files: sequence of bits. Can contain any type of data, not just characters. E.g. images, sound, videos.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532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GB" dirty="0"/>
              <a:t>Opening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496944" cy="5544616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A file must be opened before data values can be read from it and before new data values are written to it.</a:t>
            </a:r>
          </a:p>
          <a:p>
            <a:endParaRPr lang="en-GB" dirty="0"/>
          </a:p>
          <a:p>
            <a:r>
              <a:rPr lang="en-GB" dirty="0"/>
              <a:t>Files are opened by calling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lang="en-GB" dirty="0"/>
              <a:t> function.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lang="en-GB" dirty="0"/>
              <a:t> function takes two arguments: The string that contains the name of the file and the string that indicates the 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access mode </a:t>
            </a:r>
            <a:r>
              <a:rPr lang="en-GB" dirty="0"/>
              <a:t>for the file.</a:t>
            </a:r>
          </a:p>
          <a:p>
            <a:endParaRPr lang="en-GB" dirty="0"/>
          </a:p>
          <a:p>
            <a:r>
              <a:rPr lang="en-GB" dirty="0"/>
              <a:t>Access modes: read (denoted by “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GB" dirty="0"/>
              <a:t>”), write (denoted by “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GB" dirty="0"/>
              <a:t>”) and append (denoted by “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GB" dirty="0"/>
              <a:t>”)</a:t>
            </a:r>
          </a:p>
          <a:p>
            <a:endParaRPr lang="en-GB" dirty="0"/>
          </a:p>
          <a:p>
            <a:r>
              <a:rPr lang="en-GB" dirty="0"/>
              <a:t>A 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 object </a:t>
            </a:r>
            <a:r>
              <a:rPr lang="en-GB" dirty="0"/>
              <a:t>is returned by the open function.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Once a file is opened, methods can be applied to the file object to read data from the file or to write data to the file.</a:t>
            </a:r>
          </a:p>
          <a:p>
            <a:endParaRPr lang="en-GB" dirty="0"/>
          </a:p>
          <a:p>
            <a:r>
              <a:rPr lang="en-GB" dirty="0"/>
              <a:t>The file should be closed once all of the values have been read or written using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close()</a:t>
            </a:r>
            <a:r>
              <a:rPr lang="en-GB" dirty="0"/>
              <a:t> function.</a:t>
            </a:r>
          </a:p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3789040"/>
            <a:ext cx="2432634" cy="68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8288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GB" dirty="0"/>
              <a:t>Reading Input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28800"/>
            <a:ext cx="3682752" cy="45259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Use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dirty="0"/>
              <a:t>" when you want to read an existing file without modifying it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 method reads one line from the file and returns it as a string, much like the input function reads a line of text typed on the keyboard.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()</a:t>
            </a:r>
            <a:r>
              <a:rPr lang="en-GB" dirty="0"/>
              <a:t> returns an empty string when there is no further data to read from the file.</a:t>
            </a:r>
          </a:p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412776"/>
            <a:ext cx="4743450" cy="450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6165304"/>
            <a:ext cx="3657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44151" y="548680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Our list: numbers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460432" y="1195011"/>
            <a:ext cx="144016" cy="3617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725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GB" dirty="0"/>
              <a:t>Reading Input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3754760" cy="5187627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Sometimes it is helpful to read all of the data from the file instead of reading one line at a time.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read() </a:t>
            </a:r>
            <a:r>
              <a:rPr lang="en-GB" dirty="0"/>
              <a:t>method or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readlines </a:t>
            </a:r>
            <a:r>
              <a:rPr lang="en-GB" dirty="0"/>
              <a:t>method can help accomplish that.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read() </a:t>
            </a:r>
            <a:r>
              <a:rPr lang="en-GB" dirty="0"/>
              <a:t>method will return the entire content of the file as one string – further processing is required to break the string into smaller pieces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</a:t>
            </a:r>
            <a:r>
              <a:rPr lang="en-GB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method returns a list where each element is one line from the file. Once all the lines have been read, a loop can be used to process each element in the list. </a:t>
            </a:r>
          </a:p>
          <a:p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412776"/>
            <a:ext cx="397192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980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GB" dirty="0"/>
              <a:t>Writing Output to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13034"/>
            <a:ext cx="7344816" cy="3628999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When a file is opened in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GB" dirty="0"/>
              <a:t> mode, a new empty file is created</a:t>
            </a:r>
          </a:p>
          <a:p>
            <a:r>
              <a:rPr lang="en-GB" dirty="0"/>
              <a:t>So, if that file already exists, then it will be deleted, and all data in it will be lost.</a:t>
            </a:r>
          </a:p>
          <a:p>
            <a:r>
              <a:rPr lang="en-GB" dirty="0"/>
              <a:t>Open an existing file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GB" dirty="0"/>
              <a:t> mode to write data at the end of that file.</a:t>
            </a:r>
          </a:p>
          <a:p>
            <a:r>
              <a:rPr lang="en-GB" dirty="0"/>
              <a:t>If the file opened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GB" dirty="0"/>
              <a:t> mode does not exist, then a new file will be created.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GB" dirty="0"/>
              <a:t> method can be used to write data opened either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GB" dirty="0"/>
              <a:t> mode 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GB" dirty="0"/>
              <a:t> mode. (In brief,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write() </a:t>
            </a:r>
            <a:r>
              <a:rPr lang="en-GB" dirty="0"/>
              <a:t>expects a string and </a:t>
            </a:r>
            <a:r>
              <a:rPr lang="en-GB" b="1" dirty="0"/>
              <a:t>does not add a newline automatically</a:t>
            </a:r>
            <a:r>
              <a:rPr lang="en-GB" dirty="0"/>
              <a:t>.)</a:t>
            </a:r>
          </a:p>
          <a:p>
            <a:r>
              <a:rPr lang="en-GB" dirty="0"/>
              <a:t>It takes one argument, a string. Convert other value types to a string using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function.</a:t>
            </a:r>
          </a:p>
          <a:p>
            <a:r>
              <a:rPr lang="en-GB" dirty="0"/>
              <a:t> Unlike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 </a:t>
            </a:r>
            <a:r>
              <a:rPr lang="en-GB" dirty="0">
                <a:cs typeface="Courier New" panose="02070309020205020404" pitchFamily="49" charset="0"/>
              </a:rPr>
              <a:t>method</a:t>
            </a:r>
            <a:r>
              <a:rPr lang="en-GB" dirty="0"/>
              <a:t>, the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write()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method does not automatically move to the next line.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\n </a:t>
            </a:r>
            <a:r>
              <a:rPr lang="en-GB" dirty="0"/>
              <a:t>denotes end of line marker.</a:t>
            </a:r>
          </a:p>
          <a:p>
            <a:endParaRPr lang="en-GB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522336"/>
            <a:ext cx="4824536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508104" y="4797151"/>
            <a:ext cx="3168352" cy="132343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This programme writes the numbers from 1 up to (including) a number entered by the user to a file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4788024" y="5085184"/>
            <a:ext cx="720080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163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Reading and Writing to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.csv </a:t>
            </a:r>
            <a:r>
              <a:rPr lang="en-GB" dirty="0"/>
              <a:t>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0807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.CSV (Comma Separated Values) is associated with importing and exporting spreadsheets and databases.</a:t>
            </a:r>
          </a:p>
          <a:p>
            <a:r>
              <a:rPr lang="en-GB" dirty="0"/>
              <a:t>Allows greater control over data</a:t>
            </a:r>
          </a:p>
          <a:p>
            <a:r>
              <a:rPr lang="en-GB" dirty="0"/>
              <a:t>When opening 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.csv </a:t>
            </a:r>
            <a:r>
              <a:rPr lang="en-GB" dirty="0"/>
              <a:t>file, you must specify how that file will be used. The options are: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299018"/>
              </p:ext>
            </p:extLst>
          </p:nvPr>
        </p:nvGraphicFramePr>
        <p:xfrm>
          <a:off x="683568" y="3861048"/>
          <a:ext cx="7848872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9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‘w’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Creates a new file and writes to that file. If the file already exist, a new file will be created, overwriting the existing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‘x’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Creates a new file and writes to that file. If</a:t>
                      </a:r>
                      <a:r>
                        <a:rPr lang="en-GB" baseline="0" dirty="0"/>
                        <a:t> the file already exits, the programme will crash rather than overwriting it.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‘r’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Opens for reading only and will not allow you to make any changes.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Opens for writing, appending to the end of the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164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360040"/>
          </a:xfrm>
        </p:spPr>
        <p:txBody>
          <a:bodyPr>
            <a:normAutofit fontScale="90000"/>
          </a:bodyPr>
          <a:lstStyle/>
          <a:p>
            <a:r>
              <a:rPr lang="en-GB" sz="4000" dirty="0">
                <a:solidFill>
                  <a:prstClr val="black"/>
                </a:solidFill>
              </a:rPr>
              <a:t>Reading and Writing to a </a:t>
            </a:r>
            <a:r>
              <a:rPr lang="en-GB" sz="40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.csv </a:t>
            </a:r>
            <a:r>
              <a:rPr lang="en-GB" sz="4000" dirty="0">
                <a:solidFill>
                  <a:prstClr val="black"/>
                </a:solidFill>
              </a:rPr>
              <a:t>File</a:t>
            </a:r>
            <a:endParaRPr lang="en-GB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0688"/>
            <a:ext cx="5184576" cy="605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252953" y="1583377"/>
            <a:ext cx="4781170" cy="2031325"/>
          </a:xfrm>
          <a:prstGeom prst="rect">
            <a:avLst/>
          </a:prstGeom>
          <a:noFill/>
          <a:ln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CSV files are plain-text files containing tabular data. You can read, overwrite, or append to them.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To change an existing row safely, a common approach is to read the data, modify it in memory, and rewrite the file. 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If you need to alter the file, write to a temporary list. This code reads the original file and write it to a list called “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528" y="654824"/>
            <a:ext cx="4091203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4077072"/>
            <a:ext cx="4527597" cy="131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56176" y="5589240"/>
            <a:ext cx="2304256" cy="954107"/>
          </a:xfrm>
          <a:prstGeom prst="rect">
            <a:avLst/>
          </a:prstGeom>
          <a:noFill/>
          <a:ln w="12700"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Writes from a list to a new csv file called “NewStars.csv”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6803764" y="1143643"/>
            <a:ext cx="432048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0"/>
          </p:cNvCxnSpPr>
          <p:nvPr/>
        </p:nvCxnSpPr>
        <p:spPr>
          <a:xfrm flipH="1" flipV="1">
            <a:off x="7092280" y="5157192"/>
            <a:ext cx="216024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40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 fontScale="90000"/>
          </a:bodyPr>
          <a:lstStyle/>
          <a:p>
            <a:r>
              <a:rPr lang="en-GB" dirty="0"/>
              <a:t>More code example - Writing and reading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50" y="1484784"/>
            <a:ext cx="6250050" cy="4973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1988840"/>
            <a:ext cx="1133475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48064" y="4653136"/>
            <a:ext cx="3024336" cy="1200329"/>
          </a:xfrm>
          <a:prstGeom prst="rect">
            <a:avLst/>
          </a:prstGeom>
          <a:noFill/>
          <a:ln w="12700">
            <a:solidFill>
              <a:srgbClr val="7030A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file.close</a:t>
            </a:r>
            <a:r>
              <a:rPr lang="en-US" dirty="0"/>
              <a:t>() function at the end of the code tells Python the task of creating or reading </a:t>
            </a:r>
            <a:r>
              <a:rPr lang="en-US"/>
              <a:t>is complete.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9499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51B29-CFCD-F5AC-891A-0008E5CC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Python’s CSV module for reading and writing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363D66-AD31-2A97-3EA5-6D7E7DD00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84" y="1844824"/>
            <a:ext cx="7770738" cy="1728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797D61-8705-CA23-3CA5-D288DD3A6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16" y="3878643"/>
            <a:ext cx="7863274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77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GB" dirty="0"/>
              <a:t>Command Line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08720"/>
            <a:ext cx="7632848" cy="216024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Being able to provide input from the command line is beneficial when writing scripts that use multiple programmes to automate some tasks and programmes that are scheduled to run periodically.</a:t>
            </a:r>
          </a:p>
          <a:p>
            <a:r>
              <a:rPr lang="en-GB" dirty="0"/>
              <a:t>Any command line argument provided when the programme was executed are stored into a variable named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/>
              <a:t>(argument vector) that resides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lang="en-GB" dirty="0"/>
              <a:t> (system)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284984"/>
            <a:ext cx="54102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021288"/>
            <a:ext cx="55149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16216" y="3501008"/>
            <a:ext cx="2304256" cy="1477328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This programme demonstrates accessing the argument vector.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6160189" y="4005064"/>
            <a:ext cx="35602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289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GB" dirty="0"/>
              <a:t>Command Line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08720"/>
            <a:ext cx="7632848" cy="1296144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Command line arguments can be used to supply any input values to the programme that can be typed on the command line such as integers, floating-point numbers, and strings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991" y="1916832"/>
            <a:ext cx="5858247" cy="4615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2333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50704" cy="706090"/>
          </a:xfrm>
        </p:spPr>
        <p:txBody>
          <a:bodyPr>
            <a:normAutofit fontScale="90000"/>
          </a:bodyPr>
          <a:lstStyle/>
          <a:p>
            <a:r>
              <a:rPr lang="en-GB" dirty="0"/>
              <a:t>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561662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cs typeface="Courier New" panose="02070309020205020404" pitchFamily="49" charset="0"/>
              </a:rPr>
              <a:t>An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 </a:t>
            </a:r>
            <a:r>
              <a:rPr lang="en-US" dirty="0">
                <a:cs typeface="Courier New" panose="02070309020205020404" pitchFamily="49" charset="0"/>
              </a:rPr>
              <a:t>is an error detected while a program is running. If it is not handled, the program usually stops</a:t>
            </a:r>
            <a:r>
              <a:rPr lang="en-GB" dirty="0"/>
              <a:t>. For example, a user can supply a non-numeric value when a numeric value is expected.</a:t>
            </a:r>
          </a:p>
          <a:p>
            <a:r>
              <a:rPr lang="en-GB" dirty="0"/>
              <a:t>By default, a Python programme will crash when an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exception </a:t>
            </a:r>
            <a:r>
              <a:rPr lang="en-GB" dirty="0"/>
              <a:t>occurs.</a:t>
            </a:r>
          </a:p>
          <a:p>
            <a:r>
              <a:rPr lang="en-GB" dirty="0"/>
              <a:t>So, the programmer must indicate where an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GB" dirty="0"/>
              <a:t> might occur in order to catch it.</a:t>
            </a:r>
          </a:p>
          <a:p>
            <a:r>
              <a:rPr lang="en-GB" dirty="0"/>
              <a:t>The programmer must also indicate what code to run to handle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GB" dirty="0"/>
              <a:t> when it happens.</a:t>
            </a:r>
          </a:p>
          <a:p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GB" dirty="0"/>
              <a:t> are used.</a:t>
            </a:r>
          </a:p>
          <a:p>
            <a:r>
              <a:rPr lang="en-GB" dirty="0"/>
              <a:t>The code that might cause an exception that we want to catch is placed inside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GB" dirty="0"/>
              <a:t> block</a:t>
            </a:r>
          </a:p>
          <a:p>
            <a:r>
              <a:rPr lang="en-GB" dirty="0"/>
              <a:t>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GB" dirty="0"/>
              <a:t> block is immediately followed by one or more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GB" dirty="0"/>
              <a:t> blocks.</a:t>
            </a:r>
          </a:p>
          <a:p>
            <a:r>
              <a:rPr lang="en-GB" dirty="0"/>
              <a:t>When an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GB" dirty="0"/>
              <a:t> occurs inside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GB" dirty="0"/>
              <a:t> block, execution immediately jumps to the appropriate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GB" dirty="0"/>
              <a:t> block without running any remaining statements in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GB" dirty="0"/>
              <a:t> block.</a:t>
            </a:r>
          </a:p>
          <a:p>
            <a:r>
              <a:rPr lang="en-GB" dirty="0"/>
              <a:t>An </a:t>
            </a:r>
            <a:r>
              <a:rPr lang="en-GB" dirty="0">
                <a:latin typeface="Courier New" panose="02070309020205020404" pitchFamily="49" charset="0"/>
              </a:rPr>
              <a:t>except</a:t>
            </a:r>
            <a:r>
              <a:rPr lang="en-GB" dirty="0"/>
              <a:t> block without a specified exception type will catch almost any exception raised in the corresponding </a:t>
            </a:r>
            <a:r>
              <a:rPr lang="en-GB" dirty="0">
                <a:latin typeface="Courier New" panose="02070309020205020404" pitchFamily="49" charset="0"/>
              </a:rPr>
              <a:t>try</a:t>
            </a:r>
            <a:r>
              <a:rPr lang="en-GB" dirty="0"/>
              <a:t> block. However, it is usually better to catch specific exceptions where possible.</a:t>
            </a:r>
          </a:p>
          <a:p>
            <a:r>
              <a:rPr lang="en-GB" dirty="0"/>
              <a:t>The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except </a:t>
            </a:r>
            <a:r>
              <a:rPr lang="en-GB" dirty="0"/>
              <a:t>block only executes when an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GB" dirty="0"/>
              <a:t> occurs.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72A0E-9BEF-1470-5E41-1635DA018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60" y="151937"/>
            <a:ext cx="3572374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1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114800" cy="490064"/>
          </a:xfrm>
        </p:spPr>
        <p:txBody>
          <a:bodyPr>
            <a:noAutofit/>
          </a:bodyPr>
          <a:lstStyle/>
          <a:p>
            <a:r>
              <a:rPr lang="en-GB" sz="3000" dirty="0"/>
              <a:t>Exceptions example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861048"/>
            <a:ext cx="2902300" cy="2664296"/>
          </a:xfrm>
          <a:ln>
            <a:solidFill>
              <a:srgbClr val="0070C0"/>
            </a:solidFill>
            <a:prstDash val="dash"/>
          </a:ln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A user can re-enter the name of the file. However this can also cause an exception. A loop is used to run until the user enters the name of the file successfully. </a:t>
            </a:r>
            <a:r>
              <a:rPr lang="en-GB"/>
              <a:t>The try </a:t>
            </a:r>
            <a:r>
              <a:rPr lang="en-GB" dirty="0"/>
              <a:t>and except are inside the loop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340766"/>
            <a:ext cx="5684515" cy="2304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812" y="4221088"/>
            <a:ext cx="6073028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331912" y="1349152"/>
            <a:ext cx="2592288" cy="1719808"/>
          </a:xfrm>
          <a:prstGeom prst="rect">
            <a:avLst/>
          </a:prstGeom>
          <a:ln>
            <a:solidFill>
              <a:srgbClr val="0070C0"/>
            </a:solidFill>
            <a:prstDash val="dash"/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Quits when the file requested by the user is not found which is not always ideal.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D71AD8-0DE6-2F9D-5F27-9685CD354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88" y="46165"/>
            <a:ext cx="4608512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91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1252</Words>
  <Application>Microsoft Office PowerPoint</Application>
  <PresentationFormat>On-screen Show (4:3)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Files and Exceptions</vt:lpstr>
      <vt:lpstr>File</vt:lpstr>
      <vt:lpstr>Opening a File</vt:lpstr>
      <vt:lpstr>Reading Input from a File</vt:lpstr>
      <vt:lpstr>Reading Input from a File</vt:lpstr>
      <vt:lpstr>Writing Output to a File</vt:lpstr>
      <vt:lpstr>Reading and Writing to a .csv File</vt:lpstr>
      <vt:lpstr>Reading and Writing to a .csv File</vt:lpstr>
      <vt:lpstr>More code example - Writing and reading</vt:lpstr>
      <vt:lpstr>Python’s CSV module for reading and writing</vt:lpstr>
      <vt:lpstr>Command Line Arguments</vt:lpstr>
      <vt:lpstr>Command Line Arguments</vt:lpstr>
      <vt:lpstr>Exceptions</vt:lpstr>
      <vt:lpstr>Exceptions example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 and Exceptions</dc:title>
  <dc:creator>Mireilla Bikanga</dc:creator>
  <cp:lastModifiedBy>Mireilla Bikanga Ada</cp:lastModifiedBy>
  <cp:revision>33</cp:revision>
  <dcterms:created xsi:type="dcterms:W3CDTF">2019-08-12T15:28:04Z</dcterms:created>
  <dcterms:modified xsi:type="dcterms:W3CDTF">2026-09-17T21:30:46Z</dcterms:modified>
</cp:coreProperties>
</file>
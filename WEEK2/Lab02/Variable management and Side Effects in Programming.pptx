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5" r:id="rId3"/>
    <p:sldId id="257" r:id="rId4"/>
    <p:sldId id="262" r:id="rId5"/>
    <p:sldId id="264" r:id="rId6"/>
    <p:sldId id="258" r:id="rId7"/>
    <p:sldId id="259" r:id="rId8"/>
    <p:sldId id="260" r:id="rId9"/>
    <p:sldId id="261"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6283" autoAdjust="0"/>
  </p:normalViewPr>
  <p:slideViewPr>
    <p:cSldViewPr snapToGrid="0" snapToObjects="1">
      <p:cViewPr varScale="1">
        <p:scale>
          <a:sx n="91" d="100"/>
          <a:sy n="91" d="100"/>
        </p:scale>
        <p:origin x="1210" y="8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reilla Bikanga Ada" userId="b964f4d4-5927-4a33-a1eb-35030e652755" providerId="ADAL" clId="{1CE0C7EA-CD2F-470E-826C-A98843D60587}"/>
    <pc:docChg chg="custSel modSld">
      <pc:chgData name="Mireilla Bikanga Ada" userId="b964f4d4-5927-4a33-a1eb-35030e652755" providerId="ADAL" clId="{1CE0C7EA-CD2F-470E-826C-A98843D60587}" dt="2024-08-28T10:23:22.819" v="0" actId="478"/>
      <pc:docMkLst>
        <pc:docMk/>
      </pc:docMkLst>
      <pc:sldChg chg="addSp delSp modSp mod">
        <pc:chgData name="Mireilla Bikanga Ada" userId="b964f4d4-5927-4a33-a1eb-35030e652755" providerId="ADAL" clId="{1CE0C7EA-CD2F-470E-826C-A98843D60587}" dt="2024-08-28T10:23:22.819" v="0" actId="478"/>
        <pc:sldMkLst>
          <pc:docMk/>
          <pc:sldMk cId="0" sldId="256"/>
        </pc:sldMkLst>
        <pc:spChg chg="del">
          <ac:chgData name="Mireilla Bikanga Ada" userId="b964f4d4-5927-4a33-a1eb-35030e652755" providerId="ADAL" clId="{1CE0C7EA-CD2F-470E-826C-A98843D60587}" dt="2024-08-28T10:23:22.819" v="0" actId="478"/>
          <ac:spMkLst>
            <pc:docMk/>
            <pc:sldMk cId="0" sldId="256"/>
            <ac:spMk id="3" creationId="{00000000-0000-0000-0000-000000000000}"/>
          </ac:spMkLst>
        </pc:spChg>
        <pc:spChg chg="add mod">
          <ac:chgData name="Mireilla Bikanga Ada" userId="b964f4d4-5927-4a33-a1eb-35030e652755" providerId="ADAL" clId="{1CE0C7EA-CD2F-470E-826C-A98843D60587}" dt="2024-08-28T10:23:22.819" v="0" actId="478"/>
          <ac:spMkLst>
            <pc:docMk/>
            <pc:sldMk cId="0" sldId="256"/>
            <ac:spMk id="5" creationId="{B843222C-92FB-EEC4-1E5F-2355A03A759A}"/>
          </ac:spMkLst>
        </pc:spChg>
      </pc:sldChg>
    </pc:docChg>
  </pc:docChgLst>
  <pc:docChgLst>
    <pc:chgData name="Mireilla Bikanga Ada" userId="b964f4d4-5927-4a33-a1eb-35030e652755" providerId="ADAL" clId="{7C2C6021-4EAB-4A69-888F-36554E59B379}"/>
    <pc:docChg chg="custSel addSld delSld modSld">
      <pc:chgData name="Mireilla Bikanga Ada" userId="b964f4d4-5927-4a33-a1eb-35030e652755" providerId="ADAL" clId="{7C2C6021-4EAB-4A69-888F-36554E59B379}" dt="2024-08-07T09:59:58.977" v="212" actId="2696"/>
      <pc:docMkLst>
        <pc:docMk/>
      </pc:docMkLst>
      <pc:sldChg chg="modSp mod">
        <pc:chgData name="Mireilla Bikanga Ada" userId="b964f4d4-5927-4a33-a1eb-35030e652755" providerId="ADAL" clId="{7C2C6021-4EAB-4A69-888F-36554E59B379}" dt="2024-08-06T16:16:44.756" v="112" actId="255"/>
        <pc:sldMkLst>
          <pc:docMk/>
          <pc:sldMk cId="0" sldId="257"/>
        </pc:sldMkLst>
        <pc:spChg chg="mod">
          <ac:chgData name="Mireilla Bikanga Ada" userId="b964f4d4-5927-4a33-a1eb-35030e652755" providerId="ADAL" clId="{7C2C6021-4EAB-4A69-888F-36554E59B379}" dt="2024-08-06T16:16:44.756" v="112" actId="255"/>
          <ac:spMkLst>
            <pc:docMk/>
            <pc:sldMk cId="0" sldId="257"/>
            <ac:spMk id="2" creationId="{00000000-0000-0000-0000-000000000000}"/>
          </ac:spMkLst>
        </pc:spChg>
      </pc:sldChg>
      <pc:sldChg chg="modSp mod">
        <pc:chgData name="Mireilla Bikanga Ada" userId="b964f4d4-5927-4a33-a1eb-35030e652755" providerId="ADAL" clId="{7C2C6021-4EAB-4A69-888F-36554E59B379}" dt="2024-08-06T15:17:01.524" v="37" actId="207"/>
        <pc:sldMkLst>
          <pc:docMk/>
          <pc:sldMk cId="0" sldId="258"/>
        </pc:sldMkLst>
        <pc:spChg chg="mod">
          <ac:chgData name="Mireilla Bikanga Ada" userId="b964f4d4-5927-4a33-a1eb-35030e652755" providerId="ADAL" clId="{7C2C6021-4EAB-4A69-888F-36554E59B379}" dt="2024-08-06T15:17:01.524" v="37" actId="207"/>
          <ac:spMkLst>
            <pc:docMk/>
            <pc:sldMk cId="0" sldId="258"/>
            <ac:spMk id="3" creationId="{00000000-0000-0000-0000-000000000000}"/>
          </ac:spMkLst>
        </pc:spChg>
      </pc:sldChg>
      <pc:sldChg chg="addSp modSp mod">
        <pc:chgData name="Mireilla Bikanga Ada" userId="b964f4d4-5927-4a33-a1eb-35030e652755" providerId="ADAL" clId="{7C2C6021-4EAB-4A69-888F-36554E59B379}" dt="2024-08-07T09:58:28.901" v="211" actId="14100"/>
        <pc:sldMkLst>
          <pc:docMk/>
          <pc:sldMk cId="0" sldId="260"/>
        </pc:sldMkLst>
        <pc:spChg chg="mod">
          <ac:chgData name="Mireilla Bikanga Ada" userId="b964f4d4-5927-4a33-a1eb-35030e652755" providerId="ADAL" clId="{7C2C6021-4EAB-4A69-888F-36554E59B379}" dt="2024-08-07T09:55:52.193" v="131" actId="1076"/>
          <ac:spMkLst>
            <pc:docMk/>
            <pc:sldMk cId="0" sldId="260"/>
            <ac:spMk id="3" creationId="{00000000-0000-0000-0000-000000000000}"/>
          </ac:spMkLst>
        </pc:spChg>
        <pc:spChg chg="add mod">
          <ac:chgData name="Mireilla Bikanga Ada" userId="b964f4d4-5927-4a33-a1eb-35030e652755" providerId="ADAL" clId="{7C2C6021-4EAB-4A69-888F-36554E59B379}" dt="2024-08-07T09:58:22.583" v="210" actId="14100"/>
          <ac:spMkLst>
            <pc:docMk/>
            <pc:sldMk cId="0" sldId="260"/>
            <ac:spMk id="7" creationId="{3B014B3D-74FE-A445-8489-2C0D2F454794}"/>
          </ac:spMkLst>
        </pc:spChg>
        <pc:spChg chg="add mod">
          <ac:chgData name="Mireilla Bikanga Ada" userId="b964f4d4-5927-4a33-a1eb-35030e652755" providerId="ADAL" clId="{7C2C6021-4EAB-4A69-888F-36554E59B379}" dt="2024-08-07T09:57:10.518" v="144"/>
          <ac:spMkLst>
            <pc:docMk/>
            <pc:sldMk cId="0" sldId="260"/>
            <ac:spMk id="9" creationId="{18547E9B-E254-55F9-61D4-ABEC78493278}"/>
          </ac:spMkLst>
        </pc:spChg>
        <pc:picChg chg="add mod">
          <ac:chgData name="Mireilla Bikanga Ada" userId="b964f4d4-5927-4a33-a1eb-35030e652755" providerId="ADAL" clId="{7C2C6021-4EAB-4A69-888F-36554E59B379}" dt="2024-08-07T09:55:19.611" v="116" actId="1076"/>
          <ac:picMkLst>
            <pc:docMk/>
            <pc:sldMk cId="0" sldId="260"/>
            <ac:picMk id="5" creationId="{084C3FB7-619B-427D-E5C1-14807B619A03}"/>
          </ac:picMkLst>
        </pc:picChg>
        <pc:cxnChg chg="add mod">
          <ac:chgData name="Mireilla Bikanga Ada" userId="b964f4d4-5927-4a33-a1eb-35030e652755" providerId="ADAL" clId="{7C2C6021-4EAB-4A69-888F-36554E59B379}" dt="2024-08-07T09:58:28.901" v="211" actId="14100"/>
          <ac:cxnSpMkLst>
            <pc:docMk/>
            <pc:sldMk cId="0" sldId="260"/>
            <ac:cxnSpMk id="11" creationId="{017C9E4A-7165-E178-F534-E60E26BAB6ED}"/>
          </ac:cxnSpMkLst>
        </pc:cxnChg>
        <pc:cxnChg chg="add mod">
          <ac:chgData name="Mireilla Bikanga Ada" userId="b964f4d4-5927-4a33-a1eb-35030e652755" providerId="ADAL" clId="{7C2C6021-4EAB-4A69-888F-36554E59B379}" dt="2024-08-07T09:57:37.903" v="157" actId="14100"/>
          <ac:cxnSpMkLst>
            <pc:docMk/>
            <pc:sldMk cId="0" sldId="260"/>
            <ac:cxnSpMk id="12" creationId="{4625CA92-2028-0809-0BE4-F64F91E030C5}"/>
          </ac:cxnSpMkLst>
        </pc:cxnChg>
      </pc:sldChg>
      <pc:sldChg chg="modSp mod">
        <pc:chgData name="Mireilla Bikanga Ada" userId="b964f4d4-5927-4a33-a1eb-35030e652755" providerId="ADAL" clId="{7C2C6021-4EAB-4A69-888F-36554E59B379}" dt="2024-08-06T15:01:55.510" v="4" actId="20577"/>
        <pc:sldMkLst>
          <pc:docMk/>
          <pc:sldMk cId="1581759922" sldId="262"/>
        </pc:sldMkLst>
        <pc:spChg chg="mod">
          <ac:chgData name="Mireilla Bikanga Ada" userId="b964f4d4-5927-4a33-a1eb-35030e652755" providerId="ADAL" clId="{7C2C6021-4EAB-4A69-888F-36554E59B379}" dt="2024-08-06T15:01:55.510" v="4" actId="20577"/>
          <ac:spMkLst>
            <pc:docMk/>
            <pc:sldMk cId="1581759922" sldId="262"/>
            <ac:spMk id="3" creationId="{00000000-0000-0000-0000-000000000000}"/>
          </ac:spMkLst>
        </pc:spChg>
      </pc:sldChg>
      <pc:sldChg chg="new del">
        <pc:chgData name="Mireilla Bikanga Ada" userId="b964f4d4-5927-4a33-a1eb-35030e652755" providerId="ADAL" clId="{7C2C6021-4EAB-4A69-888F-36554E59B379}" dt="2024-08-07T09:59:58.977" v="212" actId="2696"/>
        <pc:sldMkLst>
          <pc:docMk/>
          <pc:sldMk cId="2575149171" sldId="263"/>
        </pc:sldMkLst>
      </pc:sldChg>
      <pc:sldChg chg="addSp delSp modSp add mod">
        <pc:chgData name="Mireilla Bikanga Ada" userId="b964f4d4-5927-4a33-a1eb-35030e652755" providerId="ADAL" clId="{7C2C6021-4EAB-4A69-888F-36554E59B379}" dt="2024-08-06T15:58:39.863" v="101" actId="1076"/>
        <pc:sldMkLst>
          <pc:docMk/>
          <pc:sldMk cId="1556023066" sldId="264"/>
        </pc:sldMkLst>
        <pc:spChg chg="mod">
          <ac:chgData name="Mireilla Bikanga Ada" userId="b964f4d4-5927-4a33-a1eb-35030e652755" providerId="ADAL" clId="{7C2C6021-4EAB-4A69-888F-36554E59B379}" dt="2024-08-06T15:58:19.462" v="95" actId="20577"/>
          <ac:spMkLst>
            <pc:docMk/>
            <pc:sldMk cId="1556023066" sldId="264"/>
            <ac:spMk id="2" creationId="{00000000-0000-0000-0000-000000000000}"/>
          </ac:spMkLst>
        </pc:spChg>
        <pc:spChg chg="del">
          <ac:chgData name="Mireilla Bikanga Ada" userId="b964f4d4-5927-4a33-a1eb-35030e652755" providerId="ADAL" clId="{7C2C6021-4EAB-4A69-888F-36554E59B379}" dt="2024-08-06T15:23:39.821" v="44" actId="478"/>
          <ac:spMkLst>
            <pc:docMk/>
            <pc:sldMk cId="1556023066" sldId="264"/>
            <ac:spMk id="3" creationId="{00000000-0000-0000-0000-000000000000}"/>
          </ac:spMkLst>
        </pc:spChg>
        <pc:spChg chg="del mod">
          <ac:chgData name="Mireilla Bikanga Ada" userId="b964f4d4-5927-4a33-a1eb-35030e652755" providerId="ADAL" clId="{7C2C6021-4EAB-4A69-888F-36554E59B379}" dt="2024-08-06T15:57:58.622" v="72" actId="478"/>
          <ac:spMkLst>
            <pc:docMk/>
            <pc:sldMk cId="1556023066" sldId="264"/>
            <ac:spMk id="7" creationId="{509667F8-4CF5-DFCE-3E5E-B2CD5A5BBB09}"/>
          </ac:spMkLst>
        </pc:spChg>
        <pc:spChg chg="add del mod">
          <ac:chgData name="Mireilla Bikanga Ada" userId="b964f4d4-5927-4a33-a1eb-35030e652755" providerId="ADAL" clId="{7C2C6021-4EAB-4A69-888F-36554E59B379}" dt="2024-08-06T15:23:43.062" v="45" actId="478"/>
          <ac:spMkLst>
            <pc:docMk/>
            <pc:sldMk cId="1556023066" sldId="264"/>
            <ac:spMk id="10" creationId="{5D9284B3-A5D9-7A6F-D7D6-619697897404}"/>
          </ac:spMkLst>
        </pc:spChg>
        <pc:picChg chg="add del mod">
          <ac:chgData name="Mireilla Bikanga Ada" userId="b964f4d4-5927-4a33-a1eb-35030e652755" providerId="ADAL" clId="{7C2C6021-4EAB-4A69-888F-36554E59B379}" dt="2024-08-06T15:57:52.723" v="70" actId="478"/>
          <ac:picMkLst>
            <pc:docMk/>
            <pc:sldMk cId="1556023066" sldId="264"/>
            <ac:picMk id="5" creationId="{5220AA51-7F62-868E-A0EA-070DCB689638}"/>
          </ac:picMkLst>
        </pc:picChg>
        <pc:picChg chg="del">
          <ac:chgData name="Mireilla Bikanga Ada" userId="b964f4d4-5927-4a33-a1eb-35030e652755" providerId="ADAL" clId="{7C2C6021-4EAB-4A69-888F-36554E59B379}" dt="2024-08-06T15:23:27.809" v="40" actId="478"/>
          <ac:picMkLst>
            <pc:docMk/>
            <pc:sldMk cId="1556023066" sldId="264"/>
            <ac:picMk id="8" creationId="{3B6DB000-5956-64AB-9131-D91BC3E200D6}"/>
          </ac:picMkLst>
        </pc:picChg>
        <pc:picChg chg="del">
          <ac:chgData name="Mireilla Bikanga Ada" userId="b964f4d4-5927-4a33-a1eb-35030e652755" providerId="ADAL" clId="{7C2C6021-4EAB-4A69-888F-36554E59B379}" dt="2024-08-06T15:24:05.441" v="46" actId="478"/>
          <ac:picMkLst>
            <pc:docMk/>
            <pc:sldMk cId="1556023066" sldId="264"/>
            <ac:picMk id="12" creationId="{5D381525-4224-2A45-93C4-373F706718E8}"/>
          </ac:picMkLst>
        </pc:picChg>
        <pc:picChg chg="add mod">
          <ac:chgData name="Mireilla Bikanga Ada" userId="b964f4d4-5927-4a33-a1eb-35030e652755" providerId="ADAL" clId="{7C2C6021-4EAB-4A69-888F-36554E59B379}" dt="2024-08-06T15:58:39.863" v="101" actId="1076"/>
          <ac:picMkLst>
            <pc:docMk/>
            <pc:sldMk cId="1556023066" sldId="264"/>
            <ac:picMk id="13" creationId="{882CB60B-9BA5-77CC-C80A-99EC342AA4E9}"/>
          </ac:picMkLst>
        </pc:picChg>
        <pc:picChg chg="add mod">
          <ac:chgData name="Mireilla Bikanga Ada" userId="b964f4d4-5927-4a33-a1eb-35030e652755" providerId="ADAL" clId="{7C2C6021-4EAB-4A69-888F-36554E59B379}" dt="2024-08-06T15:58:36.879" v="100" actId="14100"/>
          <ac:picMkLst>
            <pc:docMk/>
            <pc:sldMk cId="1556023066" sldId="264"/>
            <ac:picMk id="16" creationId="{0CE6B4FB-500D-E471-E8FB-885111BCDB63}"/>
          </ac:picMkLst>
        </pc:picChg>
        <pc:cxnChg chg="mod ord">
          <ac:chgData name="Mireilla Bikanga Ada" userId="b964f4d4-5927-4a33-a1eb-35030e652755" providerId="ADAL" clId="{7C2C6021-4EAB-4A69-888F-36554E59B379}" dt="2024-08-06T15:24:55.771" v="52" actId="14100"/>
          <ac:cxnSpMkLst>
            <pc:docMk/>
            <pc:sldMk cId="1556023066" sldId="264"/>
            <ac:cxnSpMk id="9" creationId="{58835673-C971-9E4F-C605-D0F4C8AE9397}"/>
          </ac:cxnSpMkLst>
        </pc:cxnChg>
      </pc:sldChg>
      <pc:sldChg chg="modSp new mod">
        <pc:chgData name="Mireilla Bikanga Ada" userId="b964f4d4-5927-4a33-a1eb-35030e652755" providerId="ADAL" clId="{7C2C6021-4EAB-4A69-888F-36554E59B379}" dt="2024-08-06T16:01:41.513" v="111" actId="27636"/>
        <pc:sldMkLst>
          <pc:docMk/>
          <pc:sldMk cId="1005686415" sldId="265"/>
        </pc:sldMkLst>
        <pc:spChg chg="mod">
          <ac:chgData name="Mireilla Bikanga Ada" userId="b964f4d4-5927-4a33-a1eb-35030e652755" providerId="ADAL" clId="{7C2C6021-4EAB-4A69-888F-36554E59B379}" dt="2024-08-06T16:01:19.388" v="106"/>
          <ac:spMkLst>
            <pc:docMk/>
            <pc:sldMk cId="1005686415" sldId="265"/>
            <ac:spMk id="2" creationId="{DBF9A41D-9E71-353E-D7E4-840F06D8A05D}"/>
          </ac:spMkLst>
        </pc:spChg>
        <pc:spChg chg="mod">
          <ac:chgData name="Mireilla Bikanga Ada" userId="b964f4d4-5927-4a33-a1eb-35030e652755" providerId="ADAL" clId="{7C2C6021-4EAB-4A69-888F-36554E59B379}" dt="2024-08-06T16:01:41.513" v="111" actId="27636"/>
          <ac:spMkLst>
            <pc:docMk/>
            <pc:sldMk cId="1005686415" sldId="265"/>
            <ac:spMk id="3" creationId="{C33F780D-C40A-B8A2-1B0F-306CA6A2157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Managing Variables and Side Effects in Programming</a:t>
            </a:r>
          </a:p>
        </p:txBody>
      </p:sp>
      <p:sp>
        <p:nvSpPr>
          <p:cNvPr id="5" name="Subtitle 4">
            <a:extLst>
              <a:ext uri="{FF2B5EF4-FFF2-40B4-BE49-F238E27FC236}">
                <a16:creationId xmlns:a16="http://schemas.microsoft.com/office/drawing/2014/main" id="{B843222C-92FB-EEC4-1E5F-2355A03A759A}"/>
              </a:ext>
            </a:extLst>
          </p:cNvPr>
          <p:cNvSpPr>
            <a:spLocks noGrp="1"/>
          </p:cNvSpPr>
          <p:nvPr>
            <p:ph type="subTitle" idx="1"/>
          </p:nvPr>
        </p:nvSpPr>
        <p:spPr/>
        <p:txBody>
          <a:bodyPr/>
          <a:lstStyle/>
          <a:p>
            <a:endParaRPr lang="en-GB"/>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9A41D-9E71-353E-D7E4-840F06D8A05D}"/>
              </a:ext>
            </a:extLst>
          </p:cNvPr>
          <p:cNvSpPr>
            <a:spLocks noGrp="1"/>
          </p:cNvSpPr>
          <p:nvPr>
            <p:ph type="title"/>
          </p:nvPr>
        </p:nvSpPr>
        <p:spPr/>
        <p:txBody>
          <a:bodyPr/>
          <a:lstStyle/>
          <a:p>
            <a:r>
              <a:rPr lang="en-US" dirty="0"/>
              <a:t>Local vs. Global Scope</a:t>
            </a:r>
            <a:endParaRPr lang="en-GB" dirty="0"/>
          </a:p>
        </p:txBody>
      </p:sp>
      <p:sp>
        <p:nvSpPr>
          <p:cNvPr id="3" name="Content Placeholder 2">
            <a:extLst>
              <a:ext uri="{FF2B5EF4-FFF2-40B4-BE49-F238E27FC236}">
                <a16:creationId xmlns:a16="http://schemas.microsoft.com/office/drawing/2014/main" id="{C33F780D-C40A-B8A2-1B0F-306CA6A21570}"/>
              </a:ext>
            </a:extLst>
          </p:cNvPr>
          <p:cNvSpPr>
            <a:spLocks noGrp="1"/>
          </p:cNvSpPr>
          <p:nvPr>
            <p:ph idx="1"/>
          </p:nvPr>
        </p:nvSpPr>
        <p:spPr/>
        <p:txBody>
          <a:bodyPr>
            <a:normAutofit lnSpcReduction="10000"/>
          </a:bodyPr>
          <a:lstStyle/>
          <a:p>
            <a:r>
              <a:rPr lang="en-US" dirty="0"/>
              <a:t>Understanding the distinction between local and global scope is crucial in preventing side effects due to variable name conflicts.</a:t>
            </a:r>
          </a:p>
          <a:p>
            <a:endParaRPr lang="en-US" dirty="0"/>
          </a:p>
          <a:p>
            <a:r>
              <a:rPr lang="en-US" dirty="0"/>
              <a:t>Modifications made to local variables within functions do not affect the global variables unless explicitly stated using the global keyword or if the function's return value is used to update the global variable.</a:t>
            </a:r>
            <a:endParaRPr lang="en-GB" dirty="0"/>
          </a:p>
        </p:txBody>
      </p:sp>
    </p:spTree>
    <p:extLst>
      <p:ext uri="{BB962C8B-B14F-4D97-AF65-F5344CB8AC3E}">
        <p14:creationId xmlns:p14="http://schemas.microsoft.com/office/powerpoint/2010/main" val="10056864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5194"/>
            <a:ext cx="8229600" cy="154546"/>
          </a:xfrm>
        </p:spPr>
        <p:txBody>
          <a:bodyPr>
            <a:noAutofit/>
          </a:bodyPr>
          <a:lstStyle/>
          <a:p>
            <a:r>
              <a:rPr lang="en-US" sz="3200" dirty="0"/>
              <a:t>Code with </a:t>
            </a:r>
            <a:r>
              <a:rPr sz="3200" dirty="0"/>
              <a:t>Side Effects</a:t>
            </a:r>
          </a:p>
        </p:txBody>
      </p:sp>
      <p:sp>
        <p:nvSpPr>
          <p:cNvPr id="3" name="Content Placeholder 2"/>
          <p:cNvSpPr>
            <a:spLocks noGrp="1"/>
          </p:cNvSpPr>
          <p:nvPr>
            <p:ph idx="1"/>
          </p:nvPr>
        </p:nvSpPr>
        <p:spPr>
          <a:xfrm>
            <a:off x="108643" y="413114"/>
            <a:ext cx="4463357" cy="1251642"/>
          </a:xfrm>
        </p:spPr>
        <p:txBody>
          <a:bodyPr>
            <a:normAutofit fontScale="92500" lnSpcReduction="10000"/>
          </a:bodyPr>
          <a:lstStyle/>
          <a:p>
            <a:r>
              <a:rPr sz="1600" dirty="0"/>
              <a:t>Side effects occur when an operation modifies state outside its local environment.</a:t>
            </a:r>
            <a:endParaRPr lang="en-US" sz="1600" dirty="0"/>
          </a:p>
          <a:p>
            <a:r>
              <a:rPr lang="en-US" sz="1600" dirty="0"/>
              <a:t>Debugging difficult because the behaviour of the program depends on the order and context of operations</a:t>
            </a:r>
            <a:endParaRPr sz="1600" dirty="0"/>
          </a:p>
        </p:txBody>
      </p:sp>
      <p:pic>
        <p:nvPicPr>
          <p:cNvPr id="5" name="Picture 4">
            <a:extLst>
              <a:ext uri="{FF2B5EF4-FFF2-40B4-BE49-F238E27FC236}">
                <a16:creationId xmlns:a16="http://schemas.microsoft.com/office/drawing/2014/main" id="{39D9E680-58E6-0C6F-CA4B-C5FC34AC075F}"/>
              </a:ext>
            </a:extLst>
          </p:cNvPr>
          <p:cNvPicPr>
            <a:picLocks noChangeAspect="1"/>
          </p:cNvPicPr>
          <p:nvPr/>
        </p:nvPicPr>
        <p:blipFill>
          <a:blip r:embed="rId2"/>
          <a:stretch>
            <a:fillRect/>
          </a:stretch>
        </p:blipFill>
        <p:spPr>
          <a:xfrm>
            <a:off x="417038" y="1664989"/>
            <a:ext cx="3924678" cy="3528022"/>
          </a:xfrm>
          <a:prstGeom prst="rect">
            <a:avLst/>
          </a:prstGeom>
        </p:spPr>
      </p:pic>
      <p:sp>
        <p:nvSpPr>
          <p:cNvPr id="7" name="TextBox 6">
            <a:extLst>
              <a:ext uri="{FF2B5EF4-FFF2-40B4-BE49-F238E27FC236}">
                <a16:creationId xmlns:a16="http://schemas.microsoft.com/office/drawing/2014/main" id="{509667F8-4CF5-DFCE-3E5E-B2CD5A5BBB09}"/>
              </a:ext>
            </a:extLst>
          </p:cNvPr>
          <p:cNvSpPr txBox="1"/>
          <p:nvPr/>
        </p:nvSpPr>
        <p:spPr>
          <a:xfrm>
            <a:off x="4446165" y="555547"/>
            <a:ext cx="4521294" cy="5755422"/>
          </a:xfrm>
          <a:custGeom>
            <a:avLst/>
            <a:gdLst>
              <a:gd name="csX0" fmla="*/ 0 w 4521294"/>
              <a:gd name="csY0" fmla="*/ 0 h 5755422"/>
              <a:gd name="csX1" fmla="*/ 519949 w 4521294"/>
              <a:gd name="csY1" fmla="*/ 0 h 5755422"/>
              <a:gd name="csX2" fmla="*/ 949472 w 4521294"/>
              <a:gd name="csY2" fmla="*/ 0 h 5755422"/>
              <a:gd name="csX3" fmla="*/ 1605059 w 4521294"/>
              <a:gd name="csY3" fmla="*/ 0 h 5755422"/>
              <a:gd name="csX4" fmla="*/ 2125008 w 4521294"/>
              <a:gd name="csY4" fmla="*/ 0 h 5755422"/>
              <a:gd name="csX5" fmla="*/ 2644957 w 4521294"/>
              <a:gd name="csY5" fmla="*/ 0 h 5755422"/>
              <a:gd name="csX6" fmla="*/ 3300545 w 4521294"/>
              <a:gd name="csY6" fmla="*/ 0 h 5755422"/>
              <a:gd name="csX7" fmla="*/ 3775280 w 4521294"/>
              <a:gd name="csY7" fmla="*/ 0 h 5755422"/>
              <a:gd name="csX8" fmla="*/ 4521294 w 4521294"/>
              <a:gd name="csY8" fmla="*/ 0 h 5755422"/>
              <a:gd name="csX9" fmla="*/ 4521294 w 4521294"/>
              <a:gd name="csY9" fmla="*/ 690651 h 5755422"/>
              <a:gd name="csX10" fmla="*/ 4521294 w 4521294"/>
              <a:gd name="csY10" fmla="*/ 1151084 h 5755422"/>
              <a:gd name="csX11" fmla="*/ 4521294 w 4521294"/>
              <a:gd name="csY11" fmla="*/ 1726627 h 5755422"/>
              <a:gd name="csX12" fmla="*/ 4521294 w 4521294"/>
              <a:gd name="csY12" fmla="*/ 2359723 h 5755422"/>
              <a:gd name="csX13" fmla="*/ 4521294 w 4521294"/>
              <a:gd name="csY13" fmla="*/ 2762603 h 5755422"/>
              <a:gd name="csX14" fmla="*/ 4521294 w 4521294"/>
              <a:gd name="csY14" fmla="*/ 3338145 h 5755422"/>
              <a:gd name="csX15" fmla="*/ 4521294 w 4521294"/>
              <a:gd name="csY15" fmla="*/ 3913687 h 5755422"/>
              <a:gd name="csX16" fmla="*/ 4521294 w 4521294"/>
              <a:gd name="csY16" fmla="*/ 4489229 h 5755422"/>
              <a:gd name="csX17" fmla="*/ 4521294 w 4521294"/>
              <a:gd name="csY17" fmla="*/ 5122326 h 5755422"/>
              <a:gd name="csX18" fmla="*/ 4521294 w 4521294"/>
              <a:gd name="csY18" fmla="*/ 5755422 h 5755422"/>
              <a:gd name="csX19" fmla="*/ 3910919 w 4521294"/>
              <a:gd name="csY19" fmla="*/ 5755422 h 5755422"/>
              <a:gd name="csX20" fmla="*/ 3436183 w 4521294"/>
              <a:gd name="csY20" fmla="*/ 5755422 h 5755422"/>
              <a:gd name="csX21" fmla="*/ 2780596 w 4521294"/>
              <a:gd name="csY21" fmla="*/ 5755422 h 5755422"/>
              <a:gd name="csX22" fmla="*/ 2215434 w 4521294"/>
              <a:gd name="csY22" fmla="*/ 5755422 h 5755422"/>
              <a:gd name="csX23" fmla="*/ 1740698 w 4521294"/>
              <a:gd name="csY23" fmla="*/ 5755422 h 5755422"/>
              <a:gd name="csX24" fmla="*/ 1175536 w 4521294"/>
              <a:gd name="csY24" fmla="*/ 5755422 h 5755422"/>
              <a:gd name="csX25" fmla="*/ 746014 w 4521294"/>
              <a:gd name="csY25" fmla="*/ 5755422 h 5755422"/>
              <a:gd name="csX26" fmla="*/ 0 w 4521294"/>
              <a:gd name="csY26" fmla="*/ 5755422 h 5755422"/>
              <a:gd name="csX27" fmla="*/ 0 w 4521294"/>
              <a:gd name="csY27" fmla="*/ 5179880 h 5755422"/>
              <a:gd name="csX28" fmla="*/ 0 w 4521294"/>
              <a:gd name="csY28" fmla="*/ 4719446 h 5755422"/>
              <a:gd name="csX29" fmla="*/ 0 w 4521294"/>
              <a:gd name="csY29" fmla="*/ 4028795 h 5755422"/>
              <a:gd name="csX30" fmla="*/ 0 w 4521294"/>
              <a:gd name="csY30" fmla="*/ 3510807 h 5755422"/>
              <a:gd name="csX31" fmla="*/ 0 w 4521294"/>
              <a:gd name="csY31" fmla="*/ 3107928 h 5755422"/>
              <a:gd name="csX32" fmla="*/ 0 w 4521294"/>
              <a:gd name="csY32" fmla="*/ 2474831 h 5755422"/>
              <a:gd name="csX33" fmla="*/ 0 w 4521294"/>
              <a:gd name="csY33" fmla="*/ 2014398 h 5755422"/>
              <a:gd name="csX34" fmla="*/ 0 w 4521294"/>
              <a:gd name="csY34" fmla="*/ 1381301 h 5755422"/>
              <a:gd name="csX35" fmla="*/ 0 w 4521294"/>
              <a:gd name="csY35" fmla="*/ 690651 h 5755422"/>
              <a:gd name="csX36" fmla="*/ 0 w 4521294"/>
              <a:gd name="csY36" fmla="*/ 0 h 575542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4521294" h="5755422" extrusionOk="0">
                <a:moveTo>
                  <a:pt x="0" y="0"/>
                </a:moveTo>
                <a:cubicBezTo>
                  <a:pt x="123020" y="-52951"/>
                  <a:pt x="410335" y="34288"/>
                  <a:pt x="519949" y="0"/>
                </a:cubicBezTo>
                <a:cubicBezTo>
                  <a:pt x="629563" y="-34288"/>
                  <a:pt x="768018" y="32697"/>
                  <a:pt x="949472" y="0"/>
                </a:cubicBezTo>
                <a:cubicBezTo>
                  <a:pt x="1130926" y="-32697"/>
                  <a:pt x="1451473" y="16253"/>
                  <a:pt x="1605059" y="0"/>
                </a:cubicBezTo>
                <a:cubicBezTo>
                  <a:pt x="1758645" y="-16253"/>
                  <a:pt x="2011637" y="20460"/>
                  <a:pt x="2125008" y="0"/>
                </a:cubicBezTo>
                <a:cubicBezTo>
                  <a:pt x="2238379" y="-20460"/>
                  <a:pt x="2524125" y="36940"/>
                  <a:pt x="2644957" y="0"/>
                </a:cubicBezTo>
                <a:cubicBezTo>
                  <a:pt x="2765789" y="-36940"/>
                  <a:pt x="3142165" y="66312"/>
                  <a:pt x="3300545" y="0"/>
                </a:cubicBezTo>
                <a:cubicBezTo>
                  <a:pt x="3458925" y="-66312"/>
                  <a:pt x="3641177" y="26811"/>
                  <a:pt x="3775280" y="0"/>
                </a:cubicBezTo>
                <a:cubicBezTo>
                  <a:pt x="3909384" y="-26811"/>
                  <a:pt x="4254803" y="37212"/>
                  <a:pt x="4521294" y="0"/>
                </a:cubicBezTo>
                <a:cubicBezTo>
                  <a:pt x="4597203" y="194367"/>
                  <a:pt x="4501733" y="550646"/>
                  <a:pt x="4521294" y="690651"/>
                </a:cubicBezTo>
                <a:cubicBezTo>
                  <a:pt x="4540855" y="830656"/>
                  <a:pt x="4485600" y="990268"/>
                  <a:pt x="4521294" y="1151084"/>
                </a:cubicBezTo>
                <a:cubicBezTo>
                  <a:pt x="4556988" y="1311900"/>
                  <a:pt x="4470703" y="1442775"/>
                  <a:pt x="4521294" y="1726627"/>
                </a:cubicBezTo>
                <a:cubicBezTo>
                  <a:pt x="4571885" y="2010479"/>
                  <a:pt x="4454674" y="2100632"/>
                  <a:pt x="4521294" y="2359723"/>
                </a:cubicBezTo>
                <a:cubicBezTo>
                  <a:pt x="4587914" y="2618814"/>
                  <a:pt x="4473829" y="2592321"/>
                  <a:pt x="4521294" y="2762603"/>
                </a:cubicBezTo>
                <a:cubicBezTo>
                  <a:pt x="4568759" y="2932885"/>
                  <a:pt x="4472783" y="3183776"/>
                  <a:pt x="4521294" y="3338145"/>
                </a:cubicBezTo>
                <a:cubicBezTo>
                  <a:pt x="4569805" y="3492514"/>
                  <a:pt x="4488824" y="3778332"/>
                  <a:pt x="4521294" y="3913687"/>
                </a:cubicBezTo>
                <a:cubicBezTo>
                  <a:pt x="4553764" y="4049042"/>
                  <a:pt x="4518083" y="4308795"/>
                  <a:pt x="4521294" y="4489229"/>
                </a:cubicBezTo>
                <a:cubicBezTo>
                  <a:pt x="4524505" y="4669663"/>
                  <a:pt x="4460097" y="4964020"/>
                  <a:pt x="4521294" y="5122326"/>
                </a:cubicBezTo>
                <a:cubicBezTo>
                  <a:pt x="4582491" y="5280632"/>
                  <a:pt x="4509339" y="5440900"/>
                  <a:pt x="4521294" y="5755422"/>
                </a:cubicBezTo>
                <a:cubicBezTo>
                  <a:pt x="4223223" y="5784933"/>
                  <a:pt x="4052804" y="5746304"/>
                  <a:pt x="3910919" y="5755422"/>
                </a:cubicBezTo>
                <a:cubicBezTo>
                  <a:pt x="3769034" y="5764540"/>
                  <a:pt x="3640600" y="5724358"/>
                  <a:pt x="3436183" y="5755422"/>
                </a:cubicBezTo>
                <a:cubicBezTo>
                  <a:pt x="3231766" y="5786486"/>
                  <a:pt x="2926148" y="5739025"/>
                  <a:pt x="2780596" y="5755422"/>
                </a:cubicBezTo>
                <a:cubicBezTo>
                  <a:pt x="2635044" y="5771819"/>
                  <a:pt x="2423537" y="5689572"/>
                  <a:pt x="2215434" y="5755422"/>
                </a:cubicBezTo>
                <a:cubicBezTo>
                  <a:pt x="2007331" y="5821272"/>
                  <a:pt x="1919184" y="5711167"/>
                  <a:pt x="1740698" y="5755422"/>
                </a:cubicBezTo>
                <a:cubicBezTo>
                  <a:pt x="1562212" y="5799677"/>
                  <a:pt x="1295538" y="5717505"/>
                  <a:pt x="1175536" y="5755422"/>
                </a:cubicBezTo>
                <a:cubicBezTo>
                  <a:pt x="1055534" y="5793339"/>
                  <a:pt x="877713" y="5727492"/>
                  <a:pt x="746014" y="5755422"/>
                </a:cubicBezTo>
                <a:cubicBezTo>
                  <a:pt x="614315" y="5783352"/>
                  <a:pt x="197681" y="5714590"/>
                  <a:pt x="0" y="5755422"/>
                </a:cubicBezTo>
                <a:cubicBezTo>
                  <a:pt x="-33518" y="5578142"/>
                  <a:pt x="15620" y="5359869"/>
                  <a:pt x="0" y="5179880"/>
                </a:cubicBezTo>
                <a:cubicBezTo>
                  <a:pt x="-15620" y="4999891"/>
                  <a:pt x="30947" y="4948160"/>
                  <a:pt x="0" y="4719446"/>
                </a:cubicBezTo>
                <a:cubicBezTo>
                  <a:pt x="-30947" y="4490732"/>
                  <a:pt x="51090" y="4245974"/>
                  <a:pt x="0" y="4028795"/>
                </a:cubicBezTo>
                <a:cubicBezTo>
                  <a:pt x="-51090" y="3811616"/>
                  <a:pt x="17357" y="3699885"/>
                  <a:pt x="0" y="3510807"/>
                </a:cubicBezTo>
                <a:cubicBezTo>
                  <a:pt x="-17357" y="3321729"/>
                  <a:pt x="30292" y="3236840"/>
                  <a:pt x="0" y="3107928"/>
                </a:cubicBezTo>
                <a:cubicBezTo>
                  <a:pt x="-30292" y="2979016"/>
                  <a:pt x="38431" y="2707486"/>
                  <a:pt x="0" y="2474831"/>
                </a:cubicBezTo>
                <a:cubicBezTo>
                  <a:pt x="-38431" y="2242176"/>
                  <a:pt x="41307" y="2222159"/>
                  <a:pt x="0" y="2014398"/>
                </a:cubicBezTo>
                <a:cubicBezTo>
                  <a:pt x="-41307" y="1806637"/>
                  <a:pt x="61660" y="1690506"/>
                  <a:pt x="0" y="1381301"/>
                </a:cubicBezTo>
                <a:cubicBezTo>
                  <a:pt x="-61660" y="1072096"/>
                  <a:pt x="76643" y="871153"/>
                  <a:pt x="0" y="690651"/>
                </a:cubicBezTo>
                <a:cubicBezTo>
                  <a:pt x="-76643" y="510149"/>
                  <a:pt x="994" y="255469"/>
                  <a:pt x="0" y="0"/>
                </a:cubicBezTo>
                <a:close/>
              </a:path>
            </a:pathLst>
          </a:custGeom>
          <a:noFill/>
          <a:ln>
            <a:solidFill>
              <a:schemeClr val="accent1"/>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txBody>
          <a:bodyPr wrap="square" rtlCol="0">
            <a:spAutoFit/>
          </a:bodyPr>
          <a:lstStyle/>
          <a:p>
            <a:r>
              <a:rPr lang="en-US" sz="1600" b="1" dirty="0"/>
              <a:t>Global Variable: </a:t>
            </a:r>
            <a:r>
              <a:rPr lang="en-US" sz="1600" dirty="0"/>
              <a:t>The variable </a:t>
            </a:r>
            <a:r>
              <a:rPr lang="en-US" sz="1600" b="1" dirty="0">
                <a:solidFill>
                  <a:srgbClr val="FF0000"/>
                </a:solidFill>
              </a:rPr>
              <a:t>count</a:t>
            </a:r>
            <a:r>
              <a:rPr lang="en-US" sz="1600" dirty="0"/>
              <a:t> is defined outside of any function, making it a global variable. This means a global variable can be read from functions, but assigning to it inside a function normally creates a local variable unless global is declared.</a:t>
            </a:r>
          </a:p>
          <a:p>
            <a:endParaRPr lang="en-US" sz="1600" dirty="0"/>
          </a:p>
          <a:p>
            <a:r>
              <a:rPr lang="en-US" sz="1600" b="1" dirty="0"/>
              <a:t>Function with Side Effect: </a:t>
            </a:r>
            <a:r>
              <a:rPr lang="en-US" sz="1600" dirty="0"/>
              <a:t>The function </a:t>
            </a:r>
            <a:r>
              <a:rPr lang="en-US" sz="1600" b="1" dirty="0">
                <a:solidFill>
                  <a:srgbClr val="FF0000"/>
                </a:solidFill>
              </a:rPr>
              <a:t>increment() </a:t>
            </a:r>
            <a:r>
              <a:rPr lang="en-US" sz="1600" dirty="0"/>
              <a:t>is designed to modify the global variable count. It uses the </a:t>
            </a:r>
            <a:r>
              <a:rPr lang="en-US" sz="1600" i="1" dirty="0"/>
              <a:t>global</a:t>
            </a:r>
            <a:r>
              <a:rPr lang="en-US" sz="1600" dirty="0"/>
              <a:t> keyword to indicate that it intends to modify the global variable </a:t>
            </a:r>
            <a:r>
              <a:rPr lang="en-US" sz="1600" b="1" dirty="0">
                <a:solidFill>
                  <a:srgbClr val="FF0000"/>
                </a:solidFill>
              </a:rPr>
              <a:t>count</a:t>
            </a:r>
            <a:r>
              <a:rPr lang="en-US" sz="1600" dirty="0"/>
              <a:t>, rather than creating a local variable of the same name. It alters this variable outside its local scope.</a:t>
            </a:r>
          </a:p>
          <a:p>
            <a:endParaRPr lang="en-US" sz="1600" dirty="0"/>
          </a:p>
          <a:p>
            <a:r>
              <a:rPr lang="en-US" sz="1600" b="1" dirty="0">
                <a:solidFill>
                  <a:srgbClr val="FF0000"/>
                </a:solidFill>
              </a:rPr>
              <a:t>Modifying Global State: </a:t>
            </a:r>
            <a:r>
              <a:rPr lang="en-US" sz="1600" dirty="0"/>
              <a:t>When </a:t>
            </a:r>
            <a:r>
              <a:rPr lang="en-US" sz="1600" b="1" dirty="0">
                <a:solidFill>
                  <a:srgbClr val="FF0000"/>
                </a:solidFill>
              </a:rPr>
              <a:t>increment()</a:t>
            </a:r>
            <a:r>
              <a:rPr lang="en-US" sz="1600" dirty="0"/>
              <a:t> is called, it increments the value of </a:t>
            </a:r>
            <a:r>
              <a:rPr lang="en-US" sz="1600" b="1" dirty="0">
                <a:solidFill>
                  <a:srgbClr val="FF0000"/>
                </a:solidFill>
              </a:rPr>
              <a:t>count</a:t>
            </a:r>
            <a:r>
              <a:rPr lang="en-US" sz="1600" dirty="0"/>
              <a:t>, which modifies the state outside its local environment (i.e., the global state).</a:t>
            </a:r>
          </a:p>
          <a:p>
            <a:endParaRPr lang="en-US" sz="1600" dirty="0"/>
          </a:p>
          <a:p>
            <a:r>
              <a:rPr lang="en-US" sz="1600" b="1" dirty="0"/>
              <a:t>Output: </a:t>
            </a:r>
            <a:r>
              <a:rPr lang="en-US" sz="1600" dirty="0"/>
              <a:t>The </a:t>
            </a:r>
            <a:r>
              <a:rPr lang="en-US" sz="1600" b="1" dirty="0">
                <a:solidFill>
                  <a:srgbClr val="FF0000"/>
                </a:solidFill>
              </a:rPr>
              <a:t>main() function </a:t>
            </a:r>
            <a:r>
              <a:rPr lang="en-US" sz="1600" dirty="0"/>
              <a:t>demonstrates the side effect by printing the value of </a:t>
            </a:r>
            <a:r>
              <a:rPr lang="en-US" sz="1600" b="1" dirty="0">
                <a:solidFill>
                  <a:srgbClr val="FF0000"/>
                </a:solidFill>
              </a:rPr>
              <a:t>count</a:t>
            </a:r>
            <a:r>
              <a:rPr lang="en-US" sz="1600" dirty="0"/>
              <a:t> before and after calling </a:t>
            </a:r>
            <a:r>
              <a:rPr lang="en-US" sz="1600" b="1" dirty="0">
                <a:solidFill>
                  <a:srgbClr val="FF0000"/>
                </a:solidFill>
              </a:rPr>
              <a:t>increment()</a:t>
            </a:r>
            <a:r>
              <a:rPr lang="en-US" sz="1600" dirty="0"/>
              <a:t>. You can see how calling increment() changes the global variable's value.</a:t>
            </a:r>
            <a:endParaRPr lang="en-GB" sz="1600" dirty="0"/>
          </a:p>
        </p:txBody>
      </p:sp>
      <p:cxnSp>
        <p:nvCxnSpPr>
          <p:cNvPr id="9" name="Straight Arrow Connector 8">
            <a:extLst>
              <a:ext uri="{FF2B5EF4-FFF2-40B4-BE49-F238E27FC236}">
                <a16:creationId xmlns:a16="http://schemas.microsoft.com/office/drawing/2014/main" id="{58835673-C971-9E4F-C605-D0F4C8AE9397}"/>
              </a:ext>
            </a:extLst>
          </p:cNvPr>
          <p:cNvCxnSpPr>
            <a:cxnSpLocks/>
          </p:cNvCxnSpPr>
          <p:nvPr/>
        </p:nvCxnSpPr>
        <p:spPr>
          <a:xfrm flipH="1">
            <a:off x="1520982" y="1390557"/>
            <a:ext cx="2925183" cy="500958"/>
          </a:xfrm>
          <a:prstGeom prst="straightConnector1">
            <a:avLst/>
          </a:prstGeom>
          <a:ln w="44450">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C2E1A8AB-7036-23A2-FF52-18F6D9869B86}"/>
              </a:ext>
            </a:extLst>
          </p:cNvPr>
          <p:cNvCxnSpPr>
            <a:cxnSpLocks/>
          </p:cNvCxnSpPr>
          <p:nvPr/>
        </p:nvCxnSpPr>
        <p:spPr>
          <a:xfrm flipH="1">
            <a:off x="1520982" y="2499766"/>
            <a:ext cx="2925183" cy="142433"/>
          </a:xfrm>
          <a:prstGeom prst="straightConnector1">
            <a:avLst/>
          </a:prstGeom>
          <a:ln w="44450">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CD06DA88-0DF9-87B2-AD32-610A6F66C9C4}"/>
              </a:ext>
            </a:extLst>
          </p:cNvPr>
          <p:cNvCxnSpPr>
            <a:cxnSpLocks/>
          </p:cNvCxnSpPr>
          <p:nvPr/>
        </p:nvCxnSpPr>
        <p:spPr>
          <a:xfrm flipH="1" flipV="1">
            <a:off x="3446712" y="3917604"/>
            <a:ext cx="999453" cy="205074"/>
          </a:xfrm>
          <a:prstGeom prst="straightConnector1">
            <a:avLst/>
          </a:prstGeom>
          <a:ln w="44450">
            <a:tailEnd type="triangle"/>
          </a:ln>
        </p:spPr>
        <p:style>
          <a:lnRef idx="2">
            <a:schemeClr val="accent1"/>
          </a:lnRef>
          <a:fillRef idx="0">
            <a:schemeClr val="accent1"/>
          </a:fillRef>
          <a:effectRef idx="1">
            <a:schemeClr val="accent1"/>
          </a:effectRef>
          <a:fontRef idx="minor">
            <a:schemeClr val="tx1"/>
          </a:fontRef>
        </p:style>
      </p:cxnSp>
      <p:pic>
        <p:nvPicPr>
          <p:cNvPr id="18" name="Picture 17">
            <a:extLst>
              <a:ext uri="{FF2B5EF4-FFF2-40B4-BE49-F238E27FC236}">
                <a16:creationId xmlns:a16="http://schemas.microsoft.com/office/drawing/2014/main" id="{05CF0DF1-23C7-4649-2A20-D17C4CFF4B92}"/>
              </a:ext>
            </a:extLst>
          </p:cNvPr>
          <p:cNvPicPr>
            <a:picLocks noChangeAspect="1"/>
          </p:cNvPicPr>
          <p:nvPr/>
        </p:nvPicPr>
        <p:blipFill>
          <a:blip r:embed="rId3"/>
          <a:stretch>
            <a:fillRect/>
          </a:stretch>
        </p:blipFill>
        <p:spPr>
          <a:xfrm>
            <a:off x="858179" y="5193011"/>
            <a:ext cx="2838450" cy="847725"/>
          </a:xfrm>
          <a:prstGeom prst="rect">
            <a:avLst/>
          </a:prstGeom>
        </p:spPr>
      </p:pic>
      <p:cxnSp>
        <p:nvCxnSpPr>
          <p:cNvPr id="19" name="Straight Arrow Connector 18">
            <a:extLst>
              <a:ext uri="{FF2B5EF4-FFF2-40B4-BE49-F238E27FC236}">
                <a16:creationId xmlns:a16="http://schemas.microsoft.com/office/drawing/2014/main" id="{3180A92C-42A4-35DC-48AB-99DBFE4E574E}"/>
              </a:ext>
            </a:extLst>
          </p:cNvPr>
          <p:cNvCxnSpPr>
            <a:cxnSpLocks/>
          </p:cNvCxnSpPr>
          <p:nvPr/>
        </p:nvCxnSpPr>
        <p:spPr>
          <a:xfrm flipH="1" flipV="1">
            <a:off x="3794809" y="5467443"/>
            <a:ext cx="777191" cy="149430"/>
          </a:xfrm>
          <a:prstGeom prst="straightConnector1">
            <a:avLst/>
          </a:prstGeom>
          <a:ln w="44450">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D8AB9ECA-05A1-5481-362D-7F9306B4EFD6}"/>
              </a:ext>
            </a:extLst>
          </p:cNvPr>
          <p:cNvCxnSpPr>
            <a:cxnSpLocks/>
          </p:cNvCxnSpPr>
          <p:nvPr/>
        </p:nvCxnSpPr>
        <p:spPr>
          <a:xfrm flipH="1" flipV="1">
            <a:off x="1967745" y="4825830"/>
            <a:ext cx="2478420" cy="509614"/>
          </a:xfrm>
          <a:prstGeom prst="straightConnector1">
            <a:avLst/>
          </a:prstGeom>
          <a:ln w="44450">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5193"/>
            <a:ext cx="8229600" cy="438889"/>
          </a:xfrm>
        </p:spPr>
        <p:txBody>
          <a:bodyPr>
            <a:normAutofit fontScale="90000"/>
          </a:bodyPr>
          <a:lstStyle/>
          <a:p>
            <a:r>
              <a:rPr lang="en-US" dirty="0"/>
              <a:t>Code without </a:t>
            </a:r>
            <a:r>
              <a:rPr dirty="0"/>
              <a:t>Side Effects</a:t>
            </a:r>
          </a:p>
        </p:txBody>
      </p:sp>
      <p:sp>
        <p:nvSpPr>
          <p:cNvPr id="3" name="Content Placeholder 2"/>
          <p:cNvSpPr>
            <a:spLocks noGrp="1"/>
          </p:cNvSpPr>
          <p:nvPr>
            <p:ph idx="1"/>
          </p:nvPr>
        </p:nvSpPr>
        <p:spPr>
          <a:xfrm>
            <a:off x="108643" y="709983"/>
            <a:ext cx="4463357" cy="629930"/>
          </a:xfrm>
        </p:spPr>
        <p:txBody>
          <a:bodyPr>
            <a:normAutofit/>
          </a:bodyPr>
          <a:lstStyle/>
          <a:p>
            <a:pPr marL="0" indent="0">
              <a:buNone/>
            </a:pPr>
            <a:r>
              <a:rPr lang="en-US" sz="1600" dirty="0"/>
              <a:t>To avoid side effects, you can return a new value rather than modifying global state.</a:t>
            </a:r>
            <a:endParaRPr sz="1600" dirty="0"/>
          </a:p>
        </p:txBody>
      </p:sp>
      <p:sp>
        <p:nvSpPr>
          <p:cNvPr id="7" name="TextBox 6">
            <a:extLst>
              <a:ext uri="{FF2B5EF4-FFF2-40B4-BE49-F238E27FC236}">
                <a16:creationId xmlns:a16="http://schemas.microsoft.com/office/drawing/2014/main" id="{509667F8-4CF5-DFCE-3E5E-B2CD5A5BBB09}"/>
              </a:ext>
            </a:extLst>
          </p:cNvPr>
          <p:cNvSpPr txBox="1"/>
          <p:nvPr/>
        </p:nvSpPr>
        <p:spPr>
          <a:xfrm>
            <a:off x="4927348" y="1596115"/>
            <a:ext cx="3924678" cy="3477875"/>
          </a:xfrm>
          <a:custGeom>
            <a:avLst/>
            <a:gdLst>
              <a:gd name="csX0" fmla="*/ 0 w 3924678"/>
              <a:gd name="csY0" fmla="*/ 0 h 3477875"/>
              <a:gd name="csX1" fmla="*/ 521422 w 3924678"/>
              <a:gd name="csY1" fmla="*/ 0 h 3477875"/>
              <a:gd name="csX2" fmla="*/ 964349 w 3924678"/>
              <a:gd name="csY2" fmla="*/ 0 h 3477875"/>
              <a:gd name="csX3" fmla="*/ 1603511 w 3924678"/>
              <a:gd name="csY3" fmla="*/ 0 h 3477875"/>
              <a:gd name="csX4" fmla="*/ 2124933 w 3924678"/>
              <a:gd name="csY4" fmla="*/ 0 h 3477875"/>
              <a:gd name="csX5" fmla="*/ 2646354 w 3924678"/>
              <a:gd name="csY5" fmla="*/ 0 h 3477875"/>
              <a:gd name="csX6" fmla="*/ 3285516 w 3924678"/>
              <a:gd name="csY6" fmla="*/ 0 h 3477875"/>
              <a:gd name="csX7" fmla="*/ 3924678 w 3924678"/>
              <a:gd name="csY7" fmla="*/ 0 h 3477875"/>
              <a:gd name="csX8" fmla="*/ 3924678 w 3924678"/>
              <a:gd name="csY8" fmla="*/ 649203 h 3477875"/>
              <a:gd name="csX9" fmla="*/ 3924678 w 3924678"/>
              <a:gd name="csY9" fmla="*/ 1159292 h 3477875"/>
              <a:gd name="csX10" fmla="*/ 3924678 w 3924678"/>
              <a:gd name="csY10" fmla="*/ 1669380 h 3477875"/>
              <a:gd name="csX11" fmla="*/ 3924678 w 3924678"/>
              <a:gd name="csY11" fmla="*/ 2249026 h 3477875"/>
              <a:gd name="csX12" fmla="*/ 3924678 w 3924678"/>
              <a:gd name="csY12" fmla="*/ 2863450 h 3477875"/>
              <a:gd name="csX13" fmla="*/ 3924678 w 3924678"/>
              <a:gd name="csY13" fmla="*/ 3477875 h 3477875"/>
              <a:gd name="csX14" fmla="*/ 3364010 w 3924678"/>
              <a:gd name="csY14" fmla="*/ 3477875 h 3477875"/>
              <a:gd name="csX15" fmla="*/ 2881835 w 3924678"/>
              <a:gd name="csY15" fmla="*/ 3477875 h 3477875"/>
              <a:gd name="csX16" fmla="*/ 2321167 w 3924678"/>
              <a:gd name="csY16" fmla="*/ 3477875 h 3477875"/>
              <a:gd name="csX17" fmla="*/ 1682005 w 3924678"/>
              <a:gd name="csY17" fmla="*/ 3477875 h 3477875"/>
              <a:gd name="csX18" fmla="*/ 1121337 w 3924678"/>
              <a:gd name="csY18" fmla="*/ 3477875 h 3477875"/>
              <a:gd name="csX19" fmla="*/ 678409 w 3924678"/>
              <a:gd name="csY19" fmla="*/ 3477875 h 3477875"/>
              <a:gd name="csX20" fmla="*/ 0 w 3924678"/>
              <a:gd name="csY20" fmla="*/ 3477875 h 3477875"/>
              <a:gd name="csX21" fmla="*/ 0 w 3924678"/>
              <a:gd name="csY21" fmla="*/ 2828672 h 3477875"/>
              <a:gd name="csX22" fmla="*/ 0 w 3924678"/>
              <a:gd name="csY22" fmla="*/ 2179468 h 3477875"/>
              <a:gd name="csX23" fmla="*/ 0 w 3924678"/>
              <a:gd name="csY23" fmla="*/ 1599823 h 3477875"/>
              <a:gd name="csX24" fmla="*/ 0 w 3924678"/>
              <a:gd name="csY24" fmla="*/ 1054955 h 3477875"/>
              <a:gd name="csX25" fmla="*/ 0 w 3924678"/>
              <a:gd name="csY25" fmla="*/ 579646 h 3477875"/>
              <a:gd name="csX26" fmla="*/ 0 w 3924678"/>
              <a:gd name="csY26" fmla="*/ 0 h 34778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3924678" h="3477875" extrusionOk="0">
                <a:moveTo>
                  <a:pt x="0" y="0"/>
                </a:moveTo>
                <a:cubicBezTo>
                  <a:pt x="186392" y="-50460"/>
                  <a:pt x="363201" y="50260"/>
                  <a:pt x="521422" y="0"/>
                </a:cubicBezTo>
                <a:cubicBezTo>
                  <a:pt x="679643" y="-50260"/>
                  <a:pt x="814668" y="21002"/>
                  <a:pt x="964349" y="0"/>
                </a:cubicBezTo>
                <a:cubicBezTo>
                  <a:pt x="1114030" y="-21002"/>
                  <a:pt x="1454023" y="13108"/>
                  <a:pt x="1603511" y="0"/>
                </a:cubicBezTo>
                <a:cubicBezTo>
                  <a:pt x="1752999" y="-13108"/>
                  <a:pt x="2011138" y="52804"/>
                  <a:pt x="2124933" y="0"/>
                </a:cubicBezTo>
                <a:cubicBezTo>
                  <a:pt x="2238728" y="-52804"/>
                  <a:pt x="2449322" y="42618"/>
                  <a:pt x="2646354" y="0"/>
                </a:cubicBezTo>
                <a:cubicBezTo>
                  <a:pt x="2843386" y="-42618"/>
                  <a:pt x="3057429" y="14266"/>
                  <a:pt x="3285516" y="0"/>
                </a:cubicBezTo>
                <a:cubicBezTo>
                  <a:pt x="3513603" y="-14266"/>
                  <a:pt x="3626773" y="67911"/>
                  <a:pt x="3924678" y="0"/>
                </a:cubicBezTo>
                <a:cubicBezTo>
                  <a:pt x="3962635" y="135479"/>
                  <a:pt x="3872156" y="357550"/>
                  <a:pt x="3924678" y="649203"/>
                </a:cubicBezTo>
                <a:cubicBezTo>
                  <a:pt x="3977200" y="940856"/>
                  <a:pt x="3894935" y="999855"/>
                  <a:pt x="3924678" y="1159292"/>
                </a:cubicBezTo>
                <a:cubicBezTo>
                  <a:pt x="3954421" y="1318729"/>
                  <a:pt x="3890762" y="1509272"/>
                  <a:pt x="3924678" y="1669380"/>
                </a:cubicBezTo>
                <a:cubicBezTo>
                  <a:pt x="3958594" y="1829488"/>
                  <a:pt x="3901461" y="2083124"/>
                  <a:pt x="3924678" y="2249026"/>
                </a:cubicBezTo>
                <a:cubicBezTo>
                  <a:pt x="3947895" y="2414928"/>
                  <a:pt x="3870010" y="2575917"/>
                  <a:pt x="3924678" y="2863450"/>
                </a:cubicBezTo>
                <a:cubicBezTo>
                  <a:pt x="3979346" y="3150983"/>
                  <a:pt x="3914488" y="3259523"/>
                  <a:pt x="3924678" y="3477875"/>
                </a:cubicBezTo>
                <a:cubicBezTo>
                  <a:pt x="3647521" y="3522620"/>
                  <a:pt x="3503363" y="3446893"/>
                  <a:pt x="3364010" y="3477875"/>
                </a:cubicBezTo>
                <a:cubicBezTo>
                  <a:pt x="3224657" y="3508857"/>
                  <a:pt x="3084075" y="3473814"/>
                  <a:pt x="2881835" y="3477875"/>
                </a:cubicBezTo>
                <a:cubicBezTo>
                  <a:pt x="2679596" y="3481936"/>
                  <a:pt x="2573579" y="3473375"/>
                  <a:pt x="2321167" y="3477875"/>
                </a:cubicBezTo>
                <a:cubicBezTo>
                  <a:pt x="2068755" y="3482375"/>
                  <a:pt x="1960649" y="3459397"/>
                  <a:pt x="1682005" y="3477875"/>
                </a:cubicBezTo>
                <a:cubicBezTo>
                  <a:pt x="1403361" y="3496353"/>
                  <a:pt x="1343550" y="3450181"/>
                  <a:pt x="1121337" y="3477875"/>
                </a:cubicBezTo>
                <a:cubicBezTo>
                  <a:pt x="899124" y="3505569"/>
                  <a:pt x="820936" y="3442042"/>
                  <a:pt x="678409" y="3477875"/>
                </a:cubicBezTo>
                <a:cubicBezTo>
                  <a:pt x="535882" y="3513708"/>
                  <a:pt x="248818" y="3443156"/>
                  <a:pt x="0" y="3477875"/>
                </a:cubicBezTo>
                <a:cubicBezTo>
                  <a:pt x="-62273" y="3199352"/>
                  <a:pt x="73992" y="3136848"/>
                  <a:pt x="0" y="2828672"/>
                </a:cubicBezTo>
                <a:cubicBezTo>
                  <a:pt x="-73992" y="2520496"/>
                  <a:pt x="53201" y="2418446"/>
                  <a:pt x="0" y="2179468"/>
                </a:cubicBezTo>
                <a:cubicBezTo>
                  <a:pt x="-53201" y="1940490"/>
                  <a:pt x="52364" y="1878925"/>
                  <a:pt x="0" y="1599823"/>
                </a:cubicBezTo>
                <a:cubicBezTo>
                  <a:pt x="-52364" y="1320722"/>
                  <a:pt x="59539" y="1194107"/>
                  <a:pt x="0" y="1054955"/>
                </a:cubicBezTo>
                <a:cubicBezTo>
                  <a:pt x="-59539" y="915803"/>
                  <a:pt x="17436" y="781391"/>
                  <a:pt x="0" y="579646"/>
                </a:cubicBezTo>
                <a:cubicBezTo>
                  <a:pt x="-17436" y="377901"/>
                  <a:pt x="1503" y="175126"/>
                  <a:pt x="0" y="0"/>
                </a:cubicBezTo>
                <a:close/>
              </a:path>
            </a:pathLst>
          </a:custGeom>
          <a:noFill/>
          <a:ln>
            <a:solidFill>
              <a:schemeClr val="accent1"/>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txBody>
          <a:bodyPr wrap="square" rtlCol="0">
            <a:spAutoFit/>
          </a:bodyPr>
          <a:lstStyle/>
          <a:p>
            <a:r>
              <a:rPr lang="en-US" sz="2000" dirty="0"/>
              <a:t>In this code, </a:t>
            </a:r>
            <a:r>
              <a:rPr lang="en-US" sz="2000" b="1" dirty="0">
                <a:solidFill>
                  <a:srgbClr val="FF0000"/>
                </a:solidFill>
              </a:rPr>
              <a:t>increment () </a:t>
            </a:r>
            <a:r>
              <a:rPr lang="en-US" sz="2000" dirty="0"/>
              <a:t>returns a new value instead of altering a global variable, thus avoiding side effects and making the code easier to understand and maintain. </a:t>
            </a:r>
          </a:p>
          <a:p>
            <a:endParaRPr lang="en-US" sz="2000" dirty="0"/>
          </a:p>
          <a:p>
            <a:r>
              <a:rPr lang="en-US" sz="2000" dirty="0"/>
              <a:t>This practice is common in functional programming, which </a:t>
            </a:r>
            <a:r>
              <a:rPr lang="en-US" sz="2000" dirty="0" err="1"/>
              <a:t>emphasises</a:t>
            </a:r>
            <a:r>
              <a:rPr lang="en-US" sz="2000" dirty="0"/>
              <a:t> avoiding side effects to create more predictable and testable code.</a:t>
            </a:r>
            <a:endParaRPr lang="en-GB" sz="2000" dirty="0"/>
          </a:p>
        </p:txBody>
      </p:sp>
      <p:pic>
        <p:nvPicPr>
          <p:cNvPr id="8" name="Picture 7">
            <a:extLst>
              <a:ext uri="{FF2B5EF4-FFF2-40B4-BE49-F238E27FC236}">
                <a16:creationId xmlns:a16="http://schemas.microsoft.com/office/drawing/2014/main" id="{3B6DB000-5956-64AB-9131-D91BC3E200D6}"/>
              </a:ext>
            </a:extLst>
          </p:cNvPr>
          <p:cNvPicPr>
            <a:picLocks noChangeAspect="1"/>
          </p:cNvPicPr>
          <p:nvPr/>
        </p:nvPicPr>
        <p:blipFill>
          <a:blip r:embed="rId2"/>
          <a:stretch>
            <a:fillRect/>
          </a:stretch>
        </p:blipFill>
        <p:spPr>
          <a:xfrm>
            <a:off x="108643" y="2166111"/>
            <a:ext cx="4336610" cy="4278775"/>
          </a:xfrm>
          <a:prstGeom prst="rect">
            <a:avLst/>
          </a:prstGeom>
        </p:spPr>
      </p:pic>
      <p:cxnSp>
        <p:nvCxnSpPr>
          <p:cNvPr id="9" name="Straight Arrow Connector 8">
            <a:extLst>
              <a:ext uri="{FF2B5EF4-FFF2-40B4-BE49-F238E27FC236}">
                <a16:creationId xmlns:a16="http://schemas.microsoft.com/office/drawing/2014/main" id="{58835673-C971-9E4F-C605-D0F4C8AE9397}"/>
              </a:ext>
            </a:extLst>
          </p:cNvPr>
          <p:cNvCxnSpPr>
            <a:cxnSpLocks/>
          </p:cNvCxnSpPr>
          <p:nvPr/>
        </p:nvCxnSpPr>
        <p:spPr>
          <a:xfrm flipH="1">
            <a:off x="1294646" y="2231472"/>
            <a:ext cx="3632702" cy="310031"/>
          </a:xfrm>
          <a:prstGeom prst="straightConnector1">
            <a:avLst/>
          </a:prstGeom>
          <a:ln w="44450">
            <a:tailEnd type="triangle"/>
          </a:ln>
        </p:spPr>
        <p:style>
          <a:lnRef idx="2">
            <a:schemeClr val="accent1"/>
          </a:lnRef>
          <a:fillRef idx="0">
            <a:schemeClr val="accent1"/>
          </a:fillRef>
          <a:effectRef idx="1">
            <a:schemeClr val="accent1"/>
          </a:effectRef>
          <a:fontRef idx="minor">
            <a:schemeClr val="tx1"/>
          </a:fontRef>
        </p:style>
      </p:cxnSp>
      <p:pic>
        <p:nvPicPr>
          <p:cNvPr id="12" name="Picture 11">
            <a:extLst>
              <a:ext uri="{FF2B5EF4-FFF2-40B4-BE49-F238E27FC236}">
                <a16:creationId xmlns:a16="http://schemas.microsoft.com/office/drawing/2014/main" id="{5D381525-4224-2A45-93C4-373F706718E8}"/>
              </a:ext>
            </a:extLst>
          </p:cNvPr>
          <p:cNvPicPr>
            <a:picLocks noChangeAspect="1"/>
          </p:cNvPicPr>
          <p:nvPr/>
        </p:nvPicPr>
        <p:blipFill>
          <a:blip r:embed="rId3"/>
          <a:stretch>
            <a:fillRect/>
          </a:stretch>
        </p:blipFill>
        <p:spPr>
          <a:xfrm>
            <a:off x="5130155" y="5671039"/>
            <a:ext cx="2505075" cy="790575"/>
          </a:xfrm>
          <a:prstGeom prst="rect">
            <a:avLst/>
          </a:prstGeom>
        </p:spPr>
      </p:pic>
    </p:spTree>
    <p:extLst>
      <p:ext uri="{BB962C8B-B14F-4D97-AF65-F5344CB8AC3E}">
        <p14:creationId xmlns:p14="http://schemas.microsoft.com/office/powerpoint/2010/main" val="15817599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5193"/>
            <a:ext cx="8229600" cy="195819"/>
          </a:xfrm>
        </p:spPr>
        <p:txBody>
          <a:bodyPr>
            <a:noAutofit/>
          </a:bodyPr>
          <a:lstStyle/>
          <a:p>
            <a:r>
              <a:rPr lang="en-US" sz="3200" dirty="0"/>
              <a:t>Another example of Code </a:t>
            </a:r>
            <a:r>
              <a:rPr sz="3200" dirty="0"/>
              <a:t>Side Effects</a:t>
            </a:r>
          </a:p>
        </p:txBody>
      </p:sp>
      <p:pic>
        <p:nvPicPr>
          <p:cNvPr id="13" name="Picture 12">
            <a:extLst>
              <a:ext uri="{FF2B5EF4-FFF2-40B4-BE49-F238E27FC236}">
                <a16:creationId xmlns:a16="http://schemas.microsoft.com/office/drawing/2014/main" id="{882CB60B-9BA5-77CC-C80A-99EC342AA4E9}"/>
              </a:ext>
            </a:extLst>
          </p:cNvPr>
          <p:cNvPicPr>
            <a:picLocks noChangeAspect="1"/>
          </p:cNvPicPr>
          <p:nvPr/>
        </p:nvPicPr>
        <p:blipFill>
          <a:blip r:embed="rId2"/>
          <a:stretch>
            <a:fillRect/>
          </a:stretch>
        </p:blipFill>
        <p:spPr>
          <a:xfrm>
            <a:off x="3250948" y="5889258"/>
            <a:ext cx="3352800" cy="773618"/>
          </a:xfrm>
          <a:prstGeom prst="rect">
            <a:avLst/>
          </a:prstGeom>
        </p:spPr>
      </p:pic>
      <p:cxnSp>
        <p:nvCxnSpPr>
          <p:cNvPr id="9" name="Straight Arrow Connector 8">
            <a:extLst>
              <a:ext uri="{FF2B5EF4-FFF2-40B4-BE49-F238E27FC236}">
                <a16:creationId xmlns:a16="http://schemas.microsoft.com/office/drawing/2014/main" id="{58835673-C971-9E4F-C605-D0F4C8AE9397}"/>
              </a:ext>
            </a:extLst>
          </p:cNvPr>
          <p:cNvCxnSpPr>
            <a:cxnSpLocks/>
          </p:cNvCxnSpPr>
          <p:nvPr/>
        </p:nvCxnSpPr>
        <p:spPr>
          <a:xfrm flipH="1">
            <a:off x="2987644" y="2022677"/>
            <a:ext cx="1939704" cy="79937"/>
          </a:xfrm>
          <a:prstGeom prst="straightConnector1">
            <a:avLst/>
          </a:prstGeom>
          <a:ln w="44450">
            <a:tailEnd type="triangle"/>
          </a:ln>
        </p:spPr>
        <p:style>
          <a:lnRef idx="2">
            <a:schemeClr val="accent1"/>
          </a:lnRef>
          <a:fillRef idx="0">
            <a:schemeClr val="accent1"/>
          </a:fillRef>
          <a:effectRef idx="1">
            <a:schemeClr val="accent1"/>
          </a:effectRef>
          <a:fontRef idx="minor">
            <a:schemeClr val="tx1"/>
          </a:fontRef>
        </p:style>
      </p:cxnSp>
      <p:pic>
        <p:nvPicPr>
          <p:cNvPr id="16" name="Picture 15">
            <a:extLst>
              <a:ext uri="{FF2B5EF4-FFF2-40B4-BE49-F238E27FC236}">
                <a16:creationId xmlns:a16="http://schemas.microsoft.com/office/drawing/2014/main" id="{0CE6B4FB-500D-E471-E8FB-885111BCDB63}"/>
              </a:ext>
            </a:extLst>
          </p:cNvPr>
          <p:cNvPicPr>
            <a:picLocks noChangeAspect="1"/>
          </p:cNvPicPr>
          <p:nvPr/>
        </p:nvPicPr>
        <p:blipFill>
          <a:blip r:embed="rId3"/>
          <a:stretch>
            <a:fillRect/>
          </a:stretch>
        </p:blipFill>
        <p:spPr>
          <a:xfrm>
            <a:off x="1057835" y="383522"/>
            <a:ext cx="7458635" cy="5373226"/>
          </a:xfrm>
          <a:prstGeom prst="rect">
            <a:avLst/>
          </a:prstGeom>
        </p:spPr>
      </p:pic>
    </p:spTree>
    <p:extLst>
      <p:ext uri="{BB962C8B-B14F-4D97-AF65-F5344CB8AC3E}">
        <p14:creationId xmlns:p14="http://schemas.microsoft.com/office/powerpoint/2010/main" val="15560230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Challenges of Using Multiple Variables with the Same Name</a:t>
            </a:r>
          </a:p>
        </p:txBody>
      </p:sp>
      <p:sp>
        <p:nvSpPr>
          <p:cNvPr id="3" name="Content Placeholder 2"/>
          <p:cNvSpPr>
            <a:spLocks noGrp="1"/>
          </p:cNvSpPr>
          <p:nvPr>
            <p:ph idx="1"/>
          </p:nvPr>
        </p:nvSpPr>
        <p:spPr/>
        <p:txBody>
          <a:bodyPr>
            <a:normAutofit fontScale="70000" lnSpcReduction="20000"/>
          </a:bodyPr>
          <a:lstStyle/>
          <a:p>
            <a:pPr marL="0" indent="0">
              <a:buNone/>
            </a:pPr>
            <a:endParaRPr dirty="0"/>
          </a:p>
          <a:p>
            <a:r>
              <a:rPr dirty="0">
                <a:solidFill>
                  <a:srgbClr val="FF0000"/>
                </a:solidFill>
              </a:rPr>
              <a:t>Leads to confusion</a:t>
            </a:r>
            <a:r>
              <a:rPr dirty="0"/>
              <a:t> and difficult-to-trace bugs.</a:t>
            </a:r>
            <a:r>
              <a:rPr lang="en-US" dirty="0"/>
              <a:t> Variables with the same name can exist in different scopes (e.g., global, function-level) without directly interfering with each other. However, this can lead to confusion if not carefully managed</a:t>
            </a:r>
          </a:p>
          <a:p>
            <a:endParaRPr dirty="0"/>
          </a:p>
          <a:p>
            <a:r>
              <a:rPr lang="en-US" dirty="0"/>
              <a:t>Use </a:t>
            </a:r>
            <a:r>
              <a:rPr lang="en-US" dirty="0">
                <a:solidFill>
                  <a:srgbClr val="FF0000"/>
                </a:solidFill>
              </a:rPr>
              <a:t>descriptive and unique variable names</a:t>
            </a:r>
            <a:r>
              <a:rPr lang="en-US" dirty="0"/>
              <a:t>, especially in large programs or shared environments, to reduce the risk of name conflicts and unintended side effects. </a:t>
            </a:r>
          </a:p>
          <a:p>
            <a:pPr marL="0" indent="0">
              <a:buNone/>
            </a:pPr>
            <a:endParaRPr lang="en-US" dirty="0"/>
          </a:p>
          <a:p>
            <a:r>
              <a:rPr lang="en-US" dirty="0">
                <a:solidFill>
                  <a:srgbClr val="FF0000"/>
                </a:solidFill>
              </a:rPr>
              <a:t>Debugging Challenges: </a:t>
            </a:r>
            <a:r>
              <a:rPr lang="en-US" dirty="0"/>
              <a:t>Keep functions small and focused with clear input and output parameters to help maintain clarity and prevent side effects.</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Challenges in Jupyter Notebooks</a:t>
            </a:r>
          </a:p>
        </p:txBody>
      </p:sp>
      <p:sp>
        <p:nvSpPr>
          <p:cNvPr id="3" name="Content Placeholder 2"/>
          <p:cNvSpPr>
            <a:spLocks noGrp="1"/>
          </p:cNvSpPr>
          <p:nvPr>
            <p:ph idx="1"/>
          </p:nvPr>
        </p:nvSpPr>
        <p:spPr/>
        <p:txBody>
          <a:bodyPr/>
          <a:lstStyle/>
          <a:p>
            <a:r>
              <a:rPr dirty="0"/>
              <a:t>Notebooks allow non-linear code execution, leading to inconsistent variable states.</a:t>
            </a:r>
          </a:p>
          <a:p>
            <a:r>
              <a:rPr dirty="0"/>
              <a:t>Variables can be overwritten across cells, causing unexpected results.</a:t>
            </a:r>
          </a:p>
          <a:p>
            <a:r>
              <a:rPr dirty="0"/>
              <a:t>Understanding the order of cell execution is critical.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Best Practices for Managing Variables</a:t>
            </a:r>
          </a:p>
        </p:txBody>
      </p:sp>
      <p:sp>
        <p:nvSpPr>
          <p:cNvPr id="3" name="Content Placeholder 2"/>
          <p:cNvSpPr>
            <a:spLocks noGrp="1"/>
          </p:cNvSpPr>
          <p:nvPr>
            <p:ph idx="1"/>
          </p:nvPr>
        </p:nvSpPr>
        <p:spPr>
          <a:xfrm>
            <a:off x="457199" y="1205754"/>
            <a:ext cx="5118847" cy="936812"/>
          </a:xfrm>
        </p:spPr>
        <p:txBody>
          <a:bodyPr>
            <a:normAutofit fontScale="77500" lnSpcReduction="20000"/>
          </a:bodyPr>
          <a:lstStyle/>
          <a:p>
            <a:r>
              <a:rPr dirty="0"/>
              <a:t>Use unique and descriptive variable names to avoid conflicts.</a:t>
            </a:r>
            <a:endParaRPr lang="en-US" dirty="0"/>
          </a:p>
          <a:p>
            <a:endParaRPr lang="en-US" dirty="0"/>
          </a:p>
          <a:p>
            <a:endParaRPr lang="en-US" dirty="0"/>
          </a:p>
          <a:p>
            <a:endParaRPr dirty="0"/>
          </a:p>
        </p:txBody>
      </p:sp>
      <p:pic>
        <p:nvPicPr>
          <p:cNvPr id="5" name="Picture 4">
            <a:extLst>
              <a:ext uri="{FF2B5EF4-FFF2-40B4-BE49-F238E27FC236}">
                <a16:creationId xmlns:a16="http://schemas.microsoft.com/office/drawing/2014/main" id="{084C3FB7-619B-427D-E5C1-14807B619A03}"/>
              </a:ext>
            </a:extLst>
          </p:cNvPr>
          <p:cNvPicPr>
            <a:picLocks noChangeAspect="1"/>
          </p:cNvPicPr>
          <p:nvPr/>
        </p:nvPicPr>
        <p:blipFill>
          <a:blip r:embed="rId2"/>
          <a:stretch>
            <a:fillRect/>
          </a:stretch>
        </p:blipFill>
        <p:spPr>
          <a:xfrm>
            <a:off x="2961434" y="2457169"/>
            <a:ext cx="5229225" cy="1190625"/>
          </a:xfrm>
          <a:prstGeom prst="rect">
            <a:avLst/>
          </a:prstGeom>
        </p:spPr>
      </p:pic>
      <p:sp>
        <p:nvSpPr>
          <p:cNvPr id="7" name="TextBox 6">
            <a:extLst>
              <a:ext uri="{FF2B5EF4-FFF2-40B4-BE49-F238E27FC236}">
                <a16:creationId xmlns:a16="http://schemas.microsoft.com/office/drawing/2014/main" id="{3B014B3D-74FE-A445-8489-2C0D2F454794}"/>
              </a:ext>
            </a:extLst>
          </p:cNvPr>
          <p:cNvSpPr txBox="1"/>
          <p:nvPr/>
        </p:nvSpPr>
        <p:spPr>
          <a:xfrm>
            <a:off x="770965" y="4267414"/>
            <a:ext cx="3980329" cy="1938992"/>
          </a:xfrm>
          <a:custGeom>
            <a:avLst/>
            <a:gdLst>
              <a:gd name="csX0" fmla="*/ 0 w 3980329"/>
              <a:gd name="csY0" fmla="*/ 0 h 1938992"/>
              <a:gd name="csX1" fmla="*/ 528815 w 3980329"/>
              <a:gd name="csY1" fmla="*/ 0 h 1938992"/>
              <a:gd name="csX2" fmla="*/ 978024 w 3980329"/>
              <a:gd name="csY2" fmla="*/ 0 h 1938992"/>
              <a:gd name="csX3" fmla="*/ 1626249 w 3980329"/>
              <a:gd name="csY3" fmla="*/ 0 h 1938992"/>
              <a:gd name="csX4" fmla="*/ 2155064 w 3980329"/>
              <a:gd name="csY4" fmla="*/ 0 h 1938992"/>
              <a:gd name="csX5" fmla="*/ 2683879 w 3980329"/>
              <a:gd name="csY5" fmla="*/ 0 h 1938992"/>
              <a:gd name="csX6" fmla="*/ 3332104 w 3980329"/>
              <a:gd name="csY6" fmla="*/ 0 h 1938992"/>
              <a:gd name="csX7" fmla="*/ 3980329 w 3980329"/>
              <a:gd name="csY7" fmla="*/ 0 h 1938992"/>
              <a:gd name="csX8" fmla="*/ 3980329 w 3980329"/>
              <a:gd name="csY8" fmla="*/ 523528 h 1938992"/>
              <a:gd name="csX9" fmla="*/ 3980329 w 3980329"/>
              <a:gd name="csY9" fmla="*/ 969496 h 1938992"/>
              <a:gd name="csX10" fmla="*/ 3980329 w 3980329"/>
              <a:gd name="csY10" fmla="*/ 1415464 h 1938992"/>
              <a:gd name="csX11" fmla="*/ 3980329 w 3980329"/>
              <a:gd name="csY11" fmla="*/ 1938992 h 1938992"/>
              <a:gd name="csX12" fmla="*/ 3371907 w 3980329"/>
              <a:gd name="csY12" fmla="*/ 1938992 h 1938992"/>
              <a:gd name="csX13" fmla="*/ 2723682 w 3980329"/>
              <a:gd name="csY13" fmla="*/ 1938992 h 1938992"/>
              <a:gd name="csX14" fmla="*/ 2075457 w 3980329"/>
              <a:gd name="csY14" fmla="*/ 1938992 h 1938992"/>
              <a:gd name="csX15" fmla="*/ 1586445 w 3980329"/>
              <a:gd name="csY15" fmla="*/ 1938992 h 1938992"/>
              <a:gd name="csX16" fmla="*/ 1017827 w 3980329"/>
              <a:gd name="csY16" fmla="*/ 1938992 h 1938992"/>
              <a:gd name="csX17" fmla="*/ 0 w 3980329"/>
              <a:gd name="csY17" fmla="*/ 1938992 h 1938992"/>
              <a:gd name="csX18" fmla="*/ 0 w 3980329"/>
              <a:gd name="csY18" fmla="*/ 1454244 h 1938992"/>
              <a:gd name="csX19" fmla="*/ 0 w 3980329"/>
              <a:gd name="csY19" fmla="*/ 1008276 h 1938992"/>
              <a:gd name="csX20" fmla="*/ 0 w 3980329"/>
              <a:gd name="csY20" fmla="*/ 562308 h 1938992"/>
              <a:gd name="csX21" fmla="*/ 0 w 3980329"/>
              <a:gd name="csY21" fmla="*/ 0 h 19389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3980329" h="1938992" extrusionOk="0">
                <a:moveTo>
                  <a:pt x="0" y="0"/>
                </a:moveTo>
                <a:cubicBezTo>
                  <a:pt x="107551" y="-14842"/>
                  <a:pt x="267674" y="59462"/>
                  <a:pt x="528815" y="0"/>
                </a:cubicBezTo>
                <a:cubicBezTo>
                  <a:pt x="789956" y="-59462"/>
                  <a:pt x="844324" y="42186"/>
                  <a:pt x="978024" y="0"/>
                </a:cubicBezTo>
                <a:cubicBezTo>
                  <a:pt x="1111724" y="-42186"/>
                  <a:pt x="1355973" y="24593"/>
                  <a:pt x="1626249" y="0"/>
                </a:cubicBezTo>
                <a:cubicBezTo>
                  <a:pt x="1896525" y="-24593"/>
                  <a:pt x="1990528" y="28903"/>
                  <a:pt x="2155064" y="0"/>
                </a:cubicBezTo>
                <a:cubicBezTo>
                  <a:pt x="2319600" y="-28903"/>
                  <a:pt x="2437263" y="28892"/>
                  <a:pt x="2683879" y="0"/>
                </a:cubicBezTo>
                <a:cubicBezTo>
                  <a:pt x="2930496" y="-28892"/>
                  <a:pt x="3021867" y="41446"/>
                  <a:pt x="3332104" y="0"/>
                </a:cubicBezTo>
                <a:cubicBezTo>
                  <a:pt x="3642341" y="-41446"/>
                  <a:pt x="3701996" y="4023"/>
                  <a:pt x="3980329" y="0"/>
                </a:cubicBezTo>
                <a:cubicBezTo>
                  <a:pt x="4019174" y="186342"/>
                  <a:pt x="3955942" y="387782"/>
                  <a:pt x="3980329" y="523528"/>
                </a:cubicBezTo>
                <a:cubicBezTo>
                  <a:pt x="4004716" y="659274"/>
                  <a:pt x="3955447" y="878614"/>
                  <a:pt x="3980329" y="969496"/>
                </a:cubicBezTo>
                <a:cubicBezTo>
                  <a:pt x="4005211" y="1060378"/>
                  <a:pt x="3960077" y="1196894"/>
                  <a:pt x="3980329" y="1415464"/>
                </a:cubicBezTo>
                <a:cubicBezTo>
                  <a:pt x="4000581" y="1634034"/>
                  <a:pt x="3971170" y="1795970"/>
                  <a:pt x="3980329" y="1938992"/>
                </a:cubicBezTo>
                <a:cubicBezTo>
                  <a:pt x="3736074" y="1950887"/>
                  <a:pt x="3583648" y="1876410"/>
                  <a:pt x="3371907" y="1938992"/>
                </a:cubicBezTo>
                <a:cubicBezTo>
                  <a:pt x="3160166" y="2001574"/>
                  <a:pt x="3024053" y="1869009"/>
                  <a:pt x="2723682" y="1938992"/>
                </a:cubicBezTo>
                <a:cubicBezTo>
                  <a:pt x="2423311" y="2008975"/>
                  <a:pt x="2330688" y="1901382"/>
                  <a:pt x="2075457" y="1938992"/>
                </a:cubicBezTo>
                <a:cubicBezTo>
                  <a:pt x="1820226" y="1976602"/>
                  <a:pt x="1749140" y="1912072"/>
                  <a:pt x="1586445" y="1938992"/>
                </a:cubicBezTo>
                <a:cubicBezTo>
                  <a:pt x="1423750" y="1965912"/>
                  <a:pt x="1267998" y="1894744"/>
                  <a:pt x="1017827" y="1938992"/>
                </a:cubicBezTo>
                <a:cubicBezTo>
                  <a:pt x="767656" y="1983240"/>
                  <a:pt x="473412" y="1857826"/>
                  <a:pt x="0" y="1938992"/>
                </a:cubicBezTo>
                <a:cubicBezTo>
                  <a:pt x="-14486" y="1754401"/>
                  <a:pt x="55212" y="1590858"/>
                  <a:pt x="0" y="1454244"/>
                </a:cubicBezTo>
                <a:cubicBezTo>
                  <a:pt x="-55212" y="1317630"/>
                  <a:pt x="21163" y="1145574"/>
                  <a:pt x="0" y="1008276"/>
                </a:cubicBezTo>
                <a:cubicBezTo>
                  <a:pt x="-21163" y="870978"/>
                  <a:pt x="7730" y="688959"/>
                  <a:pt x="0" y="562308"/>
                </a:cubicBezTo>
                <a:cubicBezTo>
                  <a:pt x="-7730" y="435657"/>
                  <a:pt x="16805" y="210735"/>
                  <a:pt x="0" y="0"/>
                </a:cubicBezTo>
                <a:close/>
              </a:path>
            </a:pathLst>
          </a:custGeom>
          <a:noFill/>
          <a:ln>
            <a:solidFill>
              <a:schemeClr val="accent1"/>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txBody>
          <a:bodyPr wrap="square">
            <a:spAutoFit/>
          </a:bodyPr>
          <a:lstStyle/>
          <a:p>
            <a:r>
              <a:rPr lang="en-US" sz="2400" dirty="0"/>
              <a:t>When using </a:t>
            </a:r>
            <a:r>
              <a:rPr lang="en-US" sz="2400" dirty="0" err="1"/>
              <a:t>Jupyter</a:t>
            </a:r>
            <a:r>
              <a:rPr lang="en-US" sz="2400" dirty="0"/>
              <a:t> Notebook, Run cells sequentially and avoid jumping around without resetting the kernel</a:t>
            </a:r>
            <a:r>
              <a:rPr lang="en-US" dirty="0"/>
              <a:t>.</a:t>
            </a:r>
          </a:p>
        </p:txBody>
      </p:sp>
      <p:sp>
        <p:nvSpPr>
          <p:cNvPr id="9" name="TextBox 8">
            <a:extLst>
              <a:ext uri="{FF2B5EF4-FFF2-40B4-BE49-F238E27FC236}">
                <a16:creationId xmlns:a16="http://schemas.microsoft.com/office/drawing/2014/main" id="{18547E9B-E254-55F9-61D4-ABEC78493278}"/>
              </a:ext>
            </a:extLst>
          </p:cNvPr>
          <p:cNvSpPr txBox="1"/>
          <p:nvPr/>
        </p:nvSpPr>
        <p:spPr>
          <a:xfrm>
            <a:off x="5907742" y="4336593"/>
            <a:ext cx="2554942" cy="2246769"/>
          </a:xfrm>
          <a:custGeom>
            <a:avLst/>
            <a:gdLst>
              <a:gd name="csX0" fmla="*/ 0 w 2554942"/>
              <a:gd name="csY0" fmla="*/ 0 h 2246769"/>
              <a:gd name="csX1" fmla="*/ 485439 w 2554942"/>
              <a:gd name="csY1" fmla="*/ 0 h 2246769"/>
              <a:gd name="csX2" fmla="*/ 919779 w 2554942"/>
              <a:gd name="csY2" fmla="*/ 0 h 2246769"/>
              <a:gd name="csX3" fmla="*/ 1456317 w 2554942"/>
              <a:gd name="csY3" fmla="*/ 0 h 2246769"/>
              <a:gd name="csX4" fmla="*/ 2018404 w 2554942"/>
              <a:gd name="csY4" fmla="*/ 0 h 2246769"/>
              <a:gd name="csX5" fmla="*/ 2554942 w 2554942"/>
              <a:gd name="csY5" fmla="*/ 0 h 2246769"/>
              <a:gd name="csX6" fmla="*/ 2554942 w 2554942"/>
              <a:gd name="csY6" fmla="*/ 539225 h 2246769"/>
              <a:gd name="csX7" fmla="*/ 2554942 w 2554942"/>
              <a:gd name="csY7" fmla="*/ 1055981 h 2246769"/>
              <a:gd name="csX8" fmla="*/ 2554942 w 2554942"/>
              <a:gd name="csY8" fmla="*/ 1595206 h 2246769"/>
              <a:gd name="csX9" fmla="*/ 2554942 w 2554942"/>
              <a:gd name="csY9" fmla="*/ 2246769 h 2246769"/>
              <a:gd name="csX10" fmla="*/ 2120602 w 2554942"/>
              <a:gd name="csY10" fmla="*/ 2246769 h 2246769"/>
              <a:gd name="csX11" fmla="*/ 1635163 w 2554942"/>
              <a:gd name="csY11" fmla="*/ 2246769 h 2246769"/>
              <a:gd name="csX12" fmla="*/ 1175273 w 2554942"/>
              <a:gd name="csY12" fmla="*/ 2246769 h 2246769"/>
              <a:gd name="csX13" fmla="*/ 715384 w 2554942"/>
              <a:gd name="csY13" fmla="*/ 2246769 h 2246769"/>
              <a:gd name="csX14" fmla="*/ 0 w 2554942"/>
              <a:gd name="csY14" fmla="*/ 2246769 h 2246769"/>
              <a:gd name="csX15" fmla="*/ 0 w 2554942"/>
              <a:gd name="csY15" fmla="*/ 1685077 h 2246769"/>
              <a:gd name="csX16" fmla="*/ 0 w 2554942"/>
              <a:gd name="csY16" fmla="*/ 1168320 h 2246769"/>
              <a:gd name="csX17" fmla="*/ 0 w 2554942"/>
              <a:gd name="csY17" fmla="*/ 651563 h 2246769"/>
              <a:gd name="csX18" fmla="*/ 0 w 2554942"/>
              <a:gd name="csY18" fmla="*/ 0 h 22467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554942" h="2246769" extrusionOk="0">
                <a:moveTo>
                  <a:pt x="0" y="0"/>
                </a:moveTo>
                <a:cubicBezTo>
                  <a:pt x="126269" y="-5571"/>
                  <a:pt x="331310" y="36906"/>
                  <a:pt x="485439" y="0"/>
                </a:cubicBezTo>
                <a:cubicBezTo>
                  <a:pt x="639568" y="-36906"/>
                  <a:pt x="786960" y="51157"/>
                  <a:pt x="919779" y="0"/>
                </a:cubicBezTo>
                <a:cubicBezTo>
                  <a:pt x="1052598" y="-51157"/>
                  <a:pt x="1235833" y="42190"/>
                  <a:pt x="1456317" y="0"/>
                </a:cubicBezTo>
                <a:cubicBezTo>
                  <a:pt x="1676801" y="-42190"/>
                  <a:pt x="1853169" y="31028"/>
                  <a:pt x="2018404" y="0"/>
                </a:cubicBezTo>
                <a:cubicBezTo>
                  <a:pt x="2183639" y="-31028"/>
                  <a:pt x="2334417" y="59626"/>
                  <a:pt x="2554942" y="0"/>
                </a:cubicBezTo>
                <a:cubicBezTo>
                  <a:pt x="2574941" y="205165"/>
                  <a:pt x="2520253" y="285810"/>
                  <a:pt x="2554942" y="539225"/>
                </a:cubicBezTo>
                <a:cubicBezTo>
                  <a:pt x="2589631" y="792641"/>
                  <a:pt x="2543640" y="826150"/>
                  <a:pt x="2554942" y="1055981"/>
                </a:cubicBezTo>
                <a:cubicBezTo>
                  <a:pt x="2566244" y="1285812"/>
                  <a:pt x="2535285" y="1336612"/>
                  <a:pt x="2554942" y="1595206"/>
                </a:cubicBezTo>
                <a:cubicBezTo>
                  <a:pt x="2574599" y="1853801"/>
                  <a:pt x="2528186" y="2035412"/>
                  <a:pt x="2554942" y="2246769"/>
                </a:cubicBezTo>
                <a:cubicBezTo>
                  <a:pt x="2410647" y="2264918"/>
                  <a:pt x="2244770" y="2199589"/>
                  <a:pt x="2120602" y="2246769"/>
                </a:cubicBezTo>
                <a:cubicBezTo>
                  <a:pt x="1996434" y="2293949"/>
                  <a:pt x="1782565" y="2211054"/>
                  <a:pt x="1635163" y="2246769"/>
                </a:cubicBezTo>
                <a:cubicBezTo>
                  <a:pt x="1487761" y="2282484"/>
                  <a:pt x="1345267" y="2198660"/>
                  <a:pt x="1175273" y="2246769"/>
                </a:cubicBezTo>
                <a:cubicBezTo>
                  <a:pt x="1005279" y="2294878"/>
                  <a:pt x="910577" y="2208890"/>
                  <a:pt x="715384" y="2246769"/>
                </a:cubicBezTo>
                <a:cubicBezTo>
                  <a:pt x="520191" y="2284648"/>
                  <a:pt x="209431" y="2224600"/>
                  <a:pt x="0" y="2246769"/>
                </a:cubicBezTo>
                <a:cubicBezTo>
                  <a:pt x="-7872" y="2017838"/>
                  <a:pt x="47262" y="1833184"/>
                  <a:pt x="0" y="1685077"/>
                </a:cubicBezTo>
                <a:cubicBezTo>
                  <a:pt x="-47262" y="1536970"/>
                  <a:pt x="20771" y="1351502"/>
                  <a:pt x="0" y="1168320"/>
                </a:cubicBezTo>
                <a:cubicBezTo>
                  <a:pt x="-20771" y="985138"/>
                  <a:pt x="22298" y="783393"/>
                  <a:pt x="0" y="651563"/>
                </a:cubicBezTo>
                <a:cubicBezTo>
                  <a:pt x="-22298" y="519733"/>
                  <a:pt x="46191" y="240812"/>
                  <a:pt x="0" y="0"/>
                </a:cubicBezTo>
                <a:close/>
              </a:path>
            </a:pathLst>
          </a:custGeom>
          <a:noFill/>
          <a:ln>
            <a:solidFill>
              <a:schemeClr val="accent1"/>
            </a:solidFill>
            <a:extLst>
              <a:ext uri="{C807C97D-BFC1-408E-A445-0C87EB9F89A2}">
                <ask:lineSketchStyleProps xmlns:ask="http://schemas.microsoft.com/office/drawing/2018/sketchyshapes" sd="2215597123">
                  <a:prstGeom prst="rect">
                    <a:avLst/>
                  </a:prstGeom>
                  <ask:type>
                    <ask:lineSketchScribble/>
                  </ask:type>
                </ask:lineSketchStyleProps>
              </a:ext>
            </a:extLst>
          </a:ln>
        </p:spPr>
        <p:txBody>
          <a:bodyPr wrap="square">
            <a:spAutoFit/>
          </a:bodyPr>
          <a:lstStyle/>
          <a:p>
            <a:r>
              <a:rPr lang="en-US" sz="2800" dirty="0"/>
              <a:t>Regularly reset the kernel to ensure code is executed in a clean state.</a:t>
            </a:r>
          </a:p>
        </p:txBody>
      </p:sp>
      <p:cxnSp>
        <p:nvCxnSpPr>
          <p:cNvPr id="11" name="Straight Arrow Connector 10">
            <a:extLst>
              <a:ext uri="{FF2B5EF4-FFF2-40B4-BE49-F238E27FC236}">
                <a16:creationId xmlns:a16="http://schemas.microsoft.com/office/drawing/2014/main" id="{017C9E4A-7165-E178-F534-E60E26BAB6ED}"/>
              </a:ext>
            </a:extLst>
          </p:cNvPr>
          <p:cNvCxnSpPr>
            <a:cxnSpLocks/>
          </p:cNvCxnSpPr>
          <p:nvPr/>
        </p:nvCxnSpPr>
        <p:spPr>
          <a:xfrm flipH="1">
            <a:off x="2985247" y="3429000"/>
            <a:ext cx="2483224" cy="748553"/>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4625CA92-2028-0809-0BE4-F64F91E030C5}"/>
              </a:ext>
            </a:extLst>
          </p:cNvPr>
          <p:cNvCxnSpPr>
            <a:cxnSpLocks/>
          </p:cNvCxnSpPr>
          <p:nvPr/>
        </p:nvCxnSpPr>
        <p:spPr>
          <a:xfrm>
            <a:off x="6158754" y="3339353"/>
            <a:ext cx="1026459" cy="928061"/>
          </a:xfrm>
          <a:prstGeom prst="straightConnector1">
            <a:avLst/>
          </a:prstGeom>
          <a:ln w="53975">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 and Key Takeaways</a:t>
            </a:r>
          </a:p>
        </p:txBody>
      </p:sp>
      <p:sp>
        <p:nvSpPr>
          <p:cNvPr id="3" name="Content Placeholder 2"/>
          <p:cNvSpPr>
            <a:spLocks noGrp="1"/>
          </p:cNvSpPr>
          <p:nvPr>
            <p:ph idx="1"/>
          </p:nvPr>
        </p:nvSpPr>
        <p:spPr/>
        <p:txBody>
          <a:bodyPr/>
          <a:lstStyle/>
          <a:p>
            <a:r>
              <a:t>Proper variable management is essential for robust code.</a:t>
            </a:r>
          </a:p>
          <a:p>
            <a:r>
              <a:t>Understanding side effects and state management helps avoid common pitfalls.</a:t>
            </a:r>
          </a:p>
          <a:p>
            <a:r>
              <a:t>Apply best practices consistently to ensure code reliability.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567</Words>
  <Application>Microsoft Office PowerPoint</Application>
  <PresentationFormat>On-screen Show (4:3)</PresentationFormat>
  <Paragraphs>41</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Managing Variables and Side Effects in Programming</vt:lpstr>
      <vt:lpstr>Local vs. Global Scope</vt:lpstr>
      <vt:lpstr>Code with Side Effects</vt:lpstr>
      <vt:lpstr>Code without Side Effects</vt:lpstr>
      <vt:lpstr>Another example of Code Side Effects</vt:lpstr>
      <vt:lpstr>Challenges of Using Multiple Variables with the Same Name</vt:lpstr>
      <vt:lpstr>Challenges in Jupyter Notebooks</vt:lpstr>
      <vt:lpstr>Best Practices for Managing Variables</vt:lpstr>
      <vt:lpstr>Conclusion and Key Takeaways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Mireilla Bikanga</dc:creator>
  <cp:keywords/>
  <dc:description>generated using python-pptx</dc:description>
  <cp:lastModifiedBy>Mireilla Bikanga Ada</cp:lastModifiedBy>
  <cp:revision>3</cp:revision>
  <dcterms:created xsi:type="dcterms:W3CDTF">2013-01-27T09:14:16Z</dcterms:created>
  <dcterms:modified xsi:type="dcterms:W3CDTF">2026-09-17T18:51:31Z</dcterms:modified>
  <cp:category/>
</cp:coreProperties>
</file>
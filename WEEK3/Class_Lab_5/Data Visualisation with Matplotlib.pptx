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8" r:id="rId3"/>
    <p:sldId id="293" r:id="rId4"/>
    <p:sldId id="294" r:id="rId5"/>
    <p:sldId id="295" r:id="rId6"/>
    <p:sldId id="257" r:id="rId7"/>
    <p:sldId id="259" r:id="rId8"/>
    <p:sldId id="275" r:id="rId9"/>
    <p:sldId id="296" r:id="rId10"/>
    <p:sldId id="276" r:id="rId11"/>
    <p:sldId id="277" r:id="rId12"/>
    <p:sldId id="260" r:id="rId13"/>
    <p:sldId id="297" r:id="rId14"/>
    <p:sldId id="262" r:id="rId15"/>
    <p:sldId id="278" r:id="rId16"/>
    <p:sldId id="261" r:id="rId17"/>
    <p:sldId id="263" r:id="rId18"/>
    <p:sldId id="298" r:id="rId19"/>
    <p:sldId id="264" r:id="rId20"/>
    <p:sldId id="279" r:id="rId21"/>
    <p:sldId id="265" r:id="rId22"/>
    <p:sldId id="266" r:id="rId23"/>
    <p:sldId id="267" r:id="rId24"/>
    <p:sldId id="268" r:id="rId25"/>
    <p:sldId id="269" r:id="rId26"/>
    <p:sldId id="271" r:id="rId27"/>
    <p:sldId id="272" r:id="rId28"/>
    <p:sldId id="273" r:id="rId29"/>
    <p:sldId id="274" r:id="rId30"/>
    <p:sldId id="280" r:id="rId31"/>
    <p:sldId id="281" r:id="rId32"/>
    <p:sldId id="282" r:id="rId33"/>
    <p:sldId id="283" r:id="rId34"/>
    <p:sldId id="290" r:id="rId35"/>
    <p:sldId id="292" r:id="rId36"/>
    <p:sldId id="299" r:id="rId37"/>
    <p:sldId id="289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6" d="100"/>
          <a:sy n="106" d="100"/>
        </p:scale>
        <p:origin x="104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CA0283-B643-40BF-9725-96C6CD72D38F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C35D6-68EE-4311-A741-F3862808F1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69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C35D6-68EE-4311-A741-F3862808F1A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294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48336-D191-42B2-8439-BE137ABDAD3B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3247-72CD-4FF5-8E3F-2FF5BA090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472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48336-D191-42B2-8439-BE137ABDAD3B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3247-72CD-4FF5-8E3F-2FF5BA090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05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48336-D191-42B2-8439-BE137ABDAD3B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3247-72CD-4FF5-8E3F-2FF5BA090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079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48336-D191-42B2-8439-BE137ABDAD3B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3247-72CD-4FF5-8E3F-2FF5BA090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747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48336-D191-42B2-8439-BE137ABDAD3B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3247-72CD-4FF5-8E3F-2FF5BA090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23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48336-D191-42B2-8439-BE137ABDAD3B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3247-72CD-4FF5-8E3F-2FF5BA090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48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48336-D191-42B2-8439-BE137ABDAD3B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3247-72CD-4FF5-8E3F-2FF5BA090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05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48336-D191-42B2-8439-BE137ABDAD3B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3247-72CD-4FF5-8E3F-2FF5BA090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7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48336-D191-42B2-8439-BE137ABDAD3B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3247-72CD-4FF5-8E3F-2FF5BA090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911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48336-D191-42B2-8439-BE137ABDAD3B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3247-72CD-4FF5-8E3F-2FF5BA090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971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48336-D191-42B2-8439-BE137ABDAD3B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3247-72CD-4FF5-8E3F-2FF5BA090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20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48336-D191-42B2-8439-BE137ABDAD3B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73247-72CD-4FF5-8E3F-2FF5BA090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56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Data Visualisation with Matplotlib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488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GB" dirty="0"/>
              <a:t>Matplotlib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856984" cy="4713387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GB" b="1" dirty="0"/>
              <a:t>Matplotlib</a:t>
            </a:r>
            <a:r>
              <a:rPr lang="en-GB" dirty="0"/>
              <a:t> is a widely used Python library for creating </a:t>
            </a:r>
            <a:r>
              <a:rPr lang="en-GB" b="1" dirty="0">
                <a:solidFill>
                  <a:srgbClr val="FF0000"/>
                </a:solidFill>
              </a:rPr>
              <a:t>static, animated and interactive data visualisations</a:t>
            </a:r>
            <a:r>
              <a:rPr lang="en-GB" dirty="0"/>
              <a:t>. </a:t>
            </a:r>
          </a:p>
          <a:p>
            <a:pPr marL="0" lvl="0" indent="0">
              <a:buNone/>
            </a:pPr>
            <a:endParaRPr lang="en-GB" dirty="0"/>
          </a:p>
          <a:p>
            <a:pPr lvl="0"/>
            <a:r>
              <a:rPr lang="en-GB" dirty="0"/>
              <a:t>It can be used directly in Python scripts and in environments such as </a:t>
            </a:r>
            <a:r>
              <a:rPr lang="en-GB" b="1" dirty="0">
                <a:solidFill>
                  <a:srgbClr val="FF0000"/>
                </a:solidFill>
              </a:rPr>
              <a:t>Jupyter Notebook</a:t>
            </a:r>
            <a:r>
              <a:rPr lang="en-GB" dirty="0"/>
              <a:t>.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Matplotlib supports many common visualisations, including: line charts, bar charts, histograms, scatter plots, box plots, multiple plots/subplots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The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/>
              <a:t>module provides a convenient interface for creating and modifying plots.</a:t>
            </a:r>
          </a:p>
          <a:p>
            <a:endParaRPr lang="en-GB" dirty="0"/>
          </a:p>
          <a:p>
            <a:r>
              <a:rPr lang="en-GB" dirty="0"/>
              <a:t>At the beginning, you need to import pyplot and rename is as plt:</a:t>
            </a:r>
          </a:p>
          <a:p>
            <a:pPr marL="457200" lvl="1" indent="0">
              <a:buNone/>
            </a:pPr>
            <a:r>
              <a:rPr lang="en-GB" dirty="0"/>
              <a:t>		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matplotlib.pyplot as plt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5272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2A34-784A-4A31-128A-690481EE3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Matplotlib is organised?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6550B-97DF-3E08-B528-2E3FA1D07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186808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GB" dirty="0"/>
              <a:t>Matplotlib uses a </a:t>
            </a:r>
            <a:r>
              <a:rPr lang="en-GB" b="1" dirty="0"/>
              <a:t>Figure–Axes structure</a:t>
            </a:r>
            <a:r>
              <a:rPr lang="en-GB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en-GB" dirty="0"/>
              <a:t> is the overall canvas that contains the visualisation.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An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Axes</a:t>
            </a:r>
            <a:r>
              <a:rPr lang="en-GB" dirty="0"/>
              <a:t> is the plotting area where data are drawn.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A Figure can contain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 or several Axes</a:t>
            </a:r>
            <a:r>
              <a:rPr lang="en-GB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Most plotting and formatting commands are applied to an Axes object.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B65E3-FD91-45D1-0000-41A2EC518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3429000"/>
            <a:ext cx="3145309" cy="2520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B2A065-4500-4276-8BAD-FE3A6FE1D156}"/>
              </a:ext>
            </a:extLst>
          </p:cNvPr>
          <p:cNvSpPr txBox="1"/>
          <p:nvPr/>
        </p:nvSpPr>
        <p:spPr>
          <a:xfrm>
            <a:off x="5472099" y="1196752"/>
            <a:ext cx="3505349" cy="2031325"/>
          </a:xfrm>
          <a:custGeom>
            <a:avLst/>
            <a:gdLst>
              <a:gd name="csX0" fmla="*/ 0 w 3505349"/>
              <a:gd name="csY0" fmla="*/ 0 h 2031325"/>
              <a:gd name="csX1" fmla="*/ 549171 w 3505349"/>
              <a:gd name="csY1" fmla="*/ 0 h 2031325"/>
              <a:gd name="csX2" fmla="*/ 1028236 w 3505349"/>
              <a:gd name="csY2" fmla="*/ 0 h 2031325"/>
              <a:gd name="csX3" fmla="*/ 1682568 w 3505349"/>
              <a:gd name="csY3" fmla="*/ 0 h 2031325"/>
              <a:gd name="csX4" fmla="*/ 2231739 w 3505349"/>
              <a:gd name="csY4" fmla="*/ 0 h 2031325"/>
              <a:gd name="csX5" fmla="*/ 2780910 w 3505349"/>
              <a:gd name="csY5" fmla="*/ 0 h 2031325"/>
              <a:gd name="csX6" fmla="*/ 3505349 w 3505349"/>
              <a:gd name="csY6" fmla="*/ 0 h 2031325"/>
              <a:gd name="csX7" fmla="*/ 3505349 w 3505349"/>
              <a:gd name="csY7" fmla="*/ 467205 h 2031325"/>
              <a:gd name="csX8" fmla="*/ 3505349 w 3505349"/>
              <a:gd name="csY8" fmla="*/ 975036 h 2031325"/>
              <a:gd name="csX9" fmla="*/ 3505349 w 3505349"/>
              <a:gd name="csY9" fmla="*/ 1442241 h 2031325"/>
              <a:gd name="csX10" fmla="*/ 3505349 w 3505349"/>
              <a:gd name="csY10" fmla="*/ 2031325 h 2031325"/>
              <a:gd name="csX11" fmla="*/ 2921124 w 3505349"/>
              <a:gd name="csY11" fmla="*/ 2031325 h 2031325"/>
              <a:gd name="csX12" fmla="*/ 2371953 w 3505349"/>
              <a:gd name="csY12" fmla="*/ 2031325 h 2031325"/>
              <a:gd name="csX13" fmla="*/ 1717621 w 3505349"/>
              <a:gd name="csY13" fmla="*/ 2031325 h 2031325"/>
              <a:gd name="csX14" fmla="*/ 1063289 w 3505349"/>
              <a:gd name="csY14" fmla="*/ 2031325 h 2031325"/>
              <a:gd name="csX15" fmla="*/ 549171 w 3505349"/>
              <a:gd name="csY15" fmla="*/ 2031325 h 2031325"/>
              <a:gd name="csX16" fmla="*/ 0 w 3505349"/>
              <a:gd name="csY16" fmla="*/ 2031325 h 2031325"/>
              <a:gd name="csX17" fmla="*/ 0 w 3505349"/>
              <a:gd name="csY17" fmla="*/ 1482867 h 2031325"/>
              <a:gd name="csX18" fmla="*/ 0 w 3505349"/>
              <a:gd name="csY18" fmla="*/ 1035976 h 2031325"/>
              <a:gd name="csX19" fmla="*/ 0 w 3505349"/>
              <a:gd name="csY19" fmla="*/ 568771 h 2031325"/>
              <a:gd name="csX20" fmla="*/ 0 w 3505349"/>
              <a:gd name="csY20" fmla="*/ 0 h 2031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505349" h="2031325" extrusionOk="0">
                <a:moveTo>
                  <a:pt x="0" y="0"/>
                </a:moveTo>
                <a:cubicBezTo>
                  <a:pt x="189311" y="-4382"/>
                  <a:pt x="423507" y="11264"/>
                  <a:pt x="549171" y="0"/>
                </a:cubicBezTo>
                <a:cubicBezTo>
                  <a:pt x="674835" y="-11264"/>
                  <a:pt x="852991" y="56759"/>
                  <a:pt x="1028236" y="0"/>
                </a:cubicBezTo>
                <a:cubicBezTo>
                  <a:pt x="1203481" y="-56759"/>
                  <a:pt x="1515024" y="76619"/>
                  <a:pt x="1682568" y="0"/>
                </a:cubicBezTo>
                <a:cubicBezTo>
                  <a:pt x="1850112" y="-76619"/>
                  <a:pt x="1988612" y="13929"/>
                  <a:pt x="2231739" y="0"/>
                </a:cubicBezTo>
                <a:cubicBezTo>
                  <a:pt x="2474866" y="-13929"/>
                  <a:pt x="2584337" y="27581"/>
                  <a:pt x="2780910" y="0"/>
                </a:cubicBezTo>
                <a:cubicBezTo>
                  <a:pt x="2977483" y="-27581"/>
                  <a:pt x="3354198" y="10259"/>
                  <a:pt x="3505349" y="0"/>
                </a:cubicBezTo>
                <a:cubicBezTo>
                  <a:pt x="3561205" y="173377"/>
                  <a:pt x="3475633" y="271757"/>
                  <a:pt x="3505349" y="467205"/>
                </a:cubicBezTo>
                <a:cubicBezTo>
                  <a:pt x="3535065" y="662654"/>
                  <a:pt x="3465540" y="851324"/>
                  <a:pt x="3505349" y="975036"/>
                </a:cubicBezTo>
                <a:cubicBezTo>
                  <a:pt x="3545158" y="1098748"/>
                  <a:pt x="3485315" y="1301858"/>
                  <a:pt x="3505349" y="1442241"/>
                </a:cubicBezTo>
                <a:cubicBezTo>
                  <a:pt x="3525383" y="1582625"/>
                  <a:pt x="3449533" y="1788449"/>
                  <a:pt x="3505349" y="2031325"/>
                </a:cubicBezTo>
                <a:cubicBezTo>
                  <a:pt x="3328752" y="2054356"/>
                  <a:pt x="3195779" y="1970288"/>
                  <a:pt x="2921124" y="2031325"/>
                </a:cubicBezTo>
                <a:cubicBezTo>
                  <a:pt x="2646470" y="2092362"/>
                  <a:pt x="2502818" y="2029427"/>
                  <a:pt x="2371953" y="2031325"/>
                </a:cubicBezTo>
                <a:cubicBezTo>
                  <a:pt x="2241088" y="2033223"/>
                  <a:pt x="1962363" y="1975918"/>
                  <a:pt x="1717621" y="2031325"/>
                </a:cubicBezTo>
                <a:cubicBezTo>
                  <a:pt x="1472879" y="2086732"/>
                  <a:pt x="1238311" y="1959183"/>
                  <a:pt x="1063289" y="2031325"/>
                </a:cubicBezTo>
                <a:cubicBezTo>
                  <a:pt x="888267" y="2103467"/>
                  <a:pt x="792308" y="1985911"/>
                  <a:pt x="549171" y="2031325"/>
                </a:cubicBezTo>
                <a:cubicBezTo>
                  <a:pt x="306034" y="2076739"/>
                  <a:pt x="224148" y="2026757"/>
                  <a:pt x="0" y="2031325"/>
                </a:cubicBezTo>
                <a:cubicBezTo>
                  <a:pt x="-61311" y="1920521"/>
                  <a:pt x="45647" y="1710970"/>
                  <a:pt x="0" y="1482867"/>
                </a:cubicBezTo>
                <a:cubicBezTo>
                  <a:pt x="-45647" y="1254764"/>
                  <a:pt x="24110" y="1223122"/>
                  <a:pt x="0" y="1035976"/>
                </a:cubicBezTo>
                <a:cubicBezTo>
                  <a:pt x="-24110" y="848830"/>
                  <a:pt x="56058" y="716831"/>
                  <a:pt x="0" y="568771"/>
                </a:cubicBezTo>
                <a:cubicBezTo>
                  <a:pt x="-56058" y="420712"/>
                  <a:pt x="61667" y="245797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dirty="0"/>
              <a:t>Think of the </a:t>
            </a:r>
            <a:r>
              <a:rPr lang="en-US" dirty="0">
                <a:solidFill>
                  <a:srgbClr val="FF0000"/>
                </a:solidFill>
              </a:rPr>
              <a:t>Figure</a:t>
            </a:r>
            <a:r>
              <a:rPr lang="en-US" dirty="0"/>
              <a:t> as the page or canvas, and the </a:t>
            </a:r>
            <a:r>
              <a:rPr lang="en-US" dirty="0">
                <a:solidFill>
                  <a:srgbClr val="FF0000"/>
                </a:solidFill>
              </a:rPr>
              <a:t>Axes</a:t>
            </a:r>
            <a:r>
              <a:rPr lang="en-US" dirty="0"/>
              <a:t> as the chart drawn on that page.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fig</a:t>
            </a:r>
            <a:r>
              <a:rPr lang="en-US" dirty="0"/>
              <a:t> refers to the Figure </a:t>
            </a:r>
          </a:p>
          <a:p>
            <a:r>
              <a:rPr lang="en-US" dirty="0">
                <a:solidFill>
                  <a:srgbClr val="FF0000"/>
                </a:solidFill>
              </a:rPr>
              <a:t>ax</a:t>
            </a:r>
            <a:r>
              <a:rPr lang="en-US" dirty="0"/>
              <a:t> refers to the Axes</a:t>
            </a:r>
          </a:p>
          <a:p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0E781FF-1DC0-4C57-0B0D-8E9487F3F5D9}"/>
              </a:ext>
            </a:extLst>
          </p:cNvPr>
          <p:cNvSpPr/>
          <p:nvPr/>
        </p:nvSpPr>
        <p:spPr>
          <a:xfrm>
            <a:off x="4992624" y="2487168"/>
            <a:ext cx="708176" cy="1965960"/>
          </a:xfrm>
          <a:custGeom>
            <a:avLst/>
            <a:gdLst>
              <a:gd name="csX0" fmla="*/ 539496 w 708176"/>
              <a:gd name="csY0" fmla="*/ 0 h 1965960"/>
              <a:gd name="csX1" fmla="*/ 237744 w 708176"/>
              <a:gd name="csY1" fmla="*/ 9144 h 1965960"/>
              <a:gd name="csX2" fmla="*/ 192024 w 708176"/>
              <a:gd name="csY2" fmla="*/ 36576 h 1965960"/>
              <a:gd name="csX3" fmla="*/ 164592 w 708176"/>
              <a:gd name="csY3" fmla="*/ 45720 h 1965960"/>
              <a:gd name="csX4" fmla="*/ 118872 w 708176"/>
              <a:gd name="csY4" fmla="*/ 91440 h 1965960"/>
              <a:gd name="csX5" fmla="*/ 109728 w 708176"/>
              <a:gd name="csY5" fmla="*/ 118872 h 1965960"/>
              <a:gd name="csX6" fmla="*/ 73152 w 708176"/>
              <a:gd name="csY6" fmla="*/ 210312 h 1965960"/>
              <a:gd name="csX7" fmla="*/ 64008 w 708176"/>
              <a:gd name="csY7" fmla="*/ 292608 h 1965960"/>
              <a:gd name="csX8" fmla="*/ 45720 w 708176"/>
              <a:gd name="csY8" fmla="*/ 493776 h 1965960"/>
              <a:gd name="csX9" fmla="*/ 36576 w 708176"/>
              <a:gd name="csY9" fmla="*/ 576072 h 1965960"/>
              <a:gd name="csX10" fmla="*/ 27432 w 708176"/>
              <a:gd name="csY10" fmla="*/ 612648 h 1965960"/>
              <a:gd name="csX11" fmla="*/ 9144 w 708176"/>
              <a:gd name="csY11" fmla="*/ 832104 h 1965960"/>
              <a:gd name="csX12" fmla="*/ 0 w 708176"/>
              <a:gd name="csY12" fmla="*/ 868680 h 1965960"/>
              <a:gd name="csX13" fmla="*/ 9144 w 708176"/>
              <a:gd name="csY13" fmla="*/ 1517904 h 1965960"/>
              <a:gd name="csX14" fmla="*/ 18288 w 708176"/>
              <a:gd name="csY14" fmla="*/ 1545336 h 1965960"/>
              <a:gd name="csX15" fmla="*/ 27432 w 708176"/>
              <a:gd name="csY15" fmla="*/ 1581912 h 1965960"/>
              <a:gd name="csX16" fmla="*/ 36576 w 708176"/>
              <a:gd name="csY16" fmla="*/ 1609344 h 1965960"/>
              <a:gd name="csX17" fmla="*/ 45720 w 708176"/>
              <a:gd name="csY17" fmla="*/ 1664208 h 1965960"/>
              <a:gd name="csX18" fmla="*/ 100584 w 708176"/>
              <a:gd name="csY18" fmla="*/ 1819656 h 1965960"/>
              <a:gd name="csX19" fmla="*/ 155448 w 708176"/>
              <a:gd name="csY19" fmla="*/ 1883664 h 1965960"/>
              <a:gd name="csX20" fmla="*/ 192024 w 708176"/>
              <a:gd name="csY20" fmla="*/ 1892808 h 1965960"/>
              <a:gd name="csX21" fmla="*/ 219456 w 708176"/>
              <a:gd name="csY21" fmla="*/ 1911096 h 1965960"/>
              <a:gd name="csX22" fmla="*/ 246888 w 708176"/>
              <a:gd name="csY22" fmla="*/ 1920240 h 1965960"/>
              <a:gd name="csX23" fmla="*/ 320040 w 708176"/>
              <a:gd name="csY23" fmla="*/ 1938528 h 1965960"/>
              <a:gd name="csX24" fmla="*/ 429768 w 708176"/>
              <a:gd name="csY24" fmla="*/ 1956816 h 1965960"/>
              <a:gd name="csX25" fmla="*/ 466344 w 708176"/>
              <a:gd name="csY25" fmla="*/ 1965960 h 1965960"/>
              <a:gd name="csX26" fmla="*/ 576072 w 708176"/>
              <a:gd name="csY26" fmla="*/ 1956816 h 1965960"/>
              <a:gd name="csX27" fmla="*/ 603504 w 708176"/>
              <a:gd name="csY27" fmla="*/ 1947672 h 1965960"/>
              <a:gd name="csX28" fmla="*/ 667512 w 708176"/>
              <a:gd name="csY28" fmla="*/ 1929384 h 1965960"/>
              <a:gd name="csX29" fmla="*/ 694944 w 708176"/>
              <a:gd name="csY29" fmla="*/ 1892808 h 1965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08176" h="1965960">
                <a:moveTo>
                  <a:pt x="539496" y="0"/>
                </a:moveTo>
                <a:cubicBezTo>
                  <a:pt x="438912" y="3048"/>
                  <a:pt x="337821" y="-1390"/>
                  <a:pt x="237744" y="9144"/>
                </a:cubicBezTo>
                <a:cubicBezTo>
                  <a:pt x="220069" y="11005"/>
                  <a:pt x="207920" y="28628"/>
                  <a:pt x="192024" y="36576"/>
                </a:cubicBezTo>
                <a:cubicBezTo>
                  <a:pt x="183403" y="40887"/>
                  <a:pt x="173736" y="42672"/>
                  <a:pt x="164592" y="45720"/>
                </a:cubicBezTo>
                <a:cubicBezTo>
                  <a:pt x="149352" y="60960"/>
                  <a:pt x="131804" y="74198"/>
                  <a:pt x="118872" y="91440"/>
                </a:cubicBezTo>
                <a:cubicBezTo>
                  <a:pt x="113089" y="99151"/>
                  <a:pt x="113525" y="110013"/>
                  <a:pt x="109728" y="118872"/>
                </a:cubicBezTo>
                <a:cubicBezTo>
                  <a:pt x="69364" y="213054"/>
                  <a:pt x="114778" y="85434"/>
                  <a:pt x="73152" y="210312"/>
                </a:cubicBezTo>
                <a:cubicBezTo>
                  <a:pt x="70104" y="237744"/>
                  <a:pt x="66047" y="265083"/>
                  <a:pt x="64008" y="292608"/>
                </a:cubicBezTo>
                <a:cubicBezTo>
                  <a:pt x="49505" y="488394"/>
                  <a:pt x="69257" y="399627"/>
                  <a:pt x="45720" y="493776"/>
                </a:cubicBezTo>
                <a:cubicBezTo>
                  <a:pt x="42672" y="521208"/>
                  <a:pt x="40773" y="548792"/>
                  <a:pt x="36576" y="576072"/>
                </a:cubicBezTo>
                <a:cubicBezTo>
                  <a:pt x="34665" y="588493"/>
                  <a:pt x="28682" y="600143"/>
                  <a:pt x="27432" y="612648"/>
                </a:cubicBezTo>
                <a:cubicBezTo>
                  <a:pt x="15857" y="728402"/>
                  <a:pt x="24801" y="738164"/>
                  <a:pt x="9144" y="832104"/>
                </a:cubicBezTo>
                <a:cubicBezTo>
                  <a:pt x="7078" y="844500"/>
                  <a:pt x="3048" y="856488"/>
                  <a:pt x="0" y="868680"/>
                </a:cubicBezTo>
                <a:cubicBezTo>
                  <a:pt x="3048" y="1085088"/>
                  <a:pt x="3297" y="1301554"/>
                  <a:pt x="9144" y="1517904"/>
                </a:cubicBezTo>
                <a:cubicBezTo>
                  <a:pt x="9404" y="1527539"/>
                  <a:pt x="15640" y="1536068"/>
                  <a:pt x="18288" y="1545336"/>
                </a:cubicBezTo>
                <a:cubicBezTo>
                  <a:pt x="21740" y="1557420"/>
                  <a:pt x="23980" y="1569828"/>
                  <a:pt x="27432" y="1581912"/>
                </a:cubicBezTo>
                <a:cubicBezTo>
                  <a:pt x="30080" y="1591180"/>
                  <a:pt x="34485" y="1599935"/>
                  <a:pt x="36576" y="1609344"/>
                </a:cubicBezTo>
                <a:cubicBezTo>
                  <a:pt x="40598" y="1627443"/>
                  <a:pt x="42403" y="1645967"/>
                  <a:pt x="45720" y="1664208"/>
                </a:cubicBezTo>
                <a:cubicBezTo>
                  <a:pt x="55736" y="1719297"/>
                  <a:pt x="65587" y="1772993"/>
                  <a:pt x="100584" y="1819656"/>
                </a:cubicBezTo>
                <a:cubicBezTo>
                  <a:pt x="110446" y="1832806"/>
                  <a:pt x="138732" y="1874112"/>
                  <a:pt x="155448" y="1883664"/>
                </a:cubicBezTo>
                <a:cubicBezTo>
                  <a:pt x="166359" y="1889899"/>
                  <a:pt x="179832" y="1889760"/>
                  <a:pt x="192024" y="1892808"/>
                </a:cubicBezTo>
                <a:cubicBezTo>
                  <a:pt x="201168" y="1898904"/>
                  <a:pt x="209626" y="1906181"/>
                  <a:pt x="219456" y="1911096"/>
                </a:cubicBezTo>
                <a:cubicBezTo>
                  <a:pt x="228077" y="1915407"/>
                  <a:pt x="237589" y="1917704"/>
                  <a:pt x="246888" y="1920240"/>
                </a:cubicBezTo>
                <a:cubicBezTo>
                  <a:pt x="271137" y="1926853"/>
                  <a:pt x="296195" y="1930580"/>
                  <a:pt x="320040" y="1938528"/>
                </a:cubicBezTo>
                <a:cubicBezTo>
                  <a:pt x="373656" y="1956400"/>
                  <a:pt x="337892" y="1946608"/>
                  <a:pt x="429768" y="1956816"/>
                </a:cubicBezTo>
                <a:cubicBezTo>
                  <a:pt x="441960" y="1959864"/>
                  <a:pt x="453777" y="1965960"/>
                  <a:pt x="466344" y="1965960"/>
                </a:cubicBezTo>
                <a:cubicBezTo>
                  <a:pt x="503047" y="1965960"/>
                  <a:pt x="539691" y="1961667"/>
                  <a:pt x="576072" y="1956816"/>
                </a:cubicBezTo>
                <a:cubicBezTo>
                  <a:pt x="585626" y="1955542"/>
                  <a:pt x="594236" y="1950320"/>
                  <a:pt x="603504" y="1947672"/>
                </a:cubicBezTo>
                <a:cubicBezTo>
                  <a:pt x="683876" y="1924709"/>
                  <a:pt x="601739" y="1951308"/>
                  <a:pt x="667512" y="1929384"/>
                </a:cubicBezTo>
                <a:cubicBezTo>
                  <a:pt x="706243" y="1890653"/>
                  <a:pt x="721330" y="1892808"/>
                  <a:pt x="694944" y="1892808"/>
                </a:cubicBezTo>
              </a:path>
            </a:pathLst>
          </a:cu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7495A4-C290-ED4C-F743-29DCB64496BF}"/>
              </a:ext>
            </a:extLst>
          </p:cNvPr>
          <p:cNvSpPr/>
          <p:nvPr/>
        </p:nvSpPr>
        <p:spPr>
          <a:xfrm>
            <a:off x="5038344" y="2816109"/>
            <a:ext cx="1252728" cy="1691883"/>
          </a:xfrm>
          <a:custGeom>
            <a:avLst/>
            <a:gdLst>
              <a:gd name="csX0" fmla="*/ 539496 w 1252728"/>
              <a:gd name="csY0" fmla="*/ 9387 h 1691883"/>
              <a:gd name="csX1" fmla="*/ 493776 w 1252728"/>
              <a:gd name="csY1" fmla="*/ 243 h 1691883"/>
              <a:gd name="csX2" fmla="*/ 411480 w 1252728"/>
              <a:gd name="csY2" fmla="*/ 45963 h 1691883"/>
              <a:gd name="csX3" fmla="*/ 292608 w 1252728"/>
              <a:gd name="csY3" fmla="*/ 100827 h 1691883"/>
              <a:gd name="csX4" fmla="*/ 237744 w 1252728"/>
              <a:gd name="csY4" fmla="*/ 137403 h 1691883"/>
              <a:gd name="csX5" fmla="*/ 210312 w 1252728"/>
              <a:gd name="csY5" fmla="*/ 164835 h 1691883"/>
              <a:gd name="csX6" fmla="*/ 91440 w 1252728"/>
              <a:gd name="csY6" fmla="*/ 265419 h 1691883"/>
              <a:gd name="csX7" fmla="*/ 36576 w 1252728"/>
              <a:gd name="csY7" fmla="*/ 338571 h 1691883"/>
              <a:gd name="csX8" fmla="*/ 0 w 1252728"/>
              <a:gd name="csY8" fmla="*/ 411723 h 1691883"/>
              <a:gd name="csX9" fmla="*/ 9144 w 1252728"/>
              <a:gd name="csY9" fmla="*/ 603747 h 1691883"/>
              <a:gd name="csX10" fmla="*/ 45720 w 1252728"/>
              <a:gd name="csY10" fmla="*/ 686043 h 1691883"/>
              <a:gd name="csX11" fmla="*/ 64008 w 1252728"/>
              <a:gd name="csY11" fmla="*/ 731763 h 1691883"/>
              <a:gd name="csX12" fmla="*/ 91440 w 1252728"/>
              <a:gd name="csY12" fmla="*/ 905499 h 1691883"/>
              <a:gd name="csX13" fmla="*/ 100584 w 1252728"/>
              <a:gd name="csY13" fmla="*/ 996939 h 1691883"/>
              <a:gd name="csX14" fmla="*/ 118872 w 1252728"/>
              <a:gd name="csY14" fmla="*/ 1134099 h 1691883"/>
              <a:gd name="csX15" fmla="*/ 128016 w 1252728"/>
              <a:gd name="csY15" fmla="*/ 1207251 h 1691883"/>
              <a:gd name="csX16" fmla="*/ 146304 w 1252728"/>
              <a:gd name="csY16" fmla="*/ 1234683 h 1691883"/>
              <a:gd name="csX17" fmla="*/ 164592 w 1252728"/>
              <a:gd name="csY17" fmla="*/ 1344411 h 1691883"/>
              <a:gd name="csX18" fmla="*/ 182880 w 1252728"/>
              <a:gd name="csY18" fmla="*/ 1408419 h 1691883"/>
              <a:gd name="csX19" fmla="*/ 192024 w 1252728"/>
              <a:gd name="csY19" fmla="*/ 1454139 h 1691883"/>
              <a:gd name="csX20" fmla="*/ 246888 w 1252728"/>
              <a:gd name="csY20" fmla="*/ 1490715 h 1691883"/>
              <a:gd name="csX21" fmla="*/ 329184 w 1252728"/>
              <a:gd name="csY21" fmla="*/ 1554723 h 1691883"/>
              <a:gd name="csX22" fmla="*/ 365760 w 1252728"/>
              <a:gd name="csY22" fmla="*/ 1582155 h 1691883"/>
              <a:gd name="csX23" fmla="*/ 393192 w 1252728"/>
              <a:gd name="csY23" fmla="*/ 1591299 h 1691883"/>
              <a:gd name="csX24" fmla="*/ 420624 w 1252728"/>
              <a:gd name="csY24" fmla="*/ 1609587 h 1691883"/>
              <a:gd name="csX25" fmla="*/ 493776 w 1252728"/>
              <a:gd name="csY25" fmla="*/ 1627875 h 1691883"/>
              <a:gd name="csX26" fmla="*/ 557784 w 1252728"/>
              <a:gd name="csY26" fmla="*/ 1618731 h 1691883"/>
              <a:gd name="csX27" fmla="*/ 649224 w 1252728"/>
              <a:gd name="csY27" fmla="*/ 1637019 h 1691883"/>
              <a:gd name="csX28" fmla="*/ 704088 w 1252728"/>
              <a:gd name="csY28" fmla="*/ 1646163 h 1691883"/>
              <a:gd name="csX29" fmla="*/ 768096 w 1252728"/>
              <a:gd name="csY29" fmla="*/ 1655307 h 1691883"/>
              <a:gd name="csX30" fmla="*/ 813816 w 1252728"/>
              <a:gd name="csY30" fmla="*/ 1664451 h 1691883"/>
              <a:gd name="csX31" fmla="*/ 914400 w 1252728"/>
              <a:gd name="csY31" fmla="*/ 1673595 h 1691883"/>
              <a:gd name="csX32" fmla="*/ 996696 w 1252728"/>
              <a:gd name="csY32" fmla="*/ 1691883 h 1691883"/>
              <a:gd name="csX33" fmla="*/ 1133856 w 1252728"/>
              <a:gd name="csY33" fmla="*/ 1682739 h 1691883"/>
              <a:gd name="csX34" fmla="*/ 1161288 w 1252728"/>
              <a:gd name="csY34" fmla="*/ 1673595 h 1691883"/>
              <a:gd name="csX35" fmla="*/ 1197864 w 1252728"/>
              <a:gd name="csY35" fmla="*/ 1664451 h 1691883"/>
              <a:gd name="csX36" fmla="*/ 1234440 w 1252728"/>
              <a:gd name="csY36" fmla="*/ 1637019 h 1691883"/>
              <a:gd name="csX37" fmla="*/ 1252728 w 1252728"/>
              <a:gd name="csY37" fmla="*/ 1600443 h 1691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252728" h="1691883">
                <a:moveTo>
                  <a:pt x="539496" y="9387"/>
                </a:moveTo>
                <a:cubicBezTo>
                  <a:pt x="524256" y="6339"/>
                  <a:pt x="509223" y="-1473"/>
                  <a:pt x="493776" y="243"/>
                </a:cubicBezTo>
                <a:cubicBezTo>
                  <a:pt x="482713" y="1472"/>
                  <a:pt x="414897" y="44123"/>
                  <a:pt x="411480" y="45963"/>
                </a:cubicBezTo>
                <a:cubicBezTo>
                  <a:pt x="348045" y="80120"/>
                  <a:pt x="348951" y="78290"/>
                  <a:pt x="292608" y="100827"/>
                </a:cubicBezTo>
                <a:cubicBezTo>
                  <a:pt x="205097" y="188338"/>
                  <a:pt x="317144" y="84470"/>
                  <a:pt x="237744" y="137403"/>
                </a:cubicBezTo>
                <a:cubicBezTo>
                  <a:pt x="226984" y="144576"/>
                  <a:pt x="220184" y="156482"/>
                  <a:pt x="210312" y="164835"/>
                </a:cubicBezTo>
                <a:cubicBezTo>
                  <a:pt x="194471" y="178239"/>
                  <a:pt x="118082" y="232857"/>
                  <a:pt x="91440" y="265419"/>
                </a:cubicBezTo>
                <a:cubicBezTo>
                  <a:pt x="72139" y="289009"/>
                  <a:pt x="47896" y="310271"/>
                  <a:pt x="36576" y="338571"/>
                </a:cubicBezTo>
                <a:cubicBezTo>
                  <a:pt x="14207" y="394495"/>
                  <a:pt x="27393" y="370634"/>
                  <a:pt x="0" y="411723"/>
                </a:cubicBezTo>
                <a:cubicBezTo>
                  <a:pt x="3048" y="475731"/>
                  <a:pt x="2067" y="540058"/>
                  <a:pt x="9144" y="603747"/>
                </a:cubicBezTo>
                <a:cubicBezTo>
                  <a:pt x="15884" y="664409"/>
                  <a:pt x="25303" y="645210"/>
                  <a:pt x="45720" y="686043"/>
                </a:cubicBezTo>
                <a:cubicBezTo>
                  <a:pt x="53061" y="700724"/>
                  <a:pt x="57912" y="716523"/>
                  <a:pt x="64008" y="731763"/>
                </a:cubicBezTo>
                <a:cubicBezTo>
                  <a:pt x="91617" y="980244"/>
                  <a:pt x="50810" y="634631"/>
                  <a:pt x="91440" y="905499"/>
                </a:cubicBezTo>
                <a:cubicBezTo>
                  <a:pt x="95984" y="935792"/>
                  <a:pt x="97811" y="966433"/>
                  <a:pt x="100584" y="996939"/>
                </a:cubicBezTo>
                <a:cubicBezTo>
                  <a:pt x="111771" y="1120001"/>
                  <a:pt x="97795" y="1070868"/>
                  <a:pt x="118872" y="1134099"/>
                </a:cubicBezTo>
                <a:cubicBezTo>
                  <a:pt x="121920" y="1158483"/>
                  <a:pt x="121550" y="1183543"/>
                  <a:pt x="128016" y="1207251"/>
                </a:cubicBezTo>
                <a:cubicBezTo>
                  <a:pt x="130908" y="1217853"/>
                  <a:pt x="143472" y="1224064"/>
                  <a:pt x="146304" y="1234683"/>
                </a:cubicBezTo>
                <a:cubicBezTo>
                  <a:pt x="155858" y="1270511"/>
                  <a:pt x="154405" y="1308757"/>
                  <a:pt x="164592" y="1344411"/>
                </a:cubicBezTo>
                <a:cubicBezTo>
                  <a:pt x="170688" y="1365747"/>
                  <a:pt x="177498" y="1386892"/>
                  <a:pt x="182880" y="1408419"/>
                </a:cubicBezTo>
                <a:cubicBezTo>
                  <a:pt x="186649" y="1423497"/>
                  <a:pt x="182482" y="1441871"/>
                  <a:pt x="192024" y="1454139"/>
                </a:cubicBezTo>
                <a:cubicBezTo>
                  <a:pt x="205518" y="1471489"/>
                  <a:pt x="231346" y="1475173"/>
                  <a:pt x="246888" y="1490715"/>
                </a:cubicBezTo>
                <a:cubicBezTo>
                  <a:pt x="302732" y="1546559"/>
                  <a:pt x="241686" y="1489099"/>
                  <a:pt x="329184" y="1554723"/>
                </a:cubicBezTo>
                <a:cubicBezTo>
                  <a:pt x="341376" y="1563867"/>
                  <a:pt x="352528" y="1574594"/>
                  <a:pt x="365760" y="1582155"/>
                </a:cubicBezTo>
                <a:cubicBezTo>
                  <a:pt x="374129" y="1586937"/>
                  <a:pt x="384571" y="1586988"/>
                  <a:pt x="393192" y="1591299"/>
                </a:cubicBezTo>
                <a:cubicBezTo>
                  <a:pt x="403022" y="1596214"/>
                  <a:pt x="410296" y="1605831"/>
                  <a:pt x="420624" y="1609587"/>
                </a:cubicBezTo>
                <a:cubicBezTo>
                  <a:pt x="444245" y="1618177"/>
                  <a:pt x="493776" y="1627875"/>
                  <a:pt x="493776" y="1627875"/>
                </a:cubicBezTo>
                <a:cubicBezTo>
                  <a:pt x="515112" y="1624827"/>
                  <a:pt x="536269" y="1617465"/>
                  <a:pt x="557784" y="1618731"/>
                </a:cubicBezTo>
                <a:cubicBezTo>
                  <a:pt x="588814" y="1620556"/>
                  <a:pt x="618673" y="1631291"/>
                  <a:pt x="649224" y="1637019"/>
                </a:cubicBezTo>
                <a:cubicBezTo>
                  <a:pt x="667447" y="1640436"/>
                  <a:pt x="685763" y="1643344"/>
                  <a:pt x="704088" y="1646163"/>
                </a:cubicBezTo>
                <a:cubicBezTo>
                  <a:pt x="725390" y="1649440"/>
                  <a:pt x="746837" y="1651764"/>
                  <a:pt x="768096" y="1655307"/>
                </a:cubicBezTo>
                <a:cubicBezTo>
                  <a:pt x="783426" y="1657862"/>
                  <a:pt x="798394" y="1662523"/>
                  <a:pt x="813816" y="1664451"/>
                </a:cubicBezTo>
                <a:cubicBezTo>
                  <a:pt x="847222" y="1668627"/>
                  <a:pt x="880872" y="1670547"/>
                  <a:pt x="914400" y="1673595"/>
                </a:cubicBezTo>
                <a:cubicBezTo>
                  <a:pt x="928506" y="1677122"/>
                  <a:pt x="985087" y="1691883"/>
                  <a:pt x="996696" y="1691883"/>
                </a:cubicBezTo>
                <a:cubicBezTo>
                  <a:pt x="1042517" y="1691883"/>
                  <a:pt x="1088136" y="1685787"/>
                  <a:pt x="1133856" y="1682739"/>
                </a:cubicBezTo>
                <a:cubicBezTo>
                  <a:pt x="1143000" y="1679691"/>
                  <a:pt x="1152020" y="1676243"/>
                  <a:pt x="1161288" y="1673595"/>
                </a:cubicBezTo>
                <a:cubicBezTo>
                  <a:pt x="1173372" y="1670143"/>
                  <a:pt x="1186624" y="1670071"/>
                  <a:pt x="1197864" y="1664451"/>
                </a:cubicBezTo>
                <a:cubicBezTo>
                  <a:pt x="1211495" y="1657635"/>
                  <a:pt x="1222248" y="1646163"/>
                  <a:pt x="1234440" y="1637019"/>
                </a:cubicBezTo>
                <a:cubicBezTo>
                  <a:pt x="1244947" y="1605498"/>
                  <a:pt x="1236768" y="1616403"/>
                  <a:pt x="1252728" y="1600443"/>
                </a:cubicBezTo>
              </a:path>
            </a:pathLst>
          </a:cu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542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B512-3C02-F83D-0292-497583B3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/>
              <a:t>Common Axes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73CA7-4133-5BFD-5AA5-0635AB2F0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936" y="1052737"/>
            <a:ext cx="8229600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Once you create an Axes object, you use its methods to plot data and </a:t>
            </a:r>
            <a:r>
              <a:rPr lang="en-US" sz="2400" dirty="0" err="1"/>
              <a:t>customise</a:t>
            </a:r>
            <a:r>
              <a:rPr lang="en-US" sz="2400" dirty="0"/>
              <a:t> the </a:t>
            </a:r>
            <a:r>
              <a:rPr lang="en-US" sz="2400" dirty="0" err="1"/>
              <a:t>visualisation</a:t>
            </a:r>
            <a:r>
              <a:rPr lang="en-US" sz="2400" dirty="0"/>
              <a:t>.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35DB54-6044-0CE3-9371-16442306E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412604"/>
              </p:ext>
            </p:extLst>
          </p:nvPr>
        </p:nvGraphicFramePr>
        <p:xfrm>
          <a:off x="403536" y="2028810"/>
          <a:ext cx="4528504" cy="32003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5029">
                  <a:extLst>
                    <a:ext uri="{9D8B030D-6E8A-4147-A177-3AD203B41FA5}">
                      <a16:colId xmlns:a16="http://schemas.microsoft.com/office/drawing/2014/main" val="3389158525"/>
                    </a:ext>
                  </a:extLst>
                </a:gridCol>
                <a:gridCol w="2693475">
                  <a:extLst>
                    <a:ext uri="{9D8B030D-6E8A-4147-A177-3AD203B41FA5}">
                      <a16:colId xmlns:a16="http://schemas.microsoft.com/office/drawing/2014/main" val="472531338"/>
                    </a:ext>
                  </a:extLst>
                </a:gridCol>
              </a:tblGrid>
              <a:tr h="412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135106"/>
                  </a:ext>
                </a:extLst>
              </a:tr>
              <a:tr h="412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ax.plot(x, 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Creates a line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482668"/>
                  </a:ext>
                </a:extLst>
              </a:tr>
              <a:tr h="412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ax.scatter(x, 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Creates a scatter plot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708098"/>
                  </a:ext>
                </a:extLst>
              </a:tr>
              <a:tr h="412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ax.bar(x, height)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Creates a vertical bar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788433"/>
                  </a:ext>
                </a:extLst>
              </a:tr>
              <a:tr h="722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ax.barh(y, width)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Creates a horizontal bar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18668"/>
                  </a:ext>
                </a:extLst>
              </a:tr>
              <a:tr h="412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ax.hist(data)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Creates a histogram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344460"/>
                  </a:ext>
                </a:extLst>
              </a:tr>
              <a:tr h="412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ax.boxplot(data)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Creates a box plot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183043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922415A-A2E7-D9D9-D836-DC2A065FD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886" y="1628800"/>
            <a:ext cx="3602539" cy="27340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913729-8347-4920-B085-FF4453814C92}"/>
              </a:ext>
            </a:extLst>
          </p:cNvPr>
          <p:cNvSpPr txBox="1"/>
          <p:nvPr/>
        </p:nvSpPr>
        <p:spPr>
          <a:xfrm>
            <a:off x="5004048" y="4653136"/>
            <a:ext cx="3960437" cy="2031325"/>
          </a:xfrm>
          <a:custGeom>
            <a:avLst/>
            <a:gdLst>
              <a:gd name="csX0" fmla="*/ 0 w 3960437"/>
              <a:gd name="csY0" fmla="*/ 0 h 2031325"/>
              <a:gd name="csX1" fmla="*/ 526172 w 3960437"/>
              <a:gd name="csY1" fmla="*/ 0 h 2031325"/>
              <a:gd name="csX2" fmla="*/ 973136 w 3960437"/>
              <a:gd name="csY2" fmla="*/ 0 h 2031325"/>
              <a:gd name="csX3" fmla="*/ 1618121 w 3960437"/>
              <a:gd name="csY3" fmla="*/ 0 h 2031325"/>
              <a:gd name="csX4" fmla="*/ 2144294 w 3960437"/>
              <a:gd name="csY4" fmla="*/ 0 h 2031325"/>
              <a:gd name="csX5" fmla="*/ 2670466 w 3960437"/>
              <a:gd name="csY5" fmla="*/ 0 h 2031325"/>
              <a:gd name="csX6" fmla="*/ 3315452 w 3960437"/>
              <a:gd name="csY6" fmla="*/ 0 h 2031325"/>
              <a:gd name="csX7" fmla="*/ 3960437 w 3960437"/>
              <a:gd name="csY7" fmla="*/ 0 h 2031325"/>
              <a:gd name="csX8" fmla="*/ 3960437 w 3960437"/>
              <a:gd name="csY8" fmla="*/ 548458 h 2031325"/>
              <a:gd name="csX9" fmla="*/ 3960437 w 3960437"/>
              <a:gd name="csY9" fmla="*/ 1015663 h 2031325"/>
              <a:gd name="csX10" fmla="*/ 3960437 w 3960437"/>
              <a:gd name="csY10" fmla="*/ 1482867 h 2031325"/>
              <a:gd name="csX11" fmla="*/ 3960437 w 3960437"/>
              <a:gd name="csY11" fmla="*/ 2031325 h 2031325"/>
              <a:gd name="csX12" fmla="*/ 3355056 w 3960437"/>
              <a:gd name="csY12" fmla="*/ 2031325 h 2031325"/>
              <a:gd name="csX13" fmla="*/ 2710070 w 3960437"/>
              <a:gd name="csY13" fmla="*/ 2031325 h 2031325"/>
              <a:gd name="csX14" fmla="*/ 2065085 w 3960437"/>
              <a:gd name="csY14" fmla="*/ 2031325 h 2031325"/>
              <a:gd name="csX15" fmla="*/ 1578517 w 3960437"/>
              <a:gd name="csY15" fmla="*/ 2031325 h 2031325"/>
              <a:gd name="csX16" fmla="*/ 1012740 w 3960437"/>
              <a:gd name="csY16" fmla="*/ 2031325 h 2031325"/>
              <a:gd name="csX17" fmla="*/ 0 w 3960437"/>
              <a:gd name="csY17" fmla="*/ 2031325 h 2031325"/>
              <a:gd name="csX18" fmla="*/ 0 w 3960437"/>
              <a:gd name="csY18" fmla="*/ 1523494 h 2031325"/>
              <a:gd name="csX19" fmla="*/ 0 w 3960437"/>
              <a:gd name="csY19" fmla="*/ 1056289 h 2031325"/>
              <a:gd name="csX20" fmla="*/ 0 w 3960437"/>
              <a:gd name="csY20" fmla="*/ 589084 h 2031325"/>
              <a:gd name="csX21" fmla="*/ 0 w 3960437"/>
              <a:gd name="csY21" fmla="*/ 0 h 2031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960437" h="2031325" extrusionOk="0">
                <a:moveTo>
                  <a:pt x="0" y="0"/>
                </a:moveTo>
                <a:cubicBezTo>
                  <a:pt x="186929" y="-10883"/>
                  <a:pt x="304243" y="2295"/>
                  <a:pt x="526172" y="0"/>
                </a:cubicBezTo>
                <a:cubicBezTo>
                  <a:pt x="748101" y="-2295"/>
                  <a:pt x="880123" y="30271"/>
                  <a:pt x="973136" y="0"/>
                </a:cubicBezTo>
                <a:cubicBezTo>
                  <a:pt x="1066149" y="-30271"/>
                  <a:pt x="1453714" y="43174"/>
                  <a:pt x="1618121" y="0"/>
                </a:cubicBezTo>
                <a:cubicBezTo>
                  <a:pt x="1782529" y="-43174"/>
                  <a:pt x="1892083" y="19025"/>
                  <a:pt x="2144294" y="0"/>
                </a:cubicBezTo>
                <a:cubicBezTo>
                  <a:pt x="2396505" y="-19025"/>
                  <a:pt x="2478578" y="14910"/>
                  <a:pt x="2670466" y="0"/>
                </a:cubicBezTo>
                <a:cubicBezTo>
                  <a:pt x="2862354" y="-14910"/>
                  <a:pt x="3102799" y="41135"/>
                  <a:pt x="3315452" y="0"/>
                </a:cubicBezTo>
                <a:cubicBezTo>
                  <a:pt x="3528105" y="-41135"/>
                  <a:pt x="3693551" y="67289"/>
                  <a:pt x="3960437" y="0"/>
                </a:cubicBezTo>
                <a:cubicBezTo>
                  <a:pt x="3999288" y="146782"/>
                  <a:pt x="3924312" y="288179"/>
                  <a:pt x="3960437" y="548458"/>
                </a:cubicBezTo>
                <a:cubicBezTo>
                  <a:pt x="3996562" y="808737"/>
                  <a:pt x="3940403" y="875280"/>
                  <a:pt x="3960437" y="1015663"/>
                </a:cubicBezTo>
                <a:cubicBezTo>
                  <a:pt x="3980471" y="1156047"/>
                  <a:pt x="3906463" y="1318923"/>
                  <a:pt x="3960437" y="1482867"/>
                </a:cubicBezTo>
                <a:cubicBezTo>
                  <a:pt x="4014411" y="1646811"/>
                  <a:pt x="3933555" y="1816348"/>
                  <a:pt x="3960437" y="2031325"/>
                </a:cubicBezTo>
                <a:cubicBezTo>
                  <a:pt x="3805589" y="2103507"/>
                  <a:pt x="3571123" y="1995282"/>
                  <a:pt x="3355056" y="2031325"/>
                </a:cubicBezTo>
                <a:cubicBezTo>
                  <a:pt x="3138989" y="2067368"/>
                  <a:pt x="2867235" y="1987914"/>
                  <a:pt x="2710070" y="2031325"/>
                </a:cubicBezTo>
                <a:cubicBezTo>
                  <a:pt x="2552905" y="2074736"/>
                  <a:pt x="2267569" y="1959722"/>
                  <a:pt x="2065085" y="2031325"/>
                </a:cubicBezTo>
                <a:cubicBezTo>
                  <a:pt x="1862602" y="2102928"/>
                  <a:pt x="1695668" y="1991486"/>
                  <a:pt x="1578517" y="2031325"/>
                </a:cubicBezTo>
                <a:cubicBezTo>
                  <a:pt x="1461366" y="2071164"/>
                  <a:pt x="1251403" y="2011701"/>
                  <a:pt x="1012740" y="2031325"/>
                </a:cubicBezTo>
                <a:cubicBezTo>
                  <a:pt x="774077" y="2050949"/>
                  <a:pt x="357338" y="1939599"/>
                  <a:pt x="0" y="2031325"/>
                </a:cubicBezTo>
                <a:cubicBezTo>
                  <a:pt x="-19514" y="1812360"/>
                  <a:pt x="50207" y="1752538"/>
                  <a:pt x="0" y="1523494"/>
                </a:cubicBezTo>
                <a:cubicBezTo>
                  <a:pt x="-50207" y="1294450"/>
                  <a:pt x="56058" y="1204349"/>
                  <a:pt x="0" y="1056289"/>
                </a:cubicBezTo>
                <a:cubicBezTo>
                  <a:pt x="-56058" y="908230"/>
                  <a:pt x="38147" y="803006"/>
                  <a:pt x="0" y="589084"/>
                </a:cubicBezTo>
                <a:cubicBezTo>
                  <a:pt x="-38147" y="375162"/>
                  <a:pt x="39525" y="275394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ax.plot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GB" dirty="0"/>
              <a:t>draw the data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ax.set_title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GB" dirty="0"/>
              <a:t>explain what the chart shows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ax.set_xlabel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GB" dirty="0"/>
              <a:t>describe the x-axis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ax.set_ylabel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GB" dirty="0"/>
              <a:t>describe the y-axis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54A139-C771-2BD3-B344-CFC8D01BDE9B}"/>
              </a:ext>
            </a:extLst>
          </p:cNvPr>
          <p:cNvCxnSpPr/>
          <p:nvPr/>
        </p:nvCxnSpPr>
        <p:spPr>
          <a:xfrm flipV="1">
            <a:off x="6804248" y="4362857"/>
            <a:ext cx="0" cy="29027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91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D8A13-29FE-E640-A63F-850ACCFE8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418058"/>
          </a:xfrm>
        </p:spPr>
        <p:txBody>
          <a:bodyPr>
            <a:noAutofit/>
          </a:bodyPr>
          <a:lstStyle/>
          <a:p>
            <a:r>
              <a:rPr lang="en-GB" sz="3000" dirty="0"/>
              <a:t>Choosing the Right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54F9E-D9F0-2314-E001-F209B72CF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870" y="636529"/>
            <a:ext cx="8229600" cy="63911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Different chart types answer </a:t>
            </a:r>
            <a:r>
              <a:rPr lang="en-US" dirty="0">
                <a:solidFill>
                  <a:srgbClr val="FF0000"/>
                </a:solidFill>
              </a:rPr>
              <a:t>different questions about the data. </a:t>
            </a:r>
            <a:r>
              <a:rPr lang="en-US" dirty="0"/>
              <a:t>Choose a chart based on </a:t>
            </a:r>
            <a:r>
              <a:rPr lang="en-US" dirty="0">
                <a:solidFill>
                  <a:srgbClr val="FF0000"/>
                </a:solidFill>
              </a:rPr>
              <a:t>what you want the viewer to understand.</a:t>
            </a:r>
            <a:endParaRPr lang="en-GB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162FF8-9BA5-3EDD-2DF3-A35DDC040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947299"/>
              </p:ext>
            </p:extLst>
          </p:nvPr>
        </p:nvGraphicFramePr>
        <p:xfrm>
          <a:off x="457200" y="1305471"/>
          <a:ext cx="3923927" cy="53788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0555">
                  <a:extLst>
                    <a:ext uri="{9D8B030D-6E8A-4147-A177-3AD203B41FA5}">
                      <a16:colId xmlns:a16="http://schemas.microsoft.com/office/drawing/2014/main" val="2439604207"/>
                    </a:ext>
                  </a:extLst>
                </a:gridCol>
                <a:gridCol w="1167352">
                  <a:extLst>
                    <a:ext uri="{9D8B030D-6E8A-4147-A177-3AD203B41FA5}">
                      <a16:colId xmlns:a16="http://schemas.microsoft.com/office/drawing/2014/main" val="212151416"/>
                    </a:ext>
                  </a:extLst>
                </a:gridCol>
                <a:gridCol w="1236020">
                  <a:extLst>
                    <a:ext uri="{9D8B030D-6E8A-4147-A177-3AD203B41FA5}">
                      <a16:colId xmlns:a16="http://schemas.microsoft.com/office/drawing/2014/main" val="96068779"/>
                    </a:ext>
                  </a:extLst>
                </a:gridCol>
              </a:tblGrid>
              <a:tr h="1349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Change or trend over an ordered sequence such as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Line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ax.plot</a:t>
                      </a:r>
                      <a:r>
                        <a:rPr lang="en-GB" dirty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0146180"/>
                  </a:ext>
                </a:extLst>
              </a:tr>
              <a:tr h="1282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Comparison between 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Bar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ax.bar()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564063"/>
                  </a:ext>
                </a:extLst>
              </a:tr>
              <a:tr h="1368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Distribution of numerical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Histogram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ax.hist()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816303"/>
                  </a:ext>
                </a:extLst>
              </a:tr>
              <a:tr h="1265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Relationship between two numerical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Scatter plot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ax.scatter</a:t>
                      </a:r>
                      <a:r>
                        <a:rPr lang="en-GB" dirty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13899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AF25E0D-0B1B-0C87-7BCB-6B982FBAEF7B}"/>
              </a:ext>
            </a:extLst>
          </p:cNvPr>
          <p:cNvSpPr txBox="1"/>
          <p:nvPr/>
        </p:nvSpPr>
        <p:spPr>
          <a:xfrm>
            <a:off x="4539442" y="1254940"/>
            <a:ext cx="4129605" cy="64633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Plot(): Use when the order of the x-values matters, mainly for time series.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313602B-3CE1-3302-11A4-2BF056E6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208" y="5058602"/>
            <a:ext cx="4248743" cy="5543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A82ED3E-7958-4E16-F47A-32CD9F93CC3C}"/>
              </a:ext>
            </a:extLst>
          </p:cNvPr>
          <p:cNvSpPr txBox="1"/>
          <p:nvPr/>
        </p:nvSpPr>
        <p:spPr>
          <a:xfrm>
            <a:off x="4499279" y="4248968"/>
            <a:ext cx="4248743" cy="83099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Hist(): Use to examine the distribution of numerical observations by grouping values into intervals called bins.</a:t>
            </a:r>
            <a:endParaRPr lang="en-GB" sz="1600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206B13-4346-56C2-0023-45A3B45F14BF}"/>
              </a:ext>
            </a:extLst>
          </p:cNvPr>
          <p:cNvSpPr txBox="1"/>
          <p:nvPr/>
        </p:nvSpPr>
        <p:spPr>
          <a:xfrm>
            <a:off x="4509656" y="2714935"/>
            <a:ext cx="4223526" cy="64633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Bar(): Use when comparing values across discrete categories.</a:t>
            </a:r>
            <a:endParaRPr lang="en-GB" dirty="0">
              <a:solidFill>
                <a:srgbClr val="0070C0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17179D-CDC4-E6D4-F40C-438D03A22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208" y="3353207"/>
            <a:ext cx="4217638" cy="87202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25F9D63-0EC5-10D8-BA34-45FF1B80D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267" y="1899724"/>
            <a:ext cx="4198308" cy="80021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F646459-0B93-76B5-D7CC-B2C96B9FADCE}"/>
              </a:ext>
            </a:extLst>
          </p:cNvPr>
          <p:cNvSpPr txBox="1"/>
          <p:nvPr/>
        </p:nvSpPr>
        <p:spPr>
          <a:xfrm>
            <a:off x="4539442" y="5701752"/>
            <a:ext cx="4274672" cy="61555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chemeClr val="tx2"/>
                </a:solidFill>
              </a:rPr>
              <a:t>scatter(): Use to investigate whether there is a relationship between two numerical variables.</a:t>
            </a:r>
            <a:endParaRPr lang="en-GB" sz="1700" dirty="0">
              <a:solidFill>
                <a:schemeClr val="tx2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0979BA7-249F-9307-9696-F636770ED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360" y="6289178"/>
            <a:ext cx="5839640" cy="51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0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376" y="72572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GB" dirty="0"/>
              <a:t>Creating a Simple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4447" y="693515"/>
            <a:ext cx="759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Matplotlib can create a chart from a sequence of x- and y-values. </a:t>
            </a:r>
            <a:endParaRPr lang="en-GB" dirty="0"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42673" y="1067796"/>
            <a:ext cx="3744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Example 2: </a:t>
            </a:r>
            <a:r>
              <a:rPr lang="en-US" dirty="0">
                <a:cs typeface="Courier New" panose="02070309020205020404" pitchFamily="49" charset="0"/>
              </a:rPr>
              <a:t>Showing the same data as individual points</a:t>
            </a:r>
            <a:r>
              <a:rPr lang="en-GB" dirty="0">
                <a:cs typeface="Courier New" panose="02070309020205020404" pitchFamily="49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73BF1-362E-D9CC-68A0-A311FB216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72" y="1593739"/>
            <a:ext cx="3016424" cy="1578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528CAD-5095-AFD7-BE5E-F441F3939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52" y="4511851"/>
            <a:ext cx="3707904" cy="23175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E754F3-AB6A-8CB1-118E-5B0E35DFB00E}"/>
              </a:ext>
            </a:extLst>
          </p:cNvPr>
          <p:cNvSpPr txBox="1"/>
          <p:nvPr/>
        </p:nvSpPr>
        <p:spPr>
          <a:xfrm>
            <a:off x="129225" y="3242026"/>
            <a:ext cx="44462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ax.plot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y) </a:t>
            </a:r>
            <a:r>
              <a:rPr lang="en-US" dirty="0"/>
              <a:t>connects the points with a line. </a:t>
            </a:r>
          </a:p>
          <a:p>
            <a:r>
              <a:rPr lang="en-US" dirty="0"/>
              <a:t>The plotted points are: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(1, 1), (2, 4), (3, 9), (4, 16)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07E548-8FEC-2223-663E-40E72E36D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723" y="1736910"/>
            <a:ext cx="3059831" cy="18290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4DBB2DF-4701-1EC4-ED80-6EDFABB1477D}"/>
              </a:ext>
            </a:extLst>
          </p:cNvPr>
          <p:cNvSpPr txBox="1"/>
          <p:nvPr/>
        </p:nvSpPr>
        <p:spPr>
          <a:xfrm>
            <a:off x="4760931" y="3599363"/>
            <a:ext cx="41582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ax.scatter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displays each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y) </a:t>
            </a:r>
            <a:r>
              <a:rPr lang="en-US" dirty="0"/>
              <a:t>pair as a separate point. </a:t>
            </a:r>
          </a:p>
          <a:p>
            <a:r>
              <a:rPr lang="en-US" dirty="0"/>
              <a:t>A title and axis labels help the reader understand what the data represent.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7BF980-A68C-1C40-93C9-EC179359F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930" y="4799692"/>
            <a:ext cx="3707903" cy="20583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337C73B-A83D-8B06-3BC0-F0D97B03669B}"/>
              </a:ext>
            </a:extLst>
          </p:cNvPr>
          <p:cNvSpPr txBox="1"/>
          <p:nvPr/>
        </p:nvSpPr>
        <p:spPr>
          <a:xfrm>
            <a:off x="251520" y="1164055"/>
            <a:ext cx="3960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Example 1: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Courier New" panose="02070309020205020404" pitchFamily="49" charset="0"/>
              </a:rPr>
              <a:t>A simple line chart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144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30746"/>
            <a:ext cx="8640959" cy="754038"/>
          </a:xfrm>
        </p:spPr>
        <p:txBody>
          <a:bodyPr>
            <a:noAutofit/>
          </a:bodyPr>
          <a:lstStyle/>
          <a:p>
            <a:r>
              <a:rPr lang="en-US" sz="1800" dirty="0"/>
              <a:t>Matplotlib can display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more than one data series on the same Axes</a:t>
            </a:r>
            <a:r>
              <a:rPr lang="en-US" sz="1800" dirty="0"/>
              <a:t>. </a:t>
            </a:r>
          </a:p>
          <a:p>
            <a:r>
              <a:rPr lang="en-US" sz="1800" dirty="0"/>
              <a:t>This is useful when we want to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compare patterns or trends directly</a:t>
            </a:r>
            <a:r>
              <a:rPr lang="en-US" sz="1800" dirty="0"/>
              <a:t>.</a:t>
            </a:r>
            <a:endParaRPr lang="en-GB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1C457-8640-AAC4-4F6F-6655800231B9}"/>
              </a:ext>
            </a:extLst>
          </p:cNvPr>
          <p:cNvSpPr txBox="1"/>
          <p:nvPr/>
        </p:nvSpPr>
        <p:spPr>
          <a:xfrm>
            <a:off x="395536" y="131415"/>
            <a:ext cx="80648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dirty="0"/>
              <a:t>Plotting Multiple Data Series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E7C06C-8885-3517-80C0-B3AD1CDDC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6" y="1628800"/>
            <a:ext cx="3456384" cy="43924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4085E1-D4FE-4654-C808-7BA70B813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967" y="1511096"/>
            <a:ext cx="5107465" cy="28540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C3D8CD-DCCE-763F-EB53-4866679280BD}"/>
              </a:ext>
            </a:extLst>
          </p:cNvPr>
          <p:cNvSpPr txBox="1"/>
          <p:nvPr/>
        </p:nvSpPr>
        <p:spPr>
          <a:xfrm>
            <a:off x="3955881" y="4266962"/>
            <a:ext cx="4968551" cy="1754326"/>
          </a:xfrm>
          <a:custGeom>
            <a:avLst/>
            <a:gdLst>
              <a:gd name="csX0" fmla="*/ 0 w 4968551"/>
              <a:gd name="csY0" fmla="*/ 0 h 1754326"/>
              <a:gd name="csX1" fmla="*/ 571383 w 4968551"/>
              <a:gd name="csY1" fmla="*/ 0 h 1754326"/>
              <a:gd name="csX2" fmla="*/ 1043396 w 4968551"/>
              <a:gd name="csY2" fmla="*/ 0 h 1754326"/>
              <a:gd name="csX3" fmla="*/ 1763836 w 4968551"/>
              <a:gd name="csY3" fmla="*/ 0 h 1754326"/>
              <a:gd name="csX4" fmla="*/ 2335219 w 4968551"/>
              <a:gd name="csY4" fmla="*/ 0 h 1754326"/>
              <a:gd name="csX5" fmla="*/ 2906602 w 4968551"/>
              <a:gd name="csY5" fmla="*/ 0 h 1754326"/>
              <a:gd name="csX6" fmla="*/ 3627042 w 4968551"/>
              <a:gd name="csY6" fmla="*/ 0 h 1754326"/>
              <a:gd name="csX7" fmla="*/ 4148740 w 4968551"/>
              <a:gd name="csY7" fmla="*/ 0 h 1754326"/>
              <a:gd name="csX8" fmla="*/ 4968551 w 4968551"/>
              <a:gd name="csY8" fmla="*/ 0 h 1754326"/>
              <a:gd name="csX9" fmla="*/ 4968551 w 4968551"/>
              <a:gd name="csY9" fmla="*/ 619862 h 1754326"/>
              <a:gd name="csX10" fmla="*/ 4968551 w 4968551"/>
              <a:gd name="csY10" fmla="*/ 1169551 h 1754326"/>
              <a:gd name="csX11" fmla="*/ 4968551 w 4968551"/>
              <a:gd name="csY11" fmla="*/ 1754326 h 1754326"/>
              <a:gd name="csX12" fmla="*/ 4297797 w 4968551"/>
              <a:gd name="csY12" fmla="*/ 1754326 h 1754326"/>
              <a:gd name="csX13" fmla="*/ 3577357 w 4968551"/>
              <a:gd name="csY13" fmla="*/ 1754326 h 1754326"/>
              <a:gd name="csX14" fmla="*/ 2856917 w 4968551"/>
              <a:gd name="csY14" fmla="*/ 1754326 h 1754326"/>
              <a:gd name="csX15" fmla="*/ 2335219 w 4968551"/>
              <a:gd name="csY15" fmla="*/ 1754326 h 1754326"/>
              <a:gd name="csX16" fmla="*/ 1714150 w 4968551"/>
              <a:gd name="csY16" fmla="*/ 1754326 h 1754326"/>
              <a:gd name="csX17" fmla="*/ 993710 w 4968551"/>
              <a:gd name="csY17" fmla="*/ 1754326 h 1754326"/>
              <a:gd name="csX18" fmla="*/ 0 w 4968551"/>
              <a:gd name="csY18" fmla="*/ 1754326 h 1754326"/>
              <a:gd name="csX19" fmla="*/ 0 w 4968551"/>
              <a:gd name="csY19" fmla="*/ 1222180 h 1754326"/>
              <a:gd name="csX20" fmla="*/ 0 w 4968551"/>
              <a:gd name="csY20" fmla="*/ 672492 h 1754326"/>
              <a:gd name="csX21" fmla="*/ 0 w 4968551"/>
              <a:gd name="csY21" fmla="*/ 0 h 17543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968551" h="1754326" extrusionOk="0">
                <a:moveTo>
                  <a:pt x="0" y="0"/>
                </a:moveTo>
                <a:cubicBezTo>
                  <a:pt x="126586" y="-12863"/>
                  <a:pt x="294192" y="-28076"/>
                  <a:pt x="571383" y="0"/>
                </a:cubicBezTo>
                <a:cubicBezTo>
                  <a:pt x="848574" y="28076"/>
                  <a:pt x="833773" y="-989"/>
                  <a:pt x="1043396" y="0"/>
                </a:cubicBezTo>
                <a:cubicBezTo>
                  <a:pt x="1253019" y="989"/>
                  <a:pt x="1465110" y="-5013"/>
                  <a:pt x="1763836" y="0"/>
                </a:cubicBezTo>
                <a:cubicBezTo>
                  <a:pt x="2062562" y="5013"/>
                  <a:pt x="2124366" y="-23618"/>
                  <a:pt x="2335219" y="0"/>
                </a:cubicBezTo>
                <a:cubicBezTo>
                  <a:pt x="2546072" y="23618"/>
                  <a:pt x="2702498" y="-207"/>
                  <a:pt x="2906602" y="0"/>
                </a:cubicBezTo>
                <a:cubicBezTo>
                  <a:pt x="3110706" y="207"/>
                  <a:pt x="3381616" y="11229"/>
                  <a:pt x="3627042" y="0"/>
                </a:cubicBezTo>
                <a:cubicBezTo>
                  <a:pt x="3872468" y="-11229"/>
                  <a:pt x="3923650" y="25302"/>
                  <a:pt x="4148740" y="0"/>
                </a:cubicBezTo>
                <a:cubicBezTo>
                  <a:pt x="4373830" y="-25302"/>
                  <a:pt x="4672101" y="17821"/>
                  <a:pt x="4968551" y="0"/>
                </a:cubicBezTo>
                <a:cubicBezTo>
                  <a:pt x="4982040" y="191307"/>
                  <a:pt x="4991186" y="444356"/>
                  <a:pt x="4968551" y="619862"/>
                </a:cubicBezTo>
                <a:cubicBezTo>
                  <a:pt x="4945916" y="795368"/>
                  <a:pt x="4995116" y="964875"/>
                  <a:pt x="4968551" y="1169551"/>
                </a:cubicBezTo>
                <a:cubicBezTo>
                  <a:pt x="4941986" y="1374227"/>
                  <a:pt x="4947976" y="1542932"/>
                  <a:pt x="4968551" y="1754326"/>
                </a:cubicBezTo>
                <a:cubicBezTo>
                  <a:pt x="4799000" y="1735759"/>
                  <a:pt x="4617623" y="1777534"/>
                  <a:pt x="4297797" y="1754326"/>
                </a:cubicBezTo>
                <a:cubicBezTo>
                  <a:pt x="3977971" y="1731118"/>
                  <a:pt x="3918466" y="1750712"/>
                  <a:pt x="3577357" y="1754326"/>
                </a:cubicBezTo>
                <a:cubicBezTo>
                  <a:pt x="3236248" y="1757940"/>
                  <a:pt x="3032420" y="1744295"/>
                  <a:pt x="2856917" y="1754326"/>
                </a:cubicBezTo>
                <a:cubicBezTo>
                  <a:pt x="2681414" y="1764357"/>
                  <a:pt x="2453538" y="1734017"/>
                  <a:pt x="2335219" y="1754326"/>
                </a:cubicBezTo>
                <a:cubicBezTo>
                  <a:pt x="2216900" y="1774635"/>
                  <a:pt x="1845207" y="1764810"/>
                  <a:pt x="1714150" y="1754326"/>
                </a:cubicBezTo>
                <a:cubicBezTo>
                  <a:pt x="1583093" y="1743842"/>
                  <a:pt x="1295667" y="1767392"/>
                  <a:pt x="993710" y="1754326"/>
                </a:cubicBezTo>
                <a:cubicBezTo>
                  <a:pt x="691753" y="1741260"/>
                  <a:pt x="265243" y="1778248"/>
                  <a:pt x="0" y="1754326"/>
                </a:cubicBezTo>
                <a:cubicBezTo>
                  <a:pt x="-19355" y="1570364"/>
                  <a:pt x="10902" y="1445855"/>
                  <a:pt x="0" y="1222180"/>
                </a:cubicBezTo>
                <a:cubicBezTo>
                  <a:pt x="-10902" y="998505"/>
                  <a:pt x="-25119" y="842168"/>
                  <a:pt x="0" y="672492"/>
                </a:cubicBezTo>
                <a:cubicBezTo>
                  <a:pt x="25119" y="502816"/>
                  <a:pt x="-28700" y="237529"/>
                  <a:pt x="0" y="0"/>
                </a:cubicBezTo>
                <a:close/>
              </a:path>
            </a:pathLst>
          </a:custGeom>
          <a:noFill/>
          <a:ln w="15875"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dirty="0"/>
              <a:t>The same x-values,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</a:t>
            </a:r>
            <a:r>
              <a:rPr lang="en-US" dirty="0"/>
              <a:t>, are used for all three series. </a:t>
            </a:r>
          </a:p>
          <a:p>
            <a:r>
              <a:rPr lang="en-US" dirty="0"/>
              <a:t>Each call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ax.plot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adds another line to the same Axes.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dirty="0"/>
              <a:t>= gives each series a name.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ax.legend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displays those names on the chart.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3EAEBB-0652-CAD8-2546-C0AB5D0EA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04" y="6282662"/>
            <a:ext cx="5220429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83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8640"/>
            <a:ext cx="4932040" cy="936104"/>
          </a:xfrm>
        </p:spPr>
        <p:txBody>
          <a:bodyPr>
            <a:normAutofit fontScale="90000"/>
          </a:bodyPr>
          <a:lstStyle/>
          <a:p>
            <a:r>
              <a:rPr lang="en-US" sz="3300" dirty="0" err="1"/>
              <a:t>Customising</a:t>
            </a:r>
            <a:r>
              <a:rPr lang="en-US" sz="3300" dirty="0"/>
              <a:t> Plots with Keyword Arguments</a:t>
            </a:r>
            <a:endParaRPr lang="en-GB"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324" y="1220022"/>
            <a:ext cx="4173422" cy="362458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Matplotlib functions have optional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keyword arguments </a:t>
            </a:r>
            <a:r>
              <a:rPr lang="en-US" dirty="0"/>
              <a:t>that let us control a plot’s appearance. These are often called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kwargs</a:t>
            </a:r>
            <a:r>
              <a:rPr lang="en-US" dirty="0"/>
              <a:t>, short 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keyword arguments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pass these keywords as arguments to functions.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For example, </a:t>
            </a:r>
            <a:r>
              <a:rPr lang="en-US" dirty="0"/>
              <a:t>we can change the thickness of a line by setting</a:t>
            </a:r>
            <a:r>
              <a:rPr lang="en-GB" dirty="0"/>
              <a:t> 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linewidth</a:t>
            </a:r>
            <a:r>
              <a:rPr lang="en-GB" dirty="0"/>
              <a:t> keyword.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447707-EEB0-4C92-887A-6B42490B4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289" y="277222"/>
            <a:ext cx="3433953" cy="1228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AEBE14-C311-ADF1-1E0A-71D140453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095" y="1506118"/>
            <a:ext cx="3626705" cy="20225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202580-DEA5-1112-7C9B-A738157EA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10" y="3573016"/>
            <a:ext cx="3274754" cy="10801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B73CEF-2B15-523A-F789-551462941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867" y="4653136"/>
            <a:ext cx="3810322" cy="20017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213277-1F08-DC5C-F8ED-449056E606C8}"/>
              </a:ext>
            </a:extLst>
          </p:cNvPr>
          <p:cNvSpPr txBox="1"/>
          <p:nvPr/>
        </p:nvSpPr>
        <p:spPr>
          <a:xfrm>
            <a:off x="2836075" y="4899314"/>
            <a:ext cx="2095965" cy="1477328"/>
          </a:xfrm>
          <a:custGeom>
            <a:avLst/>
            <a:gdLst>
              <a:gd name="csX0" fmla="*/ 0 w 2095965"/>
              <a:gd name="csY0" fmla="*/ 0 h 1477328"/>
              <a:gd name="csX1" fmla="*/ 503032 w 2095965"/>
              <a:gd name="csY1" fmla="*/ 0 h 1477328"/>
              <a:gd name="csX2" fmla="*/ 964144 w 2095965"/>
              <a:gd name="csY2" fmla="*/ 0 h 1477328"/>
              <a:gd name="csX3" fmla="*/ 1530054 w 2095965"/>
              <a:gd name="csY3" fmla="*/ 0 h 1477328"/>
              <a:gd name="csX4" fmla="*/ 2095965 w 2095965"/>
              <a:gd name="csY4" fmla="*/ 0 h 1477328"/>
              <a:gd name="csX5" fmla="*/ 2095965 w 2095965"/>
              <a:gd name="csY5" fmla="*/ 477669 h 1477328"/>
              <a:gd name="csX6" fmla="*/ 2095965 w 2095965"/>
              <a:gd name="csY6" fmla="*/ 940565 h 1477328"/>
              <a:gd name="csX7" fmla="*/ 2095965 w 2095965"/>
              <a:gd name="csY7" fmla="*/ 1477328 h 1477328"/>
              <a:gd name="csX8" fmla="*/ 1571974 w 2095965"/>
              <a:gd name="csY8" fmla="*/ 1477328 h 1477328"/>
              <a:gd name="csX9" fmla="*/ 1110861 w 2095965"/>
              <a:gd name="csY9" fmla="*/ 1477328 h 1477328"/>
              <a:gd name="csX10" fmla="*/ 586870 w 2095965"/>
              <a:gd name="csY10" fmla="*/ 1477328 h 1477328"/>
              <a:gd name="csX11" fmla="*/ 0 w 2095965"/>
              <a:gd name="csY11" fmla="*/ 1477328 h 1477328"/>
              <a:gd name="csX12" fmla="*/ 0 w 2095965"/>
              <a:gd name="csY12" fmla="*/ 999659 h 1477328"/>
              <a:gd name="csX13" fmla="*/ 0 w 2095965"/>
              <a:gd name="csY13" fmla="*/ 521989 h 1477328"/>
              <a:gd name="csX14" fmla="*/ 0 w 2095965"/>
              <a:gd name="csY14" fmla="*/ 0 h 1477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095965" h="1477328" extrusionOk="0">
                <a:moveTo>
                  <a:pt x="0" y="0"/>
                </a:moveTo>
                <a:cubicBezTo>
                  <a:pt x="120411" y="-44893"/>
                  <a:pt x="383164" y="59420"/>
                  <a:pt x="503032" y="0"/>
                </a:cubicBezTo>
                <a:cubicBezTo>
                  <a:pt x="622900" y="-59420"/>
                  <a:pt x="811156" y="8114"/>
                  <a:pt x="964144" y="0"/>
                </a:cubicBezTo>
                <a:cubicBezTo>
                  <a:pt x="1117132" y="-8114"/>
                  <a:pt x="1280115" y="43695"/>
                  <a:pt x="1530054" y="0"/>
                </a:cubicBezTo>
                <a:cubicBezTo>
                  <a:pt x="1779993" y="-43695"/>
                  <a:pt x="1884530" y="28050"/>
                  <a:pt x="2095965" y="0"/>
                </a:cubicBezTo>
                <a:cubicBezTo>
                  <a:pt x="2139438" y="161838"/>
                  <a:pt x="2075250" y="314693"/>
                  <a:pt x="2095965" y="477669"/>
                </a:cubicBezTo>
                <a:cubicBezTo>
                  <a:pt x="2116680" y="640645"/>
                  <a:pt x="2068151" y="778956"/>
                  <a:pt x="2095965" y="940565"/>
                </a:cubicBezTo>
                <a:cubicBezTo>
                  <a:pt x="2123779" y="1102174"/>
                  <a:pt x="2086682" y="1260170"/>
                  <a:pt x="2095965" y="1477328"/>
                </a:cubicBezTo>
                <a:cubicBezTo>
                  <a:pt x="1973534" y="1484547"/>
                  <a:pt x="1763254" y="1425419"/>
                  <a:pt x="1571974" y="1477328"/>
                </a:cubicBezTo>
                <a:cubicBezTo>
                  <a:pt x="1380694" y="1529237"/>
                  <a:pt x="1234867" y="1439643"/>
                  <a:pt x="1110861" y="1477328"/>
                </a:cubicBezTo>
                <a:cubicBezTo>
                  <a:pt x="986855" y="1515013"/>
                  <a:pt x="760834" y="1441465"/>
                  <a:pt x="586870" y="1477328"/>
                </a:cubicBezTo>
                <a:cubicBezTo>
                  <a:pt x="412906" y="1513191"/>
                  <a:pt x="186943" y="1414889"/>
                  <a:pt x="0" y="1477328"/>
                </a:cubicBezTo>
                <a:cubicBezTo>
                  <a:pt x="-12584" y="1303871"/>
                  <a:pt x="18280" y="1135968"/>
                  <a:pt x="0" y="999659"/>
                </a:cubicBezTo>
                <a:cubicBezTo>
                  <a:pt x="-18280" y="863350"/>
                  <a:pt x="19781" y="664233"/>
                  <a:pt x="0" y="521989"/>
                </a:cubicBezTo>
                <a:cubicBezTo>
                  <a:pt x="-19781" y="379745"/>
                  <a:pt x="31329" y="207288"/>
                  <a:pt x="0" y="0"/>
                </a:cubicBezTo>
                <a:close/>
              </a:path>
            </a:pathLst>
          </a:custGeom>
          <a:noFill/>
          <a:ln w="2222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GB" dirty="0"/>
              <a:t>Here, </a:t>
            </a:r>
            <a:r>
              <a:rPr lang="en-GB" dirty="0">
                <a:latin typeface="Courier New" panose="02070309020205020404" pitchFamily="49" charset="0"/>
              </a:rPr>
              <a:t>linewidth=3</a:t>
            </a:r>
            <a:r>
              <a:rPr lang="en-GB" dirty="0"/>
              <a:t> changes the thickness of the line.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B9B31D-7EA9-C64F-7B48-0C1A1D1F798B}"/>
              </a:ext>
            </a:extLst>
          </p:cNvPr>
          <p:cNvCxnSpPr>
            <a:cxnSpLocks/>
          </p:cNvCxnSpPr>
          <p:nvPr/>
        </p:nvCxnSpPr>
        <p:spPr>
          <a:xfrm flipV="1">
            <a:off x="4572000" y="4221088"/>
            <a:ext cx="1296144" cy="96486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841BCC-B13B-627D-292A-61336269526E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932040" y="5517232"/>
            <a:ext cx="453611" cy="120746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D9039C7-B175-B392-3B76-A6879EE8574E}"/>
              </a:ext>
            </a:extLst>
          </p:cNvPr>
          <p:cNvSpPr txBox="1"/>
          <p:nvPr/>
        </p:nvSpPr>
        <p:spPr>
          <a:xfrm>
            <a:off x="293324" y="4844606"/>
            <a:ext cx="2406468" cy="1754326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In brief: Keyword arguments let us </a:t>
            </a:r>
            <a:r>
              <a:rPr lang="en-US" dirty="0" err="1"/>
              <a:t>customise</a:t>
            </a:r>
            <a:r>
              <a:rPr lang="en-US" dirty="0"/>
              <a:t> a chart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without changing the underlying data.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708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BA6BA-3800-D32E-EDD9-B9E97271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GB" dirty="0"/>
              <a:t>Common keyword arguments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971909-53A0-4B99-6630-76ACACCB4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634026"/>
              </p:ext>
            </p:extLst>
          </p:nvPr>
        </p:nvGraphicFramePr>
        <p:xfrm>
          <a:off x="457200" y="705318"/>
          <a:ext cx="8106216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2072">
                  <a:extLst>
                    <a:ext uri="{9D8B030D-6E8A-4147-A177-3AD203B41FA5}">
                      <a16:colId xmlns:a16="http://schemas.microsoft.com/office/drawing/2014/main" val="1592076977"/>
                    </a:ext>
                  </a:extLst>
                </a:gridCol>
                <a:gridCol w="2702072">
                  <a:extLst>
                    <a:ext uri="{9D8B030D-6E8A-4147-A177-3AD203B41FA5}">
                      <a16:colId xmlns:a16="http://schemas.microsoft.com/office/drawing/2014/main" val="839919006"/>
                    </a:ext>
                  </a:extLst>
                </a:gridCol>
                <a:gridCol w="2702072">
                  <a:extLst>
                    <a:ext uri="{9D8B030D-6E8A-4147-A177-3AD203B41FA5}">
                      <a16:colId xmlns:a16="http://schemas.microsoft.com/office/drawing/2014/main" val="2781280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Keyword argument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691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Changes line thickness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linewidth=3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561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linestyle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Changes line style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linestyle="--"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700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Changes line or marker colour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color</a:t>
                      </a:r>
                      <a:r>
                        <a:rPr lang="en-GB" dirty="0"/>
                        <a:t>="red"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973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Adds a marker at each data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marker="o"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7081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markersize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Changes marker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markersize=8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020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Gives the data series a name for the legend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label="Profit"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39535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24B759D-D529-BB44-F716-96F1C0A00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51787"/>
            <a:ext cx="3096057" cy="2524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CBD6FF-F724-F262-70FC-26539200A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4230625"/>
            <a:ext cx="4787040" cy="264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07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507288" cy="476672"/>
          </a:xfrm>
        </p:spPr>
        <p:txBody>
          <a:bodyPr>
            <a:normAutofit fontScale="90000"/>
          </a:bodyPr>
          <a:lstStyle/>
          <a:p>
            <a:r>
              <a:rPr lang="en-GB" dirty="0"/>
              <a:t>Working with Multiple 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08720"/>
            <a:ext cx="4248472" cy="525658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single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en-US" dirty="0"/>
              <a:t> can contain several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Axes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Multiple Axes are useful for comparing related </a:t>
            </a:r>
            <a:r>
              <a:rPr lang="en-US" dirty="0" err="1"/>
              <a:t>visualisations</a:t>
            </a:r>
            <a:r>
              <a:rPr lang="en-US" dirty="0"/>
              <a:t> while keeping them separate. </a:t>
            </a:r>
          </a:p>
          <a:p>
            <a:endParaRPr lang="en-US" dirty="0"/>
          </a:p>
          <a:p>
            <a:r>
              <a:rPr lang="en-US" dirty="0"/>
              <a:t>The layout of the Axes is defined by the number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rows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columns</a:t>
            </a:r>
            <a:r>
              <a:rPr lang="en-US" dirty="0"/>
              <a:t>.</a:t>
            </a:r>
          </a:p>
          <a:p>
            <a:endParaRPr lang="en-GB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plt.subplots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(rows, columns) </a:t>
            </a:r>
            <a:r>
              <a:rPr lang="en-US" dirty="0"/>
              <a:t>creates the required layout.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BFCBB6-00A5-767E-9B8E-0D5C677EA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506628"/>
            <a:ext cx="2600688" cy="304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B27954-DF59-A153-B4E7-FAB8E100A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316" y="1811471"/>
            <a:ext cx="4065484" cy="19775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4541F2-CF77-83A0-4077-E4C53DA26851}"/>
              </a:ext>
            </a:extLst>
          </p:cNvPr>
          <p:cNvSpPr txBox="1"/>
          <p:nvPr/>
        </p:nvSpPr>
        <p:spPr>
          <a:xfrm>
            <a:off x="6588224" y="476672"/>
            <a:ext cx="2520280" cy="923330"/>
          </a:xfrm>
          <a:custGeom>
            <a:avLst/>
            <a:gdLst>
              <a:gd name="csX0" fmla="*/ 0 w 2520280"/>
              <a:gd name="csY0" fmla="*/ 0 h 923330"/>
              <a:gd name="csX1" fmla="*/ 478853 w 2520280"/>
              <a:gd name="csY1" fmla="*/ 0 h 923330"/>
              <a:gd name="csX2" fmla="*/ 907301 w 2520280"/>
              <a:gd name="csY2" fmla="*/ 0 h 923330"/>
              <a:gd name="csX3" fmla="*/ 1461762 w 2520280"/>
              <a:gd name="csY3" fmla="*/ 0 h 923330"/>
              <a:gd name="csX4" fmla="*/ 1940616 w 2520280"/>
              <a:gd name="csY4" fmla="*/ 0 h 923330"/>
              <a:gd name="csX5" fmla="*/ 2520280 w 2520280"/>
              <a:gd name="csY5" fmla="*/ 0 h 923330"/>
              <a:gd name="csX6" fmla="*/ 2520280 w 2520280"/>
              <a:gd name="csY6" fmla="*/ 480132 h 923330"/>
              <a:gd name="csX7" fmla="*/ 2520280 w 2520280"/>
              <a:gd name="csY7" fmla="*/ 923330 h 923330"/>
              <a:gd name="csX8" fmla="*/ 2016224 w 2520280"/>
              <a:gd name="csY8" fmla="*/ 923330 h 923330"/>
              <a:gd name="csX9" fmla="*/ 1587776 w 2520280"/>
              <a:gd name="csY9" fmla="*/ 923330 h 923330"/>
              <a:gd name="csX10" fmla="*/ 1083720 w 2520280"/>
              <a:gd name="csY10" fmla="*/ 923330 h 923330"/>
              <a:gd name="csX11" fmla="*/ 579664 w 2520280"/>
              <a:gd name="csY11" fmla="*/ 923330 h 923330"/>
              <a:gd name="csX12" fmla="*/ 0 w 2520280"/>
              <a:gd name="csY12" fmla="*/ 923330 h 923330"/>
              <a:gd name="csX13" fmla="*/ 0 w 2520280"/>
              <a:gd name="csY13" fmla="*/ 443198 h 923330"/>
              <a:gd name="csX14" fmla="*/ 0 w 2520280"/>
              <a:gd name="csY14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520280" h="923330" extrusionOk="0">
                <a:moveTo>
                  <a:pt x="0" y="0"/>
                </a:moveTo>
                <a:cubicBezTo>
                  <a:pt x="184239" y="-39572"/>
                  <a:pt x="290460" y="45379"/>
                  <a:pt x="478853" y="0"/>
                </a:cubicBezTo>
                <a:cubicBezTo>
                  <a:pt x="667246" y="-45379"/>
                  <a:pt x="768089" y="5093"/>
                  <a:pt x="907301" y="0"/>
                </a:cubicBezTo>
                <a:cubicBezTo>
                  <a:pt x="1046513" y="-5093"/>
                  <a:pt x="1245693" y="62253"/>
                  <a:pt x="1461762" y="0"/>
                </a:cubicBezTo>
                <a:cubicBezTo>
                  <a:pt x="1677831" y="-62253"/>
                  <a:pt x="1817790" y="1792"/>
                  <a:pt x="1940616" y="0"/>
                </a:cubicBezTo>
                <a:cubicBezTo>
                  <a:pt x="2063442" y="-1792"/>
                  <a:pt x="2292093" y="62745"/>
                  <a:pt x="2520280" y="0"/>
                </a:cubicBezTo>
                <a:cubicBezTo>
                  <a:pt x="2541151" y="162923"/>
                  <a:pt x="2495634" y="370604"/>
                  <a:pt x="2520280" y="480132"/>
                </a:cubicBezTo>
                <a:cubicBezTo>
                  <a:pt x="2544926" y="589660"/>
                  <a:pt x="2520016" y="809124"/>
                  <a:pt x="2520280" y="923330"/>
                </a:cubicBezTo>
                <a:cubicBezTo>
                  <a:pt x="2332620" y="963945"/>
                  <a:pt x="2179742" y="921760"/>
                  <a:pt x="2016224" y="923330"/>
                </a:cubicBezTo>
                <a:cubicBezTo>
                  <a:pt x="1852706" y="924900"/>
                  <a:pt x="1765392" y="903370"/>
                  <a:pt x="1587776" y="923330"/>
                </a:cubicBezTo>
                <a:cubicBezTo>
                  <a:pt x="1410160" y="943290"/>
                  <a:pt x="1307621" y="876321"/>
                  <a:pt x="1083720" y="923330"/>
                </a:cubicBezTo>
                <a:cubicBezTo>
                  <a:pt x="859819" y="970339"/>
                  <a:pt x="739479" y="899076"/>
                  <a:pt x="579664" y="923330"/>
                </a:cubicBezTo>
                <a:cubicBezTo>
                  <a:pt x="419849" y="947584"/>
                  <a:pt x="198715" y="920686"/>
                  <a:pt x="0" y="923330"/>
                </a:cubicBezTo>
                <a:cubicBezTo>
                  <a:pt x="-12020" y="714129"/>
                  <a:pt x="45552" y="562566"/>
                  <a:pt x="0" y="443198"/>
                </a:cubicBezTo>
                <a:cubicBezTo>
                  <a:pt x="-45552" y="323830"/>
                  <a:pt x="13285" y="89593"/>
                  <a:pt x="0" y="0"/>
                </a:cubicBezTo>
                <a:close/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dirty="0"/>
              <a:t>2 rows, 1 column </a:t>
            </a:r>
          </a:p>
          <a:p>
            <a:r>
              <a:rPr lang="en-US" dirty="0"/>
              <a:t>2 Axes arranged vertically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7E7656-9E79-8215-0DD7-144677EBE107}"/>
              </a:ext>
            </a:extLst>
          </p:cNvPr>
          <p:cNvCxnSpPr>
            <a:cxnSpLocks/>
          </p:cNvCxnSpPr>
          <p:nvPr/>
        </p:nvCxnSpPr>
        <p:spPr>
          <a:xfrm flipV="1">
            <a:off x="7668344" y="1398670"/>
            <a:ext cx="466474" cy="41280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C85085-064C-4E9C-706A-43E95E867B72}"/>
              </a:ext>
            </a:extLst>
          </p:cNvPr>
          <p:cNvCxnSpPr/>
          <p:nvPr/>
        </p:nvCxnSpPr>
        <p:spPr>
          <a:xfrm flipV="1">
            <a:off x="7472276" y="1398670"/>
            <a:ext cx="144016" cy="30484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08E9CA0A-F05C-B0C1-7C45-210A8312D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288" y="4028483"/>
            <a:ext cx="2553056" cy="2762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FB34B5-48D7-2BE5-E501-564ED670DF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072" y="4304747"/>
            <a:ext cx="3672408" cy="228686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00627FE-89EB-ED53-B78A-08A2E2DBD531}"/>
              </a:ext>
            </a:extLst>
          </p:cNvPr>
          <p:cNvSpPr txBox="1"/>
          <p:nvPr/>
        </p:nvSpPr>
        <p:spPr>
          <a:xfrm>
            <a:off x="2821352" y="5961860"/>
            <a:ext cx="2304256" cy="646331"/>
          </a:xfrm>
          <a:custGeom>
            <a:avLst/>
            <a:gdLst>
              <a:gd name="csX0" fmla="*/ 0 w 2304256"/>
              <a:gd name="csY0" fmla="*/ 0 h 646331"/>
              <a:gd name="csX1" fmla="*/ 2304256 w 2304256"/>
              <a:gd name="csY1" fmla="*/ 0 h 646331"/>
              <a:gd name="csX2" fmla="*/ 2304256 w 2304256"/>
              <a:gd name="csY2" fmla="*/ 646331 h 646331"/>
              <a:gd name="csX3" fmla="*/ 0 w 2304256"/>
              <a:gd name="csY3" fmla="*/ 646331 h 646331"/>
              <a:gd name="csX4" fmla="*/ 0 w 2304256"/>
              <a:gd name="csY4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04256" h="646331" extrusionOk="0">
                <a:moveTo>
                  <a:pt x="0" y="0"/>
                </a:moveTo>
                <a:cubicBezTo>
                  <a:pt x="867942" y="118645"/>
                  <a:pt x="1609061" y="116012"/>
                  <a:pt x="2304256" y="0"/>
                </a:cubicBezTo>
                <a:cubicBezTo>
                  <a:pt x="2256522" y="166119"/>
                  <a:pt x="2343746" y="543217"/>
                  <a:pt x="2304256" y="646331"/>
                </a:cubicBezTo>
                <a:cubicBezTo>
                  <a:pt x="1672088" y="780931"/>
                  <a:pt x="825329" y="489135"/>
                  <a:pt x="0" y="646331"/>
                </a:cubicBezTo>
                <a:cubicBezTo>
                  <a:pt x="44741" y="534667"/>
                  <a:pt x="-25823" y="189070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1">
                <a:shade val="95000"/>
                <a:satMod val="10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dirty="0"/>
              <a:t>Creates two Axes arranged side by side.</a:t>
            </a:r>
            <a:endParaRPr lang="en-GB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DBA27F9-910F-C7C8-4E0B-6E3F7798A468}"/>
              </a:ext>
            </a:extLst>
          </p:cNvPr>
          <p:cNvCxnSpPr>
            <a:cxnSpLocks/>
          </p:cNvCxnSpPr>
          <p:nvPr/>
        </p:nvCxnSpPr>
        <p:spPr>
          <a:xfrm flipV="1">
            <a:off x="4355976" y="4365104"/>
            <a:ext cx="769632" cy="158417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4E10A5-4594-607A-B2CD-4C7F7123517C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4572000" y="5448178"/>
            <a:ext cx="648072" cy="56145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53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91" y="692696"/>
            <a:ext cx="8784976" cy="1152128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Examples: two sinusoidal trends (sine and cosine)</a:t>
            </a:r>
          </a:p>
          <a:p>
            <a:r>
              <a:rPr lang="en-GB" dirty="0"/>
              <a:t>On the left,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 rows × 1 column plots stacked vertically</a:t>
            </a:r>
            <a:r>
              <a:rPr lang="en-GB" dirty="0"/>
              <a:t>. </a:t>
            </a:r>
          </a:p>
          <a:p>
            <a:r>
              <a:rPr lang="en-GB" dirty="0"/>
              <a:t>On the right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 row × 2 columns plots arranged side by side</a:t>
            </a:r>
          </a:p>
          <a:p>
            <a:r>
              <a:rPr lang="en-GB" dirty="0"/>
              <a:t>The layout is specified using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</a:rPr>
              <a:t>plt.subplots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</a:rPr>
              <a:t>(rows, columns)</a:t>
            </a:r>
            <a:endParaRPr lang="en-GB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7504" y="17253"/>
            <a:ext cx="8686800" cy="459419"/>
          </a:xfrm>
        </p:spPr>
        <p:txBody>
          <a:bodyPr>
            <a:normAutofit fontScale="90000"/>
          </a:bodyPr>
          <a:lstStyle/>
          <a:p>
            <a:r>
              <a:rPr lang="en-GB" dirty="0"/>
              <a:t>Working with Multiple Figures and Axes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1B46BF-A9F0-3D8C-B4D1-52E9DD361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24" y="1826544"/>
            <a:ext cx="3623170" cy="2538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216C3B-F07F-DD6A-28EC-10FB41E9C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3" y="4486187"/>
            <a:ext cx="3357373" cy="23225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5BFD89-D06D-1F04-F6C7-383AACD42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528" y="1892375"/>
            <a:ext cx="4210638" cy="2387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48CC55-9EC0-8E19-CDD1-C330310860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1693" y="4327349"/>
            <a:ext cx="5242307" cy="248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19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GB" dirty="0"/>
              <a:t>Adding Titles, Labels and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523" y="1024246"/>
            <a:ext cx="28333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axis labels using </a:t>
            </a:r>
            <a:r>
              <a:rPr lang="en-GB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label() </a:t>
            </a:r>
            <a:r>
              <a:rPr lang="en-GB" sz="2000" dirty="0"/>
              <a:t>and a title using </a:t>
            </a:r>
            <a:r>
              <a:rPr lang="en-GB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title()</a:t>
            </a:r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C88FAF-66F3-06CF-DA1A-68F31743E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1095422"/>
            <a:ext cx="3960440" cy="36180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261DE5-8838-F079-2E5B-9A11332CD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4363437"/>
            <a:ext cx="4330824" cy="24945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60A2BF-6BD6-A4CF-6D05-25049A9C0728}"/>
              </a:ext>
            </a:extLst>
          </p:cNvPr>
          <p:cNvSpPr txBox="1"/>
          <p:nvPr/>
        </p:nvSpPr>
        <p:spPr>
          <a:xfrm>
            <a:off x="75692" y="2854570"/>
            <a:ext cx="2133066" cy="1754326"/>
          </a:xfrm>
          <a:custGeom>
            <a:avLst/>
            <a:gdLst>
              <a:gd name="csX0" fmla="*/ 0 w 2133066"/>
              <a:gd name="csY0" fmla="*/ 0 h 1754326"/>
              <a:gd name="csX1" fmla="*/ 511936 w 2133066"/>
              <a:gd name="csY1" fmla="*/ 0 h 1754326"/>
              <a:gd name="csX2" fmla="*/ 981210 w 2133066"/>
              <a:gd name="csY2" fmla="*/ 0 h 1754326"/>
              <a:gd name="csX3" fmla="*/ 1557138 w 2133066"/>
              <a:gd name="csY3" fmla="*/ 0 h 1754326"/>
              <a:gd name="csX4" fmla="*/ 2133066 w 2133066"/>
              <a:gd name="csY4" fmla="*/ 0 h 1754326"/>
              <a:gd name="csX5" fmla="*/ 2133066 w 2133066"/>
              <a:gd name="csY5" fmla="*/ 567232 h 1754326"/>
              <a:gd name="csX6" fmla="*/ 2133066 w 2133066"/>
              <a:gd name="csY6" fmla="*/ 1116921 h 1754326"/>
              <a:gd name="csX7" fmla="*/ 2133066 w 2133066"/>
              <a:gd name="csY7" fmla="*/ 1754326 h 1754326"/>
              <a:gd name="csX8" fmla="*/ 1599800 w 2133066"/>
              <a:gd name="csY8" fmla="*/ 1754326 h 1754326"/>
              <a:gd name="csX9" fmla="*/ 1130525 w 2133066"/>
              <a:gd name="csY9" fmla="*/ 1754326 h 1754326"/>
              <a:gd name="csX10" fmla="*/ 597258 w 2133066"/>
              <a:gd name="csY10" fmla="*/ 1754326 h 1754326"/>
              <a:gd name="csX11" fmla="*/ 0 w 2133066"/>
              <a:gd name="csY11" fmla="*/ 1754326 h 1754326"/>
              <a:gd name="csX12" fmla="*/ 0 w 2133066"/>
              <a:gd name="csY12" fmla="*/ 1187094 h 1754326"/>
              <a:gd name="csX13" fmla="*/ 0 w 2133066"/>
              <a:gd name="csY13" fmla="*/ 619862 h 1754326"/>
              <a:gd name="csX14" fmla="*/ 0 w 2133066"/>
              <a:gd name="csY14" fmla="*/ 0 h 17543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133066" h="1754326" extrusionOk="0">
                <a:moveTo>
                  <a:pt x="0" y="0"/>
                </a:moveTo>
                <a:cubicBezTo>
                  <a:pt x="152489" y="-52485"/>
                  <a:pt x="310553" y="35063"/>
                  <a:pt x="511936" y="0"/>
                </a:cubicBezTo>
                <a:cubicBezTo>
                  <a:pt x="713319" y="-35063"/>
                  <a:pt x="763281" y="38877"/>
                  <a:pt x="981210" y="0"/>
                </a:cubicBezTo>
                <a:cubicBezTo>
                  <a:pt x="1199139" y="-38877"/>
                  <a:pt x="1331869" y="3084"/>
                  <a:pt x="1557138" y="0"/>
                </a:cubicBezTo>
                <a:cubicBezTo>
                  <a:pt x="1782407" y="-3084"/>
                  <a:pt x="1904068" y="46664"/>
                  <a:pt x="2133066" y="0"/>
                </a:cubicBezTo>
                <a:cubicBezTo>
                  <a:pt x="2137423" y="127025"/>
                  <a:pt x="2112716" y="324737"/>
                  <a:pt x="2133066" y="567232"/>
                </a:cubicBezTo>
                <a:cubicBezTo>
                  <a:pt x="2153416" y="809727"/>
                  <a:pt x="2129554" y="1001658"/>
                  <a:pt x="2133066" y="1116921"/>
                </a:cubicBezTo>
                <a:cubicBezTo>
                  <a:pt x="2136578" y="1232184"/>
                  <a:pt x="2119059" y="1444345"/>
                  <a:pt x="2133066" y="1754326"/>
                </a:cubicBezTo>
                <a:cubicBezTo>
                  <a:pt x="1993535" y="1754672"/>
                  <a:pt x="1809417" y="1735333"/>
                  <a:pt x="1599800" y="1754326"/>
                </a:cubicBezTo>
                <a:cubicBezTo>
                  <a:pt x="1390183" y="1773319"/>
                  <a:pt x="1249842" y="1749461"/>
                  <a:pt x="1130525" y="1754326"/>
                </a:cubicBezTo>
                <a:cubicBezTo>
                  <a:pt x="1011209" y="1759191"/>
                  <a:pt x="780152" y="1692410"/>
                  <a:pt x="597258" y="1754326"/>
                </a:cubicBezTo>
                <a:cubicBezTo>
                  <a:pt x="414364" y="1816242"/>
                  <a:pt x="133743" y="1724917"/>
                  <a:pt x="0" y="1754326"/>
                </a:cubicBezTo>
                <a:cubicBezTo>
                  <a:pt x="-45127" y="1632951"/>
                  <a:pt x="21689" y="1330711"/>
                  <a:pt x="0" y="1187094"/>
                </a:cubicBezTo>
                <a:cubicBezTo>
                  <a:pt x="-21689" y="1043477"/>
                  <a:pt x="2786" y="861922"/>
                  <a:pt x="0" y="619862"/>
                </a:cubicBezTo>
                <a:cubicBezTo>
                  <a:pt x="-2786" y="377802"/>
                  <a:pt x="50717" y="156342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95000"/>
                <a:satMod val="10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Adding text to specific points</a:t>
            </a:r>
          </a:p>
          <a:p>
            <a:pPr>
              <a:buNone/>
            </a:pPr>
            <a:r>
              <a:rPr lang="en-GB" dirty="0"/>
              <a:t>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ax.text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method places text at a specified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(x, y) </a:t>
            </a:r>
            <a:r>
              <a:rPr lang="en-GB" dirty="0"/>
              <a:t>position.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BF94CE63-3A00-144F-5D2E-A0E2585B4713}"/>
              </a:ext>
            </a:extLst>
          </p:cNvPr>
          <p:cNvSpPr/>
          <p:nvPr/>
        </p:nvSpPr>
        <p:spPr>
          <a:xfrm>
            <a:off x="2267744" y="3573015"/>
            <a:ext cx="576064" cy="790421"/>
          </a:xfrm>
          <a:prstGeom prst="rightBrac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DF72EF-9241-122F-B3DA-4CC46E1EFE25}"/>
              </a:ext>
            </a:extLst>
          </p:cNvPr>
          <p:cNvSpPr txBox="1"/>
          <p:nvPr/>
        </p:nvSpPr>
        <p:spPr>
          <a:xfrm>
            <a:off x="323528" y="4818092"/>
            <a:ext cx="28333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first two arguments specify the position:</a:t>
            </a:r>
          </a:p>
          <a:p>
            <a:endParaRPr lang="en-GB" dirty="0"/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ax.text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x_position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y_position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"Text")</a:t>
            </a:r>
          </a:p>
        </p:txBody>
      </p:sp>
    </p:spTree>
    <p:extLst>
      <p:ext uri="{BB962C8B-B14F-4D97-AF65-F5344CB8AC3E}">
        <p14:creationId xmlns:p14="http://schemas.microsoft.com/office/powerpoint/2010/main" val="2904371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1C4F4-6D6F-3E07-4FC7-D4CC13E3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en-GB" dirty="0"/>
              <a:t>Annotating Important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AC0AD-8CFA-1527-C526-E4C8BFBCD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35" y="620688"/>
            <a:ext cx="2945413" cy="267830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Annotations are useful when we want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draw attention to a specific data point</a:t>
            </a:r>
            <a:r>
              <a:rPr lang="en-US" dirty="0"/>
              <a:t> and explain why it is important.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ax.annotate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method can add both text and an arrow.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D1D825-9144-9AFE-20A6-774FC5C37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31865">
            <a:off x="6186826" y="744729"/>
            <a:ext cx="2768961" cy="40391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264933-8469-61E3-6A8C-0F3E83CD5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3429000"/>
            <a:ext cx="4877481" cy="3572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4DF71D-AC8D-3694-C350-19C89581C661}"/>
              </a:ext>
            </a:extLst>
          </p:cNvPr>
          <p:cNvSpPr txBox="1"/>
          <p:nvPr/>
        </p:nvSpPr>
        <p:spPr>
          <a:xfrm>
            <a:off x="3200671" y="805680"/>
            <a:ext cx="2880320" cy="2308324"/>
          </a:xfrm>
          <a:custGeom>
            <a:avLst/>
            <a:gdLst>
              <a:gd name="csX0" fmla="*/ 0 w 2880320"/>
              <a:gd name="csY0" fmla="*/ 0 h 2308324"/>
              <a:gd name="csX1" fmla="*/ 2880320 w 2880320"/>
              <a:gd name="csY1" fmla="*/ 0 h 2308324"/>
              <a:gd name="csX2" fmla="*/ 2880320 w 2880320"/>
              <a:gd name="csY2" fmla="*/ 2308324 h 2308324"/>
              <a:gd name="csX3" fmla="*/ 0 w 2880320"/>
              <a:gd name="csY3" fmla="*/ 2308324 h 2308324"/>
              <a:gd name="csX4" fmla="*/ 0 w 2880320"/>
              <a:gd name="csY4" fmla="*/ 0 h 2308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80320" h="2308324" extrusionOk="0">
                <a:moveTo>
                  <a:pt x="0" y="0"/>
                </a:moveTo>
                <a:cubicBezTo>
                  <a:pt x="695227" y="118645"/>
                  <a:pt x="2127840" y="116012"/>
                  <a:pt x="2880320" y="0"/>
                </a:cubicBezTo>
                <a:cubicBezTo>
                  <a:pt x="2747438" y="525567"/>
                  <a:pt x="2965271" y="1753845"/>
                  <a:pt x="2880320" y="2308324"/>
                </a:cubicBezTo>
                <a:cubicBezTo>
                  <a:pt x="2420512" y="2442924"/>
                  <a:pt x="651773" y="2151128"/>
                  <a:pt x="0" y="2308324"/>
                </a:cubicBezTo>
                <a:cubicBezTo>
                  <a:pt x="-20187" y="1250243"/>
                  <a:pt x="-152480" y="717804"/>
                  <a:pt x="0" y="0"/>
                </a:cubicBezTo>
                <a:close/>
              </a:path>
            </a:pathLst>
          </a:custGeom>
          <a:noFill/>
          <a:ln w="158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specifies the data point being highlighted.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xytext</a:t>
            </a:r>
            <a:r>
              <a:rPr lang="en-US" dirty="0"/>
              <a:t> specifies where the annotation text should appear.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arrowprops</a:t>
            </a:r>
            <a:r>
              <a:rPr lang="en-US" dirty="0"/>
              <a:t> controls the arrow connecting the text to the point.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09AC96F-F2FF-05A2-FF34-C93BF12C33F7}"/>
              </a:ext>
            </a:extLst>
          </p:cNvPr>
          <p:cNvSpPr/>
          <p:nvPr/>
        </p:nvSpPr>
        <p:spPr>
          <a:xfrm rot="501642">
            <a:off x="5508104" y="3212976"/>
            <a:ext cx="504056" cy="1008112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BC5237-A60A-64DB-8969-4E061F687E16}"/>
              </a:ext>
            </a:extLst>
          </p:cNvPr>
          <p:cNvSpPr/>
          <p:nvPr/>
        </p:nvSpPr>
        <p:spPr>
          <a:xfrm>
            <a:off x="5088048" y="3141552"/>
            <a:ext cx="645384" cy="624697"/>
          </a:xfrm>
          <a:custGeom>
            <a:avLst/>
            <a:gdLst>
              <a:gd name="csX0" fmla="*/ 398352 w 645384"/>
              <a:gd name="csY0" fmla="*/ 561315 h 624697"/>
              <a:gd name="csX1" fmla="*/ 389299 w 645384"/>
              <a:gd name="csY1" fmla="*/ 488888 h 624697"/>
              <a:gd name="csX2" fmla="*/ 334978 w 645384"/>
              <a:gd name="csY2" fmla="*/ 407406 h 624697"/>
              <a:gd name="csX3" fmla="*/ 298764 w 645384"/>
              <a:gd name="csY3" fmla="*/ 334979 h 624697"/>
              <a:gd name="csX4" fmla="*/ 262550 w 645384"/>
              <a:gd name="csY4" fmla="*/ 244444 h 624697"/>
              <a:gd name="csX5" fmla="*/ 226336 w 645384"/>
              <a:gd name="csY5" fmla="*/ 162963 h 624697"/>
              <a:gd name="csX6" fmla="*/ 172015 w 645384"/>
              <a:gd name="csY6" fmla="*/ 90535 h 624697"/>
              <a:gd name="csX7" fmla="*/ 144855 w 645384"/>
              <a:gd name="csY7" fmla="*/ 63375 h 624697"/>
              <a:gd name="csX8" fmla="*/ 0 w 645384"/>
              <a:gd name="csY8" fmla="*/ 18107 h 624697"/>
              <a:gd name="csX9" fmla="*/ 45267 w 645384"/>
              <a:gd name="csY9" fmla="*/ 54321 h 624697"/>
              <a:gd name="csX10" fmla="*/ 72427 w 645384"/>
              <a:gd name="csY10" fmla="*/ 81482 h 624697"/>
              <a:gd name="csX11" fmla="*/ 126748 w 645384"/>
              <a:gd name="csY11" fmla="*/ 144856 h 624697"/>
              <a:gd name="csX12" fmla="*/ 162962 w 645384"/>
              <a:gd name="csY12" fmla="*/ 162963 h 624697"/>
              <a:gd name="csX13" fmla="*/ 226336 w 645384"/>
              <a:gd name="csY13" fmla="*/ 226337 h 624697"/>
              <a:gd name="csX14" fmla="*/ 271603 w 645384"/>
              <a:gd name="csY14" fmla="*/ 271604 h 624697"/>
              <a:gd name="csX15" fmla="*/ 307817 w 645384"/>
              <a:gd name="csY15" fmla="*/ 344032 h 624697"/>
              <a:gd name="csX16" fmla="*/ 316871 w 645384"/>
              <a:gd name="csY16" fmla="*/ 371193 h 624697"/>
              <a:gd name="csX17" fmla="*/ 344031 w 645384"/>
              <a:gd name="csY17" fmla="*/ 425513 h 624697"/>
              <a:gd name="csX18" fmla="*/ 362138 w 645384"/>
              <a:gd name="csY18" fmla="*/ 470781 h 624697"/>
              <a:gd name="csX19" fmla="*/ 371192 w 645384"/>
              <a:gd name="csY19" fmla="*/ 497941 h 624697"/>
              <a:gd name="csX20" fmla="*/ 434566 w 645384"/>
              <a:gd name="csY20" fmla="*/ 579422 h 624697"/>
              <a:gd name="csX21" fmla="*/ 416459 w 645384"/>
              <a:gd name="csY21" fmla="*/ 525101 h 624697"/>
              <a:gd name="csX22" fmla="*/ 398352 w 645384"/>
              <a:gd name="csY22" fmla="*/ 479834 h 624697"/>
              <a:gd name="csX23" fmla="*/ 371192 w 645384"/>
              <a:gd name="csY23" fmla="*/ 398353 h 624697"/>
              <a:gd name="csX24" fmla="*/ 344031 w 645384"/>
              <a:gd name="csY24" fmla="*/ 307818 h 624697"/>
              <a:gd name="csX25" fmla="*/ 289710 w 645384"/>
              <a:gd name="csY25" fmla="*/ 235391 h 624697"/>
              <a:gd name="csX26" fmla="*/ 271603 w 645384"/>
              <a:gd name="csY26" fmla="*/ 208230 h 624697"/>
              <a:gd name="csX27" fmla="*/ 244443 w 645384"/>
              <a:gd name="csY27" fmla="*/ 181070 h 624697"/>
              <a:gd name="csX28" fmla="*/ 190122 w 645384"/>
              <a:gd name="csY28" fmla="*/ 144856 h 624697"/>
              <a:gd name="csX29" fmla="*/ 162962 w 645384"/>
              <a:gd name="csY29" fmla="*/ 108642 h 624697"/>
              <a:gd name="csX30" fmla="*/ 81481 w 645384"/>
              <a:gd name="csY30" fmla="*/ 72428 h 624697"/>
              <a:gd name="csX31" fmla="*/ 45267 w 645384"/>
              <a:gd name="csY31" fmla="*/ 54321 h 624697"/>
              <a:gd name="csX32" fmla="*/ 81481 w 645384"/>
              <a:gd name="csY32" fmla="*/ 63375 h 624697"/>
              <a:gd name="csX33" fmla="*/ 135802 w 645384"/>
              <a:gd name="csY33" fmla="*/ 99589 h 624697"/>
              <a:gd name="csX34" fmla="*/ 208229 w 645384"/>
              <a:gd name="csY34" fmla="*/ 144856 h 624697"/>
              <a:gd name="csX35" fmla="*/ 126748 w 645384"/>
              <a:gd name="csY35" fmla="*/ 117696 h 624697"/>
              <a:gd name="csX36" fmla="*/ 99588 w 645384"/>
              <a:gd name="csY36" fmla="*/ 99589 h 624697"/>
              <a:gd name="csX37" fmla="*/ 181069 w 645384"/>
              <a:gd name="csY37" fmla="*/ 162963 h 624697"/>
              <a:gd name="csX38" fmla="*/ 208229 w 645384"/>
              <a:gd name="csY38" fmla="*/ 190123 h 624697"/>
              <a:gd name="csX39" fmla="*/ 262550 w 645384"/>
              <a:gd name="csY39" fmla="*/ 280658 h 624697"/>
              <a:gd name="csX40" fmla="*/ 289710 w 645384"/>
              <a:gd name="csY40" fmla="*/ 362139 h 624697"/>
              <a:gd name="csX41" fmla="*/ 298764 w 645384"/>
              <a:gd name="csY41" fmla="*/ 389299 h 624697"/>
              <a:gd name="csX42" fmla="*/ 316871 w 645384"/>
              <a:gd name="csY42" fmla="*/ 416460 h 624697"/>
              <a:gd name="csX43" fmla="*/ 389299 w 645384"/>
              <a:gd name="csY43" fmla="*/ 534155 h 624697"/>
              <a:gd name="csX44" fmla="*/ 425512 w 645384"/>
              <a:gd name="csY44" fmla="*/ 570369 h 624697"/>
              <a:gd name="csX45" fmla="*/ 443619 w 645384"/>
              <a:gd name="csY45" fmla="*/ 543208 h 624697"/>
              <a:gd name="csX46" fmla="*/ 425512 w 645384"/>
              <a:gd name="csY46" fmla="*/ 506995 h 624697"/>
              <a:gd name="csX47" fmla="*/ 416459 w 645384"/>
              <a:gd name="csY47" fmla="*/ 470781 h 624697"/>
              <a:gd name="csX48" fmla="*/ 380245 w 645384"/>
              <a:gd name="csY48" fmla="*/ 398353 h 624697"/>
              <a:gd name="csX49" fmla="*/ 362138 w 645384"/>
              <a:gd name="csY49" fmla="*/ 371193 h 624697"/>
              <a:gd name="csX50" fmla="*/ 380245 w 645384"/>
              <a:gd name="csY50" fmla="*/ 416460 h 624697"/>
              <a:gd name="csX51" fmla="*/ 398352 w 645384"/>
              <a:gd name="csY51" fmla="*/ 479834 h 624697"/>
              <a:gd name="csX52" fmla="*/ 425512 w 645384"/>
              <a:gd name="csY52" fmla="*/ 506995 h 624697"/>
              <a:gd name="csX53" fmla="*/ 452673 w 645384"/>
              <a:gd name="csY53" fmla="*/ 543208 h 624697"/>
              <a:gd name="csX54" fmla="*/ 479833 w 645384"/>
              <a:gd name="csY54" fmla="*/ 570369 h 624697"/>
              <a:gd name="csX55" fmla="*/ 506994 w 645384"/>
              <a:gd name="csY55" fmla="*/ 606583 h 624697"/>
              <a:gd name="csX56" fmla="*/ 543207 w 645384"/>
              <a:gd name="csY56" fmla="*/ 615636 h 624697"/>
              <a:gd name="csX57" fmla="*/ 497940 w 645384"/>
              <a:gd name="csY57" fmla="*/ 588476 h 624697"/>
              <a:gd name="csX58" fmla="*/ 470780 w 645384"/>
              <a:gd name="csY58" fmla="*/ 570369 h 624697"/>
              <a:gd name="csX59" fmla="*/ 497940 w 645384"/>
              <a:gd name="csY59" fmla="*/ 570369 h 624697"/>
              <a:gd name="csX60" fmla="*/ 561314 w 645384"/>
              <a:gd name="csY60" fmla="*/ 606583 h 624697"/>
              <a:gd name="csX61" fmla="*/ 624689 w 645384"/>
              <a:gd name="csY61" fmla="*/ 615636 h 624697"/>
              <a:gd name="csX62" fmla="*/ 588475 w 645384"/>
              <a:gd name="csY62" fmla="*/ 588476 h 624697"/>
              <a:gd name="csX63" fmla="*/ 597528 w 645384"/>
              <a:gd name="csY63" fmla="*/ 606583 h 624697"/>
              <a:gd name="csX64" fmla="*/ 488887 w 645384"/>
              <a:gd name="csY64" fmla="*/ 552262 h 624697"/>
              <a:gd name="csX65" fmla="*/ 534154 w 645384"/>
              <a:gd name="csY65" fmla="*/ 543208 h 624697"/>
              <a:gd name="csX66" fmla="*/ 497940 w 645384"/>
              <a:gd name="csY66" fmla="*/ 506995 h 624697"/>
              <a:gd name="csX67" fmla="*/ 479833 w 645384"/>
              <a:gd name="csY67" fmla="*/ 470781 h 624697"/>
              <a:gd name="csX68" fmla="*/ 434566 w 645384"/>
              <a:gd name="csY68" fmla="*/ 416460 h 624697"/>
              <a:gd name="csX69" fmla="*/ 425512 w 645384"/>
              <a:gd name="csY69" fmla="*/ 389299 h 624697"/>
              <a:gd name="csX70" fmla="*/ 380245 w 645384"/>
              <a:gd name="csY70" fmla="*/ 325925 h 624697"/>
              <a:gd name="csX71" fmla="*/ 353085 w 645384"/>
              <a:gd name="csY71" fmla="*/ 307818 h 624697"/>
              <a:gd name="csX72" fmla="*/ 344031 w 645384"/>
              <a:gd name="csY72" fmla="*/ 280658 h 624697"/>
              <a:gd name="csX73" fmla="*/ 307817 w 645384"/>
              <a:gd name="csY73" fmla="*/ 253498 h 624697"/>
              <a:gd name="csX74" fmla="*/ 353085 w 645384"/>
              <a:gd name="csY74" fmla="*/ 334979 h 624697"/>
              <a:gd name="csX75" fmla="*/ 425512 w 645384"/>
              <a:gd name="csY75" fmla="*/ 434567 h 624697"/>
              <a:gd name="csX76" fmla="*/ 434566 w 645384"/>
              <a:gd name="csY76" fmla="*/ 470781 h 624697"/>
              <a:gd name="csX77" fmla="*/ 452673 w 645384"/>
              <a:gd name="csY77" fmla="*/ 497941 h 624697"/>
              <a:gd name="csX78" fmla="*/ 479833 w 645384"/>
              <a:gd name="csY78" fmla="*/ 543208 h 624697"/>
              <a:gd name="csX79" fmla="*/ 425512 w 645384"/>
              <a:gd name="csY79" fmla="*/ 362139 h 624697"/>
              <a:gd name="csX80" fmla="*/ 389299 w 645384"/>
              <a:gd name="csY80" fmla="*/ 307818 h 624697"/>
              <a:gd name="csX81" fmla="*/ 353085 w 645384"/>
              <a:gd name="csY81" fmla="*/ 208230 h 624697"/>
              <a:gd name="csX82" fmla="*/ 253497 w 645384"/>
              <a:gd name="csY82" fmla="*/ 117696 h 624697"/>
              <a:gd name="csX83" fmla="*/ 226336 w 645384"/>
              <a:gd name="csY83" fmla="*/ 108642 h 624697"/>
              <a:gd name="csX84" fmla="*/ 199176 w 645384"/>
              <a:gd name="csY84" fmla="*/ 90535 h 624697"/>
              <a:gd name="csX85" fmla="*/ 162962 w 645384"/>
              <a:gd name="csY85" fmla="*/ 72428 h 624697"/>
              <a:gd name="csX86" fmla="*/ 36213 w 645384"/>
              <a:gd name="csY86" fmla="*/ 0 h 624697"/>
              <a:gd name="csX87" fmla="*/ 18106 w 645384"/>
              <a:gd name="csY87" fmla="*/ 0 h 6246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</a:cxnLst>
            <a:rect l="l" t="t" r="r" b="b"/>
            <a:pathLst>
              <a:path w="645384" h="624697">
                <a:moveTo>
                  <a:pt x="398352" y="561315"/>
                </a:moveTo>
                <a:cubicBezTo>
                  <a:pt x="395334" y="537173"/>
                  <a:pt x="396454" y="512142"/>
                  <a:pt x="389299" y="488888"/>
                </a:cubicBezTo>
                <a:cubicBezTo>
                  <a:pt x="383226" y="469150"/>
                  <a:pt x="347957" y="424712"/>
                  <a:pt x="334978" y="407406"/>
                </a:cubicBezTo>
                <a:cubicBezTo>
                  <a:pt x="312745" y="318482"/>
                  <a:pt x="344933" y="427318"/>
                  <a:pt x="298764" y="334979"/>
                </a:cubicBezTo>
                <a:cubicBezTo>
                  <a:pt x="284228" y="305907"/>
                  <a:pt x="274621" y="274622"/>
                  <a:pt x="262550" y="244444"/>
                </a:cubicBezTo>
                <a:cubicBezTo>
                  <a:pt x="249616" y="212109"/>
                  <a:pt x="243252" y="192567"/>
                  <a:pt x="226336" y="162963"/>
                </a:cubicBezTo>
                <a:cubicBezTo>
                  <a:pt x="213652" y="140767"/>
                  <a:pt x="186360" y="106930"/>
                  <a:pt x="172015" y="90535"/>
                </a:cubicBezTo>
                <a:cubicBezTo>
                  <a:pt x="163584" y="80900"/>
                  <a:pt x="155274" y="70817"/>
                  <a:pt x="144855" y="63375"/>
                </a:cubicBezTo>
                <a:cubicBezTo>
                  <a:pt x="107378" y="36606"/>
                  <a:pt x="32884" y="26328"/>
                  <a:pt x="0" y="18107"/>
                </a:cubicBezTo>
                <a:cubicBezTo>
                  <a:pt x="0" y="18107"/>
                  <a:pt x="30725" y="41596"/>
                  <a:pt x="45267" y="54321"/>
                </a:cubicBezTo>
                <a:cubicBezTo>
                  <a:pt x="54903" y="62752"/>
                  <a:pt x="64095" y="71761"/>
                  <a:pt x="72427" y="81482"/>
                </a:cubicBezTo>
                <a:cubicBezTo>
                  <a:pt x="91946" y="104255"/>
                  <a:pt x="101921" y="127122"/>
                  <a:pt x="126748" y="144856"/>
                </a:cubicBezTo>
                <a:cubicBezTo>
                  <a:pt x="137730" y="152700"/>
                  <a:pt x="152517" y="154417"/>
                  <a:pt x="162962" y="162963"/>
                </a:cubicBezTo>
                <a:cubicBezTo>
                  <a:pt x="186084" y="181881"/>
                  <a:pt x="205211" y="205212"/>
                  <a:pt x="226336" y="226337"/>
                </a:cubicBezTo>
                <a:lnTo>
                  <a:pt x="271603" y="271604"/>
                </a:lnTo>
                <a:cubicBezTo>
                  <a:pt x="292020" y="332852"/>
                  <a:pt x="265056" y="258510"/>
                  <a:pt x="307817" y="344032"/>
                </a:cubicBezTo>
                <a:cubicBezTo>
                  <a:pt x="312085" y="352568"/>
                  <a:pt x="312995" y="362472"/>
                  <a:pt x="316871" y="371193"/>
                </a:cubicBezTo>
                <a:cubicBezTo>
                  <a:pt x="325093" y="389692"/>
                  <a:pt x="335654" y="407084"/>
                  <a:pt x="344031" y="425513"/>
                </a:cubicBezTo>
                <a:cubicBezTo>
                  <a:pt x="350756" y="440308"/>
                  <a:pt x="356432" y="455564"/>
                  <a:pt x="362138" y="470781"/>
                </a:cubicBezTo>
                <a:cubicBezTo>
                  <a:pt x="365489" y="479716"/>
                  <a:pt x="366557" y="489599"/>
                  <a:pt x="371192" y="497941"/>
                </a:cubicBezTo>
                <a:cubicBezTo>
                  <a:pt x="398267" y="546675"/>
                  <a:pt x="401572" y="546429"/>
                  <a:pt x="434566" y="579422"/>
                </a:cubicBezTo>
                <a:cubicBezTo>
                  <a:pt x="428530" y="561315"/>
                  <a:pt x="422982" y="543038"/>
                  <a:pt x="416459" y="525101"/>
                </a:cubicBezTo>
                <a:cubicBezTo>
                  <a:pt x="410905" y="509828"/>
                  <a:pt x="403022" y="495400"/>
                  <a:pt x="398352" y="479834"/>
                </a:cubicBezTo>
                <a:cubicBezTo>
                  <a:pt x="357658" y="344185"/>
                  <a:pt x="421611" y="515994"/>
                  <a:pt x="371192" y="398353"/>
                </a:cubicBezTo>
                <a:cubicBezTo>
                  <a:pt x="363844" y="381208"/>
                  <a:pt x="344836" y="309328"/>
                  <a:pt x="344031" y="307818"/>
                </a:cubicBezTo>
                <a:cubicBezTo>
                  <a:pt x="329830" y="281190"/>
                  <a:pt x="306450" y="260501"/>
                  <a:pt x="289710" y="235391"/>
                </a:cubicBezTo>
                <a:cubicBezTo>
                  <a:pt x="283674" y="226337"/>
                  <a:pt x="278569" y="216589"/>
                  <a:pt x="271603" y="208230"/>
                </a:cubicBezTo>
                <a:cubicBezTo>
                  <a:pt x="263407" y="198394"/>
                  <a:pt x="254549" y="188930"/>
                  <a:pt x="244443" y="181070"/>
                </a:cubicBezTo>
                <a:cubicBezTo>
                  <a:pt x="227265" y="167709"/>
                  <a:pt x="190122" y="144856"/>
                  <a:pt x="190122" y="144856"/>
                </a:cubicBezTo>
                <a:cubicBezTo>
                  <a:pt x="181069" y="132785"/>
                  <a:pt x="173631" y="119312"/>
                  <a:pt x="162962" y="108642"/>
                </a:cubicBezTo>
                <a:cubicBezTo>
                  <a:pt x="136331" y="82011"/>
                  <a:pt x="117339" y="90357"/>
                  <a:pt x="81481" y="72428"/>
                </a:cubicBezTo>
                <a:cubicBezTo>
                  <a:pt x="69410" y="66392"/>
                  <a:pt x="45267" y="67817"/>
                  <a:pt x="45267" y="54321"/>
                </a:cubicBezTo>
                <a:cubicBezTo>
                  <a:pt x="45267" y="41878"/>
                  <a:pt x="81481" y="63375"/>
                  <a:pt x="81481" y="63375"/>
                </a:cubicBezTo>
                <a:cubicBezTo>
                  <a:pt x="99588" y="75446"/>
                  <a:pt x="117442" y="87906"/>
                  <a:pt x="135802" y="99589"/>
                </a:cubicBezTo>
                <a:cubicBezTo>
                  <a:pt x="255890" y="176008"/>
                  <a:pt x="125932" y="89990"/>
                  <a:pt x="208229" y="144856"/>
                </a:cubicBezTo>
                <a:cubicBezTo>
                  <a:pt x="160424" y="160790"/>
                  <a:pt x="189009" y="159203"/>
                  <a:pt x="126748" y="117696"/>
                </a:cubicBezTo>
                <a:cubicBezTo>
                  <a:pt x="117695" y="111660"/>
                  <a:pt x="90999" y="92909"/>
                  <a:pt x="99588" y="99589"/>
                </a:cubicBezTo>
                <a:cubicBezTo>
                  <a:pt x="126748" y="120714"/>
                  <a:pt x="156739" y="138633"/>
                  <a:pt x="181069" y="162963"/>
                </a:cubicBezTo>
                <a:cubicBezTo>
                  <a:pt x="190122" y="172016"/>
                  <a:pt x="200941" y="179596"/>
                  <a:pt x="208229" y="190123"/>
                </a:cubicBezTo>
                <a:cubicBezTo>
                  <a:pt x="228262" y="219059"/>
                  <a:pt x="251421" y="247270"/>
                  <a:pt x="262550" y="280658"/>
                </a:cubicBezTo>
                <a:lnTo>
                  <a:pt x="289710" y="362139"/>
                </a:lnTo>
                <a:cubicBezTo>
                  <a:pt x="292728" y="371192"/>
                  <a:pt x="293470" y="381359"/>
                  <a:pt x="298764" y="389299"/>
                </a:cubicBezTo>
                <a:cubicBezTo>
                  <a:pt x="304800" y="398353"/>
                  <a:pt x="311472" y="407013"/>
                  <a:pt x="316871" y="416460"/>
                </a:cubicBezTo>
                <a:cubicBezTo>
                  <a:pt x="343442" y="462960"/>
                  <a:pt x="342328" y="487182"/>
                  <a:pt x="389299" y="534155"/>
                </a:cubicBezTo>
                <a:lnTo>
                  <a:pt x="425512" y="570369"/>
                </a:lnTo>
                <a:cubicBezTo>
                  <a:pt x="431548" y="561315"/>
                  <a:pt x="443619" y="554089"/>
                  <a:pt x="443619" y="543208"/>
                </a:cubicBezTo>
                <a:cubicBezTo>
                  <a:pt x="443619" y="529712"/>
                  <a:pt x="430251" y="519632"/>
                  <a:pt x="425512" y="506995"/>
                </a:cubicBezTo>
                <a:cubicBezTo>
                  <a:pt x="421143" y="495344"/>
                  <a:pt x="421245" y="482267"/>
                  <a:pt x="416459" y="470781"/>
                </a:cubicBezTo>
                <a:cubicBezTo>
                  <a:pt x="406077" y="445865"/>
                  <a:pt x="395218" y="420812"/>
                  <a:pt x="380245" y="398353"/>
                </a:cubicBezTo>
                <a:cubicBezTo>
                  <a:pt x="374209" y="389300"/>
                  <a:pt x="362138" y="360312"/>
                  <a:pt x="362138" y="371193"/>
                </a:cubicBezTo>
                <a:cubicBezTo>
                  <a:pt x="362138" y="387444"/>
                  <a:pt x="375106" y="401043"/>
                  <a:pt x="380245" y="416460"/>
                </a:cubicBezTo>
                <a:cubicBezTo>
                  <a:pt x="382256" y="422492"/>
                  <a:pt x="392541" y="471118"/>
                  <a:pt x="398352" y="479834"/>
                </a:cubicBezTo>
                <a:cubicBezTo>
                  <a:pt x="405454" y="490487"/>
                  <a:pt x="417180" y="497274"/>
                  <a:pt x="425512" y="506995"/>
                </a:cubicBezTo>
                <a:cubicBezTo>
                  <a:pt x="435332" y="518451"/>
                  <a:pt x="442853" y="531752"/>
                  <a:pt x="452673" y="543208"/>
                </a:cubicBezTo>
                <a:cubicBezTo>
                  <a:pt x="461005" y="552929"/>
                  <a:pt x="471501" y="560648"/>
                  <a:pt x="479833" y="570369"/>
                </a:cubicBezTo>
                <a:cubicBezTo>
                  <a:pt x="489653" y="581826"/>
                  <a:pt x="494715" y="597813"/>
                  <a:pt x="506994" y="606583"/>
                </a:cubicBezTo>
                <a:cubicBezTo>
                  <a:pt x="517119" y="613815"/>
                  <a:pt x="531136" y="612618"/>
                  <a:pt x="543207" y="615636"/>
                </a:cubicBezTo>
                <a:cubicBezTo>
                  <a:pt x="528118" y="606583"/>
                  <a:pt x="512862" y="597802"/>
                  <a:pt x="497940" y="588476"/>
                </a:cubicBezTo>
                <a:cubicBezTo>
                  <a:pt x="488713" y="582709"/>
                  <a:pt x="480512" y="575235"/>
                  <a:pt x="470780" y="570369"/>
                </a:cubicBezTo>
                <a:cubicBezTo>
                  <a:pt x="448492" y="559225"/>
                  <a:pt x="391336" y="552601"/>
                  <a:pt x="497940" y="570369"/>
                </a:cubicBezTo>
                <a:cubicBezTo>
                  <a:pt x="519065" y="582440"/>
                  <a:pt x="538401" y="598400"/>
                  <a:pt x="561314" y="606583"/>
                </a:cubicBezTo>
                <a:cubicBezTo>
                  <a:pt x="581410" y="613760"/>
                  <a:pt x="624689" y="615636"/>
                  <a:pt x="624689" y="615636"/>
                </a:cubicBezTo>
                <a:cubicBezTo>
                  <a:pt x="612618" y="606583"/>
                  <a:pt x="574979" y="581728"/>
                  <a:pt x="588475" y="588476"/>
                </a:cubicBezTo>
                <a:cubicBezTo>
                  <a:pt x="678038" y="633260"/>
                  <a:pt x="646781" y="633104"/>
                  <a:pt x="597528" y="606583"/>
                </a:cubicBezTo>
                <a:cubicBezTo>
                  <a:pt x="489655" y="548497"/>
                  <a:pt x="563601" y="570939"/>
                  <a:pt x="488887" y="552262"/>
                </a:cubicBezTo>
                <a:cubicBezTo>
                  <a:pt x="503976" y="549244"/>
                  <a:pt x="531136" y="558297"/>
                  <a:pt x="534154" y="543208"/>
                </a:cubicBezTo>
                <a:cubicBezTo>
                  <a:pt x="537502" y="526468"/>
                  <a:pt x="508183" y="520652"/>
                  <a:pt x="497940" y="506995"/>
                </a:cubicBezTo>
                <a:cubicBezTo>
                  <a:pt x="489842" y="496198"/>
                  <a:pt x="487677" y="481763"/>
                  <a:pt x="479833" y="470781"/>
                </a:cubicBezTo>
                <a:cubicBezTo>
                  <a:pt x="446464" y="424063"/>
                  <a:pt x="458514" y="464355"/>
                  <a:pt x="434566" y="416460"/>
                </a:cubicBezTo>
                <a:cubicBezTo>
                  <a:pt x="430298" y="407924"/>
                  <a:pt x="429780" y="397835"/>
                  <a:pt x="425512" y="389299"/>
                </a:cubicBezTo>
                <a:cubicBezTo>
                  <a:pt x="420372" y="379020"/>
                  <a:pt x="384344" y="330024"/>
                  <a:pt x="380245" y="325925"/>
                </a:cubicBezTo>
                <a:cubicBezTo>
                  <a:pt x="372551" y="318231"/>
                  <a:pt x="362138" y="313854"/>
                  <a:pt x="353085" y="307818"/>
                </a:cubicBezTo>
                <a:cubicBezTo>
                  <a:pt x="350067" y="298765"/>
                  <a:pt x="350140" y="287989"/>
                  <a:pt x="344031" y="280658"/>
                </a:cubicBezTo>
                <a:cubicBezTo>
                  <a:pt x="334371" y="269066"/>
                  <a:pt x="305336" y="238614"/>
                  <a:pt x="307817" y="253498"/>
                </a:cubicBezTo>
                <a:cubicBezTo>
                  <a:pt x="312925" y="284146"/>
                  <a:pt x="337099" y="308336"/>
                  <a:pt x="353085" y="334979"/>
                </a:cubicBezTo>
                <a:cubicBezTo>
                  <a:pt x="381241" y="381905"/>
                  <a:pt x="392378" y="393148"/>
                  <a:pt x="425512" y="434567"/>
                </a:cubicBezTo>
                <a:cubicBezTo>
                  <a:pt x="428530" y="446638"/>
                  <a:pt x="429664" y="459344"/>
                  <a:pt x="434566" y="470781"/>
                </a:cubicBezTo>
                <a:cubicBezTo>
                  <a:pt x="438852" y="480782"/>
                  <a:pt x="446906" y="488714"/>
                  <a:pt x="452673" y="497941"/>
                </a:cubicBezTo>
                <a:cubicBezTo>
                  <a:pt x="461999" y="512863"/>
                  <a:pt x="470780" y="528119"/>
                  <a:pt x="479833" y="543208"/>
                </a:cubicBezTo>
                <a:cubicBezTo>
                  <a:pt x="469711" y="502720"/>
                  <a:pt x="443145" y="388589"/>
                  <a:pt x="425512" y="362139"/>
                </a:cubicBezTo>
                <a:cubicBezTo>
                  <a:pt x="413441" y="344032"/>
                  <a:pt x="399031" y="327282"/>
                  <a:pt x="389299" y="307818"/>
                </a:cubicBezTo>
                <a:cubicBezTo>
                  <a:pt x="383572" y="296364"/>
                  <a:pt x="363363" y="221591"/>
                  <a:pt x="353085" y="208230"/>
                </a:cubicBezTo>
                <a:cubicBezTo>
                  <a:pt x="339333" y="190352"/>
                  <a:pt x="287915" y="134905"/>
                  <a:pt x="253497" y="117696"/>
                </a:cubicBezTo>
                <a:cubicBezTo>
                  <a:pt x="244961" y="113428"/>
                  <a:pt x="234872" y="112910"/>
                  <a:pt x="226336" y="108642"/>
                </a:cubicBezTo>
                <a:cubicBezTo>
                  <a:pt x="216604" y="103776"/>
                  <a:pt x="208623" y="95933"/>
                  <a:pt x="199176" y="90535"/>
                </a:cubicBezTo>
                <a:cubicBezTo>
                  <a:pt x="187458" y="83839"/>
                  <a:pt x="174535" y="79372"/>
                  <a:pt x="162962" y="72428"/>
                </a:cubicBezTo>
                <a:cubicBezTo>
                  <a:pt x="139389" y="58284"/>
                  <a:pt x="62110" y="0"/>
                  <a:pt x="36213" y="0"/>
                </a:cubicBezTo>
                <a:lnTo>
                  <a:pt x="18106" y="0"/>
                </a:lnTo>
              </a:path>
            </a:pathLst>
          </a:custGeom>
          <a:ln w="2222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E67E49-9A06-8677-7AA5-4E49D0A3335F}"/>
              </a:ext>
            </a:extLst>
          </p:cNvPr>
          <p:cNvCxnSpPr>
            <a:cxnSpLocks/>
          </p:cNvCxnSpPr>
          <p:nvPr/>
        </p:nvCxnSpPr>
        <p:spPr>
          <a:xfrm>
            <a:off x="4427984" y="2764311"/>
            <a:ext cx="144016" cy="10019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332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en-GB" dirty="0"/>
              <a:t>Adding a Grid and a Legend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536" y="671204"/>
            <a:ext cx="7776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</a:t>
            </a:r>
            <a:r>
              <a:rPr lang="en-GB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ax.grid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sz="2400" dirty="0"/>
              <a:t>function and </a:t>
            </a:r>
            <a:r>
              <a:rPr lang="en-GB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ax.legend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sz="2400" dirty="0"/>
              <a:t>function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B76E3-50F8-8712-6E1D-B4A396BFC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66" y="1208017"/>
            <a:ext cx="4201111" cy="3658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6FCDBC-0C0A-9B0D-E204-5C84E1D1A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7" y="1315845"/>
            <a:ext cx="4788023" cy="3581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A54347-A8B2-CC89-08D2-AAB57D521A2B}"/>
              </a:ext>
            </a:extLst>
          </p:cNvPr>
          <p:cNvSpPr txBox="1"/>
          <p:nvPr/>
        </p:nvSpPr>
        <p:spPr>
          <a:xfrm>
            <a:off x="136104" y="4975549"/>
            <a:ext cx="8892480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Use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legend</a:t>
            </a:r>
            <a:r>
              <a:rPr lang="en-US" dirty="0"/>
              <a:t> when you need to distinguish several data series.</a:t>
            </a:r>
          </a:p>
          <a:p>
            <a:endParaRPr lang="en-US" dirty="0"/>
          </a:p>
          <a:p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gridlines</a:t>
            </a:r>
            <a:r>
              <a:rPr lang="en-US" dirty="0"/>
              <a:t> when they help readers estimate values, not just as decoration.</a:t>
            </a:r>
          </a:p>
          <a:p>
            <a:endParaRPr lang="en-US" dirty="0"/>
          </a:p>
          <a:p>
            <a:r>
              <a:rPr lang="en-US" dirty="0"/>
              <a:t>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label= </a:t>
            </a:r>
            <a:r>
              <a:rPr lang="en-US" dirty="0"/>
              <a:t>when plotting each series is clearer and scales much better when there are multiple lines.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4055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n-GB" dirty="0"/>
              <a:t>Positioning a Legend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692696"/>
            <a:ext cx="6048672" cy="238769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By default, Matplotlib uses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loc="best" </a:t>
            </a:r>
            <a:r>
              <a:rPr lang="en-US" b="1" dirty="0"/>
              <a:t>to choose a suitable position for the legend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keyword can be used to specify a different position. </a:t>
            </a:r>
          </a:p>
          <a:p>
            <a:r>
              <a:rPr lang="en-US" dirty="0"/>
              <a:t>loc accepts either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descriptive strings </a:t>
            </a:r>
            <a:r>
              <a:rPr lang="en-US" dirty="0"/>
              <a:t>or equivalent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numeric codes. </a:t>
            </a:r>
          </a:p>
          <a:p>
            <a:r>
              <a:rPr lang="en-US" dirty="0"/>
              <a:t>Descriptive strings are generally easier to read and understand.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2200" y="1423809"/>
            <a:ext cx="2448272" cy="120032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 this example, the 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loc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kwargs was set to 10, which is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080386"/>
            <a:ext cx="309562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506E42-1AD8-7992-302E-D611F1DA9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712" y="3163577"/>
            <a:ext cx="4801270" cy="3543795"/>
          </a:xfrm>
          <a:prstGeom prst="rect">
            <a:avLst/>
          </a:prstGeom>
        </p:spPr>
      </p:pic>
      <p:cxnSp>
        <p:nvCxnSpPr>
          <p:cNvPr id="6" name="Straight Arrow Connector 5"/>
          <p:cNvCxnSpPr>
            <a:cxnSpLocks/>
          </p:cNvCxnSpPr>
          <p:nvPr/>
        </p:nvCxnSpPr>
        <p:spPr>
          <a:xfrm flipH="1">
            <a:off x="6516216" y="2708920"/>
            <a:ext cx="1152128" cy="18722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242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998" y="0"/>
            <a:ext cx="8229600" cy="476672"/>
          </a:xfrm>
        </p:spPr>
        <p:txBody>
          <a:bodyPr>
            <a:normAutofit fontScale="90000"/>
          </a:bodyPr>
          <a:lstStyle/>
          <a:p>
            <a:r>
              <a:rPr lang="en-GB" dirty="0"/>
              <a:t>Saving Figures to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78F2A-8A77-21F6-DAF9-EA4001D904FE}"/>
              </a:ext>
            </a:extLst>
          </p:cNvPr>
          <p:cNvSpPr txBox="1"/>
          <p:nvPr/>
        </p:nvSpPr>
        <p:spPr>
          <a:xfrm>
            <a:off x="251520" y="620688"/>
            <a:ext cx="27724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You can save Matplotlib figures to a file using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savefig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 </a:t>
            </a:r>
            <a:r>
              <a:rPr lang="en-GB" dirty="0"/>
              <a:t>Common formats:</a:t>
            </a:r>
          </a:p>
          <a:p>
            <a:pPr lvl="0"/>
            <a:r>
              <a:rPr lang="en-GB" b="1" dirty="0"/>
              <a:t>PNG</a:t>
            </a:r>
            <a:r>
              <a:rPr lang="en-GB" dirty="0"/>
              <a:t>: useful for slides, websites and general use </a:t>
            </a:r>
          </a:p>
          <a:p>
            <a:pPr lvl="0"/>
            <a:r>
              <a:rPr lang="en-GB" b="1" dirty="0"/>
              <a:t>PDF</a:t>
            </a:r>
            <a:r>
              <a:rPr lang="en-GB" dirty="0"/>
              <a:t>: useful for documents and scalable output </a:t>
            </a:r>
          </a:p>
          <a:p>
            <a:pPr lvl="0"/>
            <a:r>
              <a:rPr lang="en-GB" b="1" dirty="0"/>
              <a:t>SVG</a:t>
            </a:r>
            <a:r>
              <a:rPr lang="en-GB" dirty="0"/>
              <a:t>: vector format suitable for resizing without loss of quality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1E5DE-A4E1-F6F3-F916-F770860BD19B}"/>
              </a:ext>
            </a:extLst>
          </p:cNvPr>
          <p:cNvSpPr txBox="1"/>
          <p:nvPr/>
        </p:nvSpPr>
        <p:spPr>
          <a:xfrm>
            <a:off x="3429000" y="1366038"/>
            <a:ext cx="2286000" cy="923330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dpi</a:t>
            </a:r>
            <a:r>
              <a:rPr lang="en-US" dirty="0"/>
              <a:t> controls the resolution of raster images such as PNG.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CB43BE-4B28-FEE5-0B8D-6B5E5F7DFFA3}"/>
              </a:ext>
            </a:extLst>
          </p:cNvPr>
          <p:cNvSpPr txBox="1"/>
          <p:nvPr/>
        </p:nvSpPr>
        <p:spPr>
          <a:xfrm>
            <a:off x="2942525" y="3049368"/>
            <a:ext cx="2772475" cy="1200329"/>
          </a:xfrm>
          <a:prstGeom prst="rect">
            <a:avLst/>
          </a:prstGeom>
          <a:noFill/>
          <a:ln w="31750">
            <a:solidFill>
              <a:schemeClr val="accent1">
                <a:shade val="95000"/>
                <a:satMod val="105000"/>
              </a:schemeClr>
            </a:solidFill>
            <a:prstDash val="dashDot"/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bbox_inches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="tight" </a:t>
            </a:r>
            <a:r>
              <a:rPr lang="en-US" dirty="0"/>
              <a:t>reduces unnecessary whitespace around the figure.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E6F9D5-9F61-478A-2449-5A88B709DD42}"/>
              </a:ext>
            </a:extLst>
          </p:cNvPr>
          <p:cNvSpPr txBox="1"/>
          <p:nvPr/>
        </p:nvSpPr>
        <p:spPr>
          <a:xfrm>
            <a:off x="1187625" y="4409532"/>
            <a:ext cx="4248472" cy="923330"/>
          </a:xfrm>
          <a:custGeom>
            <a:avLst/>
            <a:gdLst>
              <a:gd name="csX0" fmla="*/ 0 w 4248472"/>
              <a:gd name="csY0" fmla="*/ 0 h 923330"/>
              <a:gd name="csX1" fmla="*/ 488574 w 4248472"/>
              <a:gd name="csY1" fmla="*/ 0 h 923330"/>
              <a:gd name="csX2" fmla="*/ 892179 w 4248472"/>
              <a:gd name="csY2" fmla="*/ 0 h 923330"/>
              <a:gd name="csX3" fmla="*/ 1508208 w 4248472"/>
              <a:gd name="csY3" fmla="*/ 0 h 923330"/>
              <a:gd name="csX4" fmla="*/ 1996782 w 4248472"/>
              <a:gd name="csY4" fmla="*/ 0 h 923330"/>
              <a:gd name="csX5" fmla="*/ 2485356 w 4248472"/>
              <a:gd name="csY5" fmla="*/ 0 h 923330"/>
              <a:gd name="csX6" fmla="*/ 3101385 w 4248472"/>
              <a:gd name="csY6" fmla="*/ 0 h 923330"/>
              <a:gd name="csX7" fmla="*/ 3547474 w 4248472"/>
              <a:gd name="csY7" fmla="*/ 0 h 923330"/>
              <a:gd name="csX8" fmla="*/ 4248472 w 4248472"/>
              <a:gd name="csY8" fmla="*/ 0 h 923330"/>
              <a:gd name="csX9" fmla="*/ 4248472 w 4248472"/>
              <a:gd name="csY9" fmla="*/ 480132 h 923330"/>
              <a:gd name="csX10" fmla="*/ 4248472 w 4248472"/>
              <a:gd name="csY10" fmla="*/ 923330 h 923330"/>
              <a:gd name="csX11" fmla="*/ 3717413 w 4248472"/>
              <a:gd name="csY11" fmla="*/ 923330 h 923330"/>
              <a:gd name="csX12" fmla="*/ 3228839 w 4248472"/>
              <a:gd name="csY12" fmla="*/ 923330 h 923330"/>
              <a:gd name="csX13" fmla="*/ 2612810 w 4248472"/>
              <a:gd name="csY13" fmla="*/ 923330 h 923330"/>
              <a:gd name="csX14" fmla="*/ 1996782 w 4248472"/>
              <a:gd name="csY14" fmla="*/ 923330 h 923330"/>
              <a:gd name="csX15" fmla="*/ 1550692 w 4248472"/>
              <a:gd name="csY15" fmla="*/ 923330 h 923330"/>
              <a:gd name="csX16" fmla="*/ 1019633 w 4248472"/>
              <a:gd name="csY16" fmla="*/ 923330 h 923330"/>
              <a:gd name="csX17" fmla="*/ 0 w 4248472"/>
              <a:gd name="csY17" fmla="*/ 923330 h 923330"/>
              <a:gd name="csX18" fmla="*/ 0 w 4248472"/>
              <a:gd name="csY18" fmla="*/ 461665 h 923330"/>
              <a:gd name="csX19" fmla="*/ 0 w 4248472"/>
              <a:gd name="csY19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248472" h="923330" extrusionOk="0">
                <a:moveTo>
                  <a:pt x="0" y="0"/>
                </a:moveTo>
                <a:cubicBezTo>
                  <a:pt x="215281" y="-44311"/>
                  <a:pt x="275598" y="21642"/>
                  <a:pt x="488574" y="0"/>
                </a:cubicBezTo>
                <a:cubicBezTo>
                  <a:pt x="701550" y="-21642"/>
                  <a:pt x="738032" y="12184"/>
                  <a:pt x="892179" y="0"/>
                </a:cubicBezTo>
                <a:cubicBezTo>
                  <a:pt x="1046326" y="-12184"/>
                  <a:pt x="1321658" y="24602"/>
                  <a:pt x="1508208" y="0"/>
                </a:cubicBezTo>
                <a:cubicBezTo>
                  <a:pt x="1694758" y="-24602"/>
                  <a:pt x="1897575" y="19357"/>
                  <a:pt x="1996782" y="0"/>
                </a:cubicBezTo>
                <a:cubicBezTo>
                  <a:pt x="2095989" y="-19357"/>
                  <a:pt x="2296531" y="15730"/>
                  <a:pt x="2485356" y="0"/>
                </a:cubicBezTo>
                <a:cubicBezTo>
                  <a:pt x="2674181" y="-15730"/>
                  <a:pt x="2952493" y="37536"/>
                  <a:pt x="3101385" y="0"/>
                </a:cubicBezTo>
                <a:cubicBezTo>
                  <a:pt x="3250277" y="-37536"/>
                  <a:pt x="3362853" y="17587"/>
                  <a:pt x="3547474" y="0"/>
                </a:cubicBezTo>
                <a:cubicBezTo>
                  <a:pt x="3732095" y="-17587"/>
                  <a:pt x="4055051" y="13177"/>
                  <a:pt x="4248472" y="0"/>
                </a:cubicBezTo>
                <a:cubicBezTo>
                  <a:pt x="4260613" y="118772"/>
                  <a:pt x="4214907" y="274989"/>
                  <a:pt x="4248472" y="480132"/>
                </a:cubicBezTo>
                <a:cubicBezTo>
                  <a:pt x="4282037" y="685275"/>
                  <a:pt x="4230807" y="820805"/>
                  <a:pt x="4248472" y="923330"/>
                </a:cubicBezTo>
                <a:cubicBezTo>
                  <a:pt x="4050637" y="965408"/>
                  <a:pt x="3971549" y="880713"/>
                  <a:pt x="3717413" y="923330"/>
                </a:cubicBezTo>
                <a:cubicBezTo>
                  <a:pt x="3463277" y="965947"/>
                  <a:pt x="3418775" y="875294"/>
                  <a:pt x="3228839" y="923330"/>
                </a:cubicBezTo>
                <a:cubicBezTo>
                  <a:pt x="3038903" y="971366"/>
                  <a:pt x="2913869" y="882363"/>
                  <a:pt x="2612810" y="923330"/>
                </a:cubicBezTo>
                <a:cubicBezTo>
                  <a:pt x="2311751" y="964297"/>
                  <a:pt x="2195767" y="920121"/>
                  <a:pt x="1996782" y="923330"/>
                </a:cubicBezTo>
                <a:cubicBezTo>
                  <a:pt x="1797797" y="926539"/>
                  <a:pt x="1741500" y="921304"/>
                  <a:pt x="1550692" y="923330"/>
                </a:cubicBezTo>
                <a:cubicBezTo>
                  <a:pt x="1359884" y="925356"/>
                  <a:pt x="1241371" y="867657"/>
                  <a:pt x="1019633" y="923330"/>
                </a:cubicBezTo>
                <a:cubicBezTo>
                  <a:pt x="797895" y="979003"/>
                  <a:pt x="422802" y="814940"/>
                  <a:pt x="0" y="923330"/>
                </a:cubicBezTo>
                <a:cubicBezTo>
                  <a:pt x="-48289" y="731769"/>
                  <a:pt x="21382" y="589170"/>
                  <a:pt x="0" y="461665"/>
                </a:cubicBezTo>
                <a:cubicBezTo>
                  <a:pt x="-21382" y="334160"/>
                  <a:pt x="30168" y="122032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95000"/>
                <a:satMod val="10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Saving in another format</a:t>
            </a:r>
          </a:p>
          <a:p>
            <a:pPr>
              <a:buNone/>
            </a:pPr>
            <a:r>
              <a:rPr lang="en-GB" dirty="0"/>
              <a:t>Matplotlib uses the filename extension to determine the output format.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3C248D-7663-25B0-D566-3652C47B8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148" y="1090813"/>
            <a:ext cx="3067478" cy="4239217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875CF8-9819-EAAD-68E3-CCE06922FB8B}"/>
              </a:ext>
            </a:extLst>
          </p:cNvPr>
          <p:cNvCxnSpPr>
            <a:cxnSpLocks/>
          </p:cNvCxnSpPr>
          <p:nvPr/>
        </p:nvCxnSpPr>
        <p:spPr>
          <a:xfrm flipV="1">
            <a:off x="5715000" y="4023689"/>
            <a:ext cx="584307" cy="175348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905DF1-9B86-2B13-F2FF-DAFE5F78F78F}"/>
              </a:ext>
            </a:extLst>
          </p:cNvPr>
          <p:cNvCxnSpPr>
            <a:cxnSpLocks/>
          </p:cNvCxnSpPr>
          <p:nvPr/>
        </p:nvCxnSpPr>
        <p:spPr>
          <a:xfrm>
            <a:off x="4593681" y="2246587"/>
            <a:ext cx="1705626" cy="15829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0584043-E683-ACB6-F02E-3598C5A6F9E4}"/>
              </a:ext>
            </a:extLst>
          </p:cNvPr>
          <p:cNvCxnSpPr>
            <a:cxnSpLocks/>
          </p:cNvCxnSpPr>
          <p:nvPr/>
        </p:nvCxnSpPr>
        <p:spPr>
          <a:xfrm flipV="1">
            <a:off x="5422846" y="4680481"/>
            <a:ext cx="584307" cy="175348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45AFA51-8D2E-88AF-8DD2-85E000E69C61}"/>
              </a:ext>
            </a:extLst>
          </p:cNvPr>
          <p:cNvSpPr txBox="1"/>
          <p:nvPr/>
        </p:nvSpPr>
        <p:spPr>
          <a:xfrm>
            <a:off x="2286000" y="57108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Important: Save the figure before closing it</a:t>
            </a:r>
            <a:r>
              <a:rPr lang="en-US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3279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0482"/>
            <a:ext cx="8229600" cy="346050"/>
          </a:xfrm>
        </p:spPr>
        <p:txBody>
          <a:bodyPr>
            <a:noAutofit/>
          </a:bodyPr>
          <a:lstStyle/>
          <a:p>
            <a:r>
              <a:rPr lang="en-GB" sz="3000" dirty="0"/>
              <a:t>Handling Date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BF30A-9ED8-FD5B-4A80-C46ED90BABA0}"/>
              </a:ext>
            </a:extLst>
          </p:cNvPr>
          <p:cNvSpPr txBox="1"/>
          <p:nvPr/>
        </p:nvSpPr>
        <p:spPr>
          <a:xfrm>
            <a:off x="251520" y="444137"/>
            <a:ext cx="30963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Matplotlib can plot Python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datetime </a:t>
            </a:r>
            <a:r>
              <a:rPr lang="en-GB" dirty="0"/>
              <a:t>values directly.</a:t>
            </a:r>
          </a:p>
          <a:p>
            <a:pPr>
              <a:buNone/>
            </a:pPr>
            <a:r>
              <a:rPr lang="en-GB" dirty="0"/>
              <a:t>Dates are especially useful on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the x-axis</a:t>
            </a:r>
            <a:r>
              <a:rPr lang="en-GB" dirty="0"/>
              <a:t> when visualising </a:t>
            </a:r>
            <a:r>
              <a:rPr lang="en-GB" b="1" dirty="0">
                <a:solidFill>
                  <a:srgbClr val="FF0000"/>
                </a:solidFill>
              </a:rPr>
              <a:t>time-series data</a:t>
            </a:r>
            <a:r>
              <a:rPr lang="en-GB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3B8111-88E7-35FA-CC3B-F9FFBCFB6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15" y="1916832"/>
            <a:ext cx="2091154" cy="2808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7B7CDA-29ED-26D1-6252-3EAA2DD74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6816" y="4725144"/>
            <a:ext cx="3415164" cy="19418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1BAE0C-4E4D-F985-38A4-E302A6956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1157" y="410352"/>
            <a:ext cx="2808312" cy="40843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A5FD21-CB7E-9FBC-EB4B-930C6CBA39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936" y="4467408"/>
            <a:ext cx="3846343" cy="24573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F50A0A-8647-3EE5-1BB2-314D6F45548B}"/>
              </a:ext>
            </a:extLst>
          </p:cNvPr>
          <p:cNvSpPr txBox="1"/>
          <p:nvPr/>
        </p:nvSpPr>
        <p:spPr>
          <a:xfrm>
            <a:off x="6285935" y="3213259"/>
            <a:ext cx="2851807" cy="120032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fig.autofmt_xdate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improves the positioning/rotation of the date labels</a:t>
            </a:r>
            <a:endParaRPr lang="en-GB" dirty="0"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762979-48C8-DABF-813D-F69E6F8657B3}"/>
              </a:ext>
            </a:extLst>
          </p:cNvPr>
          <p:cNvSpPr txBox="1"/>
          <p:nvPr/>
        </p:nvSpPr>
        <p:spPr>
          <a:xfrm>
            <a:off x="6184689" y="1231592"/>
            <a:ext cx="2851807" cy="830997"/>
          </a:xfrm>
          <a:custGeom>
            <a:avLst/>
            <a:gdLst>
              <a:gd name="csX0" fmla="*/ 0 w 2851807"/>
              <a:gd name="csY0" fmla="*/ 0 h 830997"/>
              <a:gd name="csX1" fmla="*/ 541843 w 2851807"/>
              <a:gd name="csY1" fmla="*/ 0 h 830997"/>
              <a:gd name="csX2" fmla="*/ 1026651 w 2851807"/>
              <a:gd name="csY2" fmla="*/ 0 h 830997"/>
              <a:gd name="csX3" fmla="*/ 1654048 w 2851807"/>
              <a:gd name="csY3" fmla="*/ 0 h 830997"/>
              <a:gd name="csX4" fmla="*/ 2195891 w 2851807"/>
              <a:gd name="csY4" fmla="*/ 0 h 830997"/>
              <a:gd name="csX5" fmla="*/ 2851807 w 2851807"/>
              <a:gd name="csY5" fmla="*/ 0 h 830997"/>
              <a:gd name="csX6" fmla="*/ 2851807 w 2851807"/>
              <a:gd name="csY6" fmla="*/ 432118 h 830997"/>
              <a:gd name="csX7" fmla="*/ 2851807 w 2851807"/>
              <a:gd name="csY7" fmla="*/ 830997 h 830997"/>
              <a:gd name="csX8" fmla="*/ 2281446 w 2851807"/>
              <a:gd name="csY8" fmla="*/ 830997 h 830997"/>
              <a:gd name="csX9" fmla="*/ 1796638 w 2851807"/>
              <a:gd name="csY9" fmla="*/ 830997 h 830997"/>
              <a:gd name="csX10" fmla="*/ 1226277 w 2851807"/>
              <a:gd name="csY10" fmla="*/ 830997 h 830997"/>
              <a:gd name="csX11" fmla="*/ 655916 w 2851807"/>
              <a:gd name="csY11" fmla="*/ 830997 h 830997"/>
              <a:gd name="csX12" fmla="*/ 0 w 2851807"/>
              <a:gd name="csY12" fmla="*/ 830997 h 830997"/>
              <a:gd name="csX13" fmla="*/ 0 w 2851807"/>
              <a:gd name="csY13" fmla="*/ 398879 h 830997"/>
              <a:gd name="csX14" fmla="*/ 0 w 2851807"/>
              <a:gd name="csY14" fmla="*/ 0 h 830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851807" h="830997" extrusionOk="0">
                <a:moveTo>
                  <a:pt x="0" y="0"/>
                </a:moveTo>
                <a:cubicBezTo>
                  <a:pt x="255831" y="-37097"/>
                  <a:pt x="392859" y="30630"/>
                  <a:pt x="541843" y="0"/>
                </a:cubicBezTo>
                <a:cubicBezTo>
                  <a:pt x="690827" y="-30630"/>
                  <a:pt x="874886" y="9543"/>
                  <a:pt x="1026651" y="0"/>
                </a:cubicBezTo>
                <a:cubicBezTo>
                  <a:pt x="1178416" y="-9543"/>
                  <a:pt x="1449896" y="14870"/>
                  <a:pt x="1654048" y="0"/>
                </a:cubicBezTo>
                <a:cubicBezTo>
                  <a:pt x="1858200" y="-14870"/>
                  <a:pt x="1931926" y="26343"/>
                  <a:pt x="2195891" y="0"/>
                </a:cubicBezTo>
                <a:cubicBezTo>
                  <a:pt x="2459856" y="-26343"/>
                  <a:pt x="2634967" y="53987"/>
                  <a:pt x="2851807" y="0"/>
                </a:cubicBezTo>
                <a:cubicBezTo>
                  <a:pt x="2878781" y="142492"/>
                  <a:pt x="2835742" y="219762"/>
                  <a:pt x="2851807" y="432118"/>
                </a:cubicBezTo>
                <a:cubicBezTo>
                  <a:pt x="2867872" y="644474"/>
                  <a:pt x="2830636" y="650782"/>
                  <a:pt x="2851807" y="830997"/>
                </a:cubicBezTo>
                <a:cubicBezTo>
                  <a:pt x="2733312" y="834506"/>
                  <a:pt x="2455256" y="788453"/>
                  <a:pt x="2281446" y="830997"/>
                </a:cubicBezTo>
                <a:cubicBezTo>
                  <a:pt x="2107636" y="873541"/>
                  <a:pt x="2038204" y="801490"/>
                  <a:pt x="1796638" y="830997"/>
                </a:cubicBezTo>
                <a:cubicBezTo>
                  <a:pt x="1555072" y="860504"/>
                  <a:pt x="1506471" y="791656"/>
                  <a:pt x="1226277" y="830997"/>
                </a:cubicBezTo>
                <a:cubicBezTo>
                  <a:pt x="946083" y="870338"/>
                  <a:pt x="894177" y="783901"/>
                  <a:pt x="655916" y="830997"/>
                </a:cubicBezTo>
                <a:cubicBezTo>
                  <a:pt x="417655" y="878093"/>
                  <a:pt x="158410" y="821997"/>
                  <a:pt x="0" y="830997"/>
                </a:cubicBezTo>
                <a:cubicBezTo>
                  <a:pt x="-21288" y="672907"/>
                  <a:pt x="41573" y="491559"/>
                  <a:pt x="0" y="398879"/>
                </a:cubicBezTo>
                <a:cubicBezTo>
                  <a:pt x="-41573" y="306199"/>
                  <a:pt x="4258" y="166797"/>
                  <a:pt x="0" y="0"/>
                </a:cubicBezTo>
                <a:close/>
              </a:path>
            </a:pathLst>
          </a:custGeom>
          <a:noFill/>
          <a:ln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DateFormatter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("%b %Y") </a:t>
            </a:r>
            <a:r>
              <a:rPr lang="en-US" sz="1600" dirty="0"/>
              <a:t>controls how the dates are displayed</a:t>
            </a:r>
            <a:endParaRPr lang="en-GB" sz="16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AAB8E34-D051-D456-DF8A-3558806F60E0}"/>
              </a:ext>
            </a:extLst>
          </p:cNvPr>
          <p:cNvCxnSpPr>
            <a:cxnSpLocks/>
          </p:cNvCxnSpPr>
          <p:nvPr/>
        </p:nvCxnSpPr>
        <p:spPr>
          <a:xfrm flipH="1">
            <a:off x="5508104" y="2023680"/>
            <a:ext cx="676585" cy="147732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99EA14-F7B1-D451-E208-FD218C19A61C}"/>
              </a:ext>
            </a:extLst>
          </p:cNvPr>
          <p:cNvCxnSpPr>
            <a:cxnSpLocks/>
            <a:stCxn id="14" idx="1"/>
            <a:endCxn id="14" idx="1"/>
          </p:cNvCxnSpPr>
          <p:nvPr/>
        </p:nvCxnSpPr>
        <p:spPr>
          <a:xfrm>
            <a:off x="6285935" y="3813424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60C90D9-B99D-6E1A-B3BD-05F036A44CCA}"/>
              </a:ext>
            </a:extLst>
          </p:cNvPr>
          <p:cNvCxnSpPr>
            <a:cxnSpLocks/>
          </p:cNvCxnSpPr>
          <p:nvPr/>
        </p:nvCxnSpPr>
        <p:spPr>
          <a:xfrm flipH="1">
            <a:off x="4644008" y="4149080"/>
            <a:ext cx="164192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500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D8FF-9B9E-CCB3-ADEA-96F1A7891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date-format codes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01309A-A7F3-43E0-5C55-997C764FC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429821"/>
              </p:ext>
            </p:extLst>
          </p:nvPr>
        </p:nvGraphicFramePr>
        <p:xfrm>
          <a:off x="1259632" y="1988840"/>
          <a:ext cx="6779097" cy="2194560"/>
        </p:xfrm>
        <a:graphic>
          <a:graphicData uri="http://schemas.openxmlformats.org/drawingml/2006/table">
            <a:tbl>
              <a:tblPr/>
              <a:tblGrid>
                <a:gridCol w="2259699">
                  <a:extLst>
                    <a:ext uri="{9D8B030D-6E8A-4147-A177-3AD203B41FA5}">
                      <a16:colId xmlns:a16="http://schemas.microsoft.com/office/drawing/2014/main" val="1313072991"/>
                    </a:ext>
                  </a:extLst>
                </a:gridCol>
                <a:gridCol w="2259699">
                  <a:extLst>
                    <a:ext uri="{9D8B030D-6E8A-4147-A177-3AD203B41FA5}">
                      <a16:colId xmlns:a16="http://schemas.microsoft.com/office/drawing/2014/main" val="3207126455"/>
                    </a:ext>
                  </a:extLst>
                </a:gridCol>
                <a:gridCol w="2259699">
                  <a:extLst>
                    <a:ext uri="{9D8B030D-6E8A-4147-A177-3AD203B41FA5}">
                      <a16:colId xmlns:a16="http://schemas.microsoft.com/office/drawing/2014/main" val="29502119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u="sng" dirty="0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u="sng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u="sng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725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%d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10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414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%b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abbreviated 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Jan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251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%B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full 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January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850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%m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month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01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301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%Y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four-digit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2026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096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245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7387" y="0"/>
            <a:ext cx="2475726" cy="490066"/>
          </a:xfrm>
        </p:spPr>
        <p:txBody>
          <a:bodyPr>
            <a:normAutofit fontScale="90000"/>
          </a:bodyPr>
          <a:lstStyle/>
          <a:p>
            <a:r>
              <a:rPr lang="en-GB" dirty="0"/>
              <a:t>Line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8640"/>
            <a:ext cx="3131840" cy="396044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Linear chart is a sequence of data points connected by a line. Useful for: </a:t>
            </a:r>
            <a:r>
              <a:rPr lang="en-US" dirty="0">
                <a:solidFill>
                  <a:srgbClr val="FF0000"/>
                </a:solidFill>
              </a:rPr>
              <a:t>change over time, trends, ordered numerical data, comparisons between several related series.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Each point consists of a pair values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can use 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GB" dirty="0"/>
              <a:t> and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n-GB" dirty="0"/>
              <a:t> kwargs to define the stroke.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table below presents the different colour codes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25" y="4332140"/>
            <a:ext cx="220980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47D670-960C-BD71-EE4E-A4B7C6A30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873" y="620688"/>
            <a:ext cx="2475726" cy="1982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35BB96-FCFA-AB36-9CBA-6BED67282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844" y="2599555"/>
            <a:ext cx="2581063" cy="18375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9D5011-7785-682B-17B8-491F24A483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62" y="692696"/>
            <a:ext cx="2876951" cy="59158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170EFD-1CB6-5A5F-3004-F642C6E73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1029" y="4379600"/>
            <a:ext cx="3258005" cy="235300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E019A3-70CD-0F69-9969-7DB92057D84E}"/>
              </a:ext>
            </a:extLst>
          </p:cNvPr>
          <p:cNvCxnSpPr>
            <a:cxnSpLocks/>
          </p:cNvCxnSpPr>
          <p:nvPr/>
        </p:nvCxnSpPr>
        <p:spPr>
          <a:xfrm>
            <a:off x="5712599" y="4906581"/>
            <a:ext cx="299563" cy="178603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678F4B-D9AA-9C0E-4F15-969A897FAE59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5712599" y="3681028"/>
            <a:ext cx="397123" cy="901517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eft Brace 20">
            <a:extLst>
              <a:ext uri="{FF2B5EF4-FFF2-40B4-BE49-F238E27FC236}">
                <a16:creationId xmlns:a16="http://schemas.microsoft.com/office/drawing/2014/main" id="{5027FE33-761F-99FA-8A4D-E3F1BEFA661E}"/>
              </a:ext>
            </a:extLst>
          </p:cNvPr>
          <p:cNvSpPr/>
          <p:nvPr/>
        </p:nvSpPr>
        <p:spPr>
          <a:xfrm>
            <a:off x="6109722" y="3356992"/>
            <a:ext cx="262478" cy="648072"/>
          </a:xfrm>
          <a:prstGeom prst="leftBrace">
            <a:avLst>
              <a:gd name="adj1" fmla="val 0"/>
              <a:gd name="adj2" fmla="val 50000"/>
            </a:avLst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014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7384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n-GB" dirty="0"/>
              <a:t>Line charts with a Pandas </a:t>
            </a:r>
            <a:r>
              <a:rPr lang="en-GB" dirty="0" err="1"/>
              <a:t>Dataframe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912" y="836712"/>
            <a:ext cx="3985087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Pandas </a:t>
            </a:r>
            <a:r>
              <a:rPr lang="en-US" dirty="0" err="1"/>
              <a:t>DataFrames</a:t>
            </a:r>
            <a:r>
              <a:rPr lang="en-US" dirty="0"/>
              <a:t> can be plotted directly using Matplotlib.</a:t>
            </a:r>
          </a:p>
          <a:p>
            <a:endParaRPr lang="en-US" dirty="0"/>
          </a:p>
          <a:p>
            <a:r>
              <a:rPr lang="en-US" dirty="0"/>
              <a:t>Each numeric column can be shown as a separate line.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(data) </a:t>
            </a:r>
            <a:r>
              <a:rPr lang="en-US" dirty="0"/>
              <a:t>creates the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</a:rPr>
              <a:t>df.plot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creates a line chart by default.</a:t>
            </a:r>
          </a:p>
          <a:p>
            <a:endParaRPr lang="en-US" dirty="0"/>
          </a:p>
          <a:p>
            <a:r>
              <a:rPr lang="en-US" dirty="0"/>
              <a:t>Pandas automatically uses the column names in the legend.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79C27A-0F7F-C9D4-0E8F-B1C7044DD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988151"/>
            <a:ext cx="3697055" cy="28083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786C49-EA5A-B6E0-576C-4B5C31760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3908607"/>
            <a:ext cx="4013385" cy="290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0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404664"/>
          </a:xfrm>
        </p:spPr>
        <p:txBody>
          <a:bodyPr>
            <a:normAutofit fontScale="90000"/>
          </a:bodyPr>
          <a:lstStyle/>
          <a:p>
            <a:r>
              <a:rPr lang="en-GB" dirty="0"/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764705"/>
            <a:ext cx="3888432" cy="5760639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GB" dirty="0"/>
              <a:t>A histogram shows the </a:t>
            </a:r>
            <a:r>
              <a:rPr lang="en-GB" b="1" dirty="0"/>
              <a:t>distribution of numerical data</a:t>
            </a:r>
            <a:r>
              <a:rPr lang="en-GB" dirty="0"/>
              <a:t> by grouping values into intervals called </a:t>
            </a:r>
            <a:r>
              <a:rPr lang="en-GB" b="1" dirty="0">
                <a:solidFill>
                  <a:srgbClr val="FF0000"/>
                </a:solidFill>
              </a:rPr>
              <a:t>bins</a:t>
            </a:r>
            <a:r>
              <a:rPr lang="en-GB" dirty="0">
                <a:solidFill>
                  <a:srgbClr val="FF0000"/>
                </a:solidFill>
              </a:rPr>
              <a:t>.</a:t>
            </a:r>
          </a:p>
          <a:p>
            <a:pPr>
              <a:buNone/>
            </a:pPr>
            <a:endParaRPr lang="en-GB" dirty="0">
              <a:solidFill>
                <a:srgbClr val="FF000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x-axis</a:t>
            </a:r>
            <a:r>
              <a:rPr lang="en-GB" dirty="0"/>
              <a:t> represents ranges of numerical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y-axis</a:t>
            </a:r>
            <a:r>
              <a:rPr lang="en-GB" dirty="0"/>
              <a:t> shows how many observations fall within each range. </a:t>
            </a:r>
          </a:p>
          <a:p>
            <a:pPr marL="0" lvl="0" indent="0">
              <a:buNone/>
            </a:pPr>
            <a:endParaRPr lang="en-GB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Unlike a bar chart, the bars normally touch because the bins represent adjacent numerical intervals.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cs typeface="Courier New" panose="02070309020205020404" pitchFamily="49" charset="0"/>
              </a:rPr>
              <a:t>The </a:t>
            </a:r>
            <a:r>
              <a:rPr lang="en-GB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hist</a:t>
            </a:r>
            <a:r>
              <a:rPr lang="en-GB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>
                <a:cs typeface="Courier New" panose="02070309020205020404" pitchFamily="49" charset="0"/>
              </a:rPr>
              <a:t>function allows you to represent a histogram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GB" i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i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ED869-A129-CA8B-EDA1-E4F014788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3573016"/>
            <a:ext cx="4182059" cy="28769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638FCB-FEB0-E50A-7400-A0578E8B6482}"/>
              </a:ext>
            </a:extLst>
          </p:cNvPr>
          <p:cNvSpPr txBox="1"/>
          <p:nvPr/>
        </p:nvSpPr>
        <p:spPr>
          <a:xfrm>
            <a:off x="4787846" y="1124744"/>
            <a:ext cx="37182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Practical example: </a:t>
            </a:r>
            <a:r>
              <a:rPr lang="en-US" sz="2400" dirty="0"/>
              <a:t>Let’s generate a population of 100 random values from 0 to 100 using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random.randint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function as seen below. </a:t>
            </a:r>
          </a:p>
        </p:txBody>
      </p:sp>
    </p:spTree>
    <p:extLst>
      <p:ext uri="{BB962C8B-B14F-4D97-AF65-F5344CB8AC3E}">
        <p14:creationId xmlns:p14="http://schemas.microsoft.com/office/powerpoint/2010/main" val="3394702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en-GB" dirty="0"/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404664"/>
            <a:ext cx="8229600" cy="187220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Now we will create the histogram of these samples by passing as an argument 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ax.hist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function.</a:t>
            </a:r>
          </a:p>
          <a:p>
            <a:r>
              <a:rPr lang="en-GB" dirty="0"/>
              <a:t>We want to divide the occurrences into 20 bins (if not specified, the default value is 10 bins)</a:t>
            </a:r>
          </a:p>
          <a:p>
            <a:r>
              <a:rPr lang="en-GB" dirty="0"/>
              <a:t>To do that, we have to use the </a:t>
            </a:r>
            <a:r>
              <a:rPr lang="en-GB" dirty="0" err="1"/>
              <a:t>kwarg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bins</a:t>
            </a:r>
            <a:r>
              <a:rPr lang="en-GB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1640" y="5913468"/>
            <a:ext cx="31683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The histogram shows the number of occurrences in each bin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2200" y="2701905"/>
            <a:ext cx="2124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Default: 10 bins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7" y="3645024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20 bins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87501B-67D4-2C09-4104-7703F35DB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441" y="2636912"/>
            <a:ext cx="3876620" cy="3051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3BEAD52-6B82-1260-3404-2173CC61F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824" y="3068960"/>
            <a:ext cx="3249320" cy="231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958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en-GB" dirty="0"/>
              <a:t>Bar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6672"/>
            <a:ext cx="8229600" cy="257034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 bar chart is used to compare values across discrete categories.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x-axis represents categories. </a:t>
            </a:r>
          </a:p>
          <a:p>
            <a:r>
              <a:rPr lang="en-US" dirty="0"/>
              <a:t>The height of each bar represents the value for that category. </a:t>
            </a:r>
          </a:p>
          <a:p>
            <a:r>
              <a:rPr lang="en-US" dirty="0"/>
              <a:t>Unlike a histogram, the bars are normally separated because the categories are distinct.</a:t>
            </a:r>
          </a:p>
          <a:p>
            <a:r>
              <a:rPr lang="en-GB" dirty="0"/>
              <a:t>The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ax.bar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function is used to create a bar chart.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53A857-7DDE-8632-5DDE-854876CBE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140968"/>
            <a:ext cx="3617667" cy="28900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DD7C1D-E826-6717-9FDE-6C4FF6BAD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833" y="3047022"/>
            <a:ext cx="4454631" cy="333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6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967" y="116632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GB" dirty="0"/>
              <a:t>Customising a Bar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1"/>
            <a:ext cx="8363272" cy="64807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Like other Matplotlib plots, bar charts can be customised using keyword arguments.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A6C93D-D56F-73A1-F853-D69E531CB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41067"/>
              </p:ext>
            </p:extLst>
          </p:nvPr>
        </p:nvGraphicFramePr>
        <p:xfrm>
          <a:off x="323527" y="1916832"/>
          <a:ext cx="4812756" cy="356616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406378">
                  <a:extLst>
                    <a:ext uri="{9D8B030D-6E8A-4147-A177-3AD203B41FA5}">
                      <a16:colId xmlns:a16="http://schemas.microsoft.com/office/drawing/2014/main" val="455617088"/>
                    </a:ext>
                  </a:extLst>
                </a:gridCol>
                <a:gridCol w="2406378">
                  <a:extLst>
                    <a:ext uri="{9D8B030D-6E8A-4147-A177-3AD203B41FA5}">
                      <a16:colId xmlns:a16="http://schemas.microsoft.com/office/drawing/2014/main" val="1193362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Argument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663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Controls the width of the bars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61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alpha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Controls transparency (0=fully transparent;  </a:t>
                      </a:r>
                    </a:p>
                    <a:p>
                      <a:pPr>
                        <a:buNone/>
                      </a:pPr>
                      <a:r>
                        <a:rPr lang="en-GB" dirty="0"/>
                        <a:t>1 = fully opaque)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228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Gives the data series a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35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yerr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Adds vertical error bars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2384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capsize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Controls the size of the error-bar caps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86263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2CD0162-1654-1DF4-C600-C3745090E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1232757"/>
            <a:ext cx="2508499" cy="27979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6F4559-0D2F-59D3-0383-053601845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395" y="4020040"/>
            <a:ext cx="3399220" cy="253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78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404664"/>
          </a:xfrm>
        </p:spPr>
        <p:txBody>
          <a:bodyPr>
            <a:normAutofit fontScale="90000"/>
          </a:bodyPr>
          <a:lstStyle/>
          <a:p>
            <a:r>
              <a:rPr lang="en-GB" dirty="0"/>
              <a:t>Bar Charts with Error Bars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620688"/>
            <a:ext cx="3312368" cy="604867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sz="3400" dirty="0"/>
              <a:t>We can add a specific kwarg as an argument in the </a:t>
            </a:r>
            <a:r>
              <a:rPr lang="en-GB" sz="3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ax.bar</a:t>
            </a:r>
            <a:r>
              <a:rPr lang="en-GB" sz="3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sz="3400" dirty="0"/>
              <a:t>function.</a:t>
            </a:r>
          </a:p>
          <a:p>
            <a:pPr marL="0" indent="0">
              <a:buNone/>
            </a:pPr>
            <a:endParaRPr lang="en-GB" sz="3400" dirty="0"/>
          </a:p>
          <a:p>
            <a:pPr marL="0" indent="0">
              <a:buNone/>
            </a:pPr>
            <a:r>
              <a:rPr lang="en-GB" sz="3400" dirty="0"/>
              <a:t>The error-bar appearance can be controlled using </a:t>
            </a:r>
            <a:r>
              <a:rPr lang="en-GB" sz="3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error_kw</a:t>
            </a:r>
            <a:r>
              <a:rPr lang="en-GB" sz="3400" dirty="0"/>
              <a:t>, for example: </a:t>
            </a:r>
          </a:p>
          <a:p>
            <a:endParaRPr lang="en-GB" sz="3400" dirty="0"/>
          </a:p>
          <a:p>
            <a:endParaRPr lang="en-GB" sz="3400" dirty="0"/>
          </a:p>
          <a:p>
            <a:endParaRPr lang="en-GB" sz="3400" dirty="0"/>
          </a:p>
          <a:p>
            <a:endParaRPr lang="en-GB" sz="3400" dirty="0"/>
          </a:p>
          <a:p>
            <a:pPr lvl="1"/>
            <a:r>
              <a:rPr lang="en-GB" sz="3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ecolor</a:t>
            </a:r>
            <a:r>
              <a:rPr lang="en-GB" sz="3400" dirty="0"/>
              <a:t>: </a:t>
            </a:r>
            <a:r>
              <a:rPr lang="en-US" sz="3400" dirty="0"/>
              <a:t>controls the </a:t>
            </a:r>
            <a:r>
              <a:rPr lang="en-US" sz="3400" dirty="0" err="1"/>
              <a:t>colour</a:t>
            </a:r>
            <a:r>
              <a:rPr lang="en-US" sz="3400" dirty="0"/>
              <a:t> of the error bars</a:t>
            </a:r>
          </a:p>
          <a:p>
            <a:pPr lvl="1"/>
            <a:r>
              <a:rPr lang="en-GB" sz="3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capsize</a:t>
            </a:r>
            <a:r>
              <a:rPr lang="en-GB" sz="3400" dirty="0"/>
              <a:t>: </a:t>
            </a:r>
            <a:r>
              <a:rPr lang="en-US" sz="3400" dirty="0"/>
              <a:t>controls the size of the caps at the ends of the error bars</a:t>
            </a:r>
            <a:endParaRPr lang="en-GB" sz="3400" dirty="0"/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The values supplied to </a:t>
            </a:r>
            <a:r>
              <a:rPr lang="en-US" sz="3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yerr</a:t>
            </a:r>
            <a:r>
              <a:rPr lang="en-US" sz="3400" dirty="0"/>
              <a:t> might represent</a:t>
            </a:r>
            <a:r>
              <a:rPr lang="en-GB" sz="3400" dirty="0"/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Standard deviation (SD)</a:t>
            </a:r>
            <a:r>
              <a:rPr lang="en-GB" dirty="0"/>
              <a:t> — variability in the observed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Standard error (SE)</a:t>
            </a:r>
            <a:r>
              <a:rPr lang="en-GB" dirty="0"/>
              <a:t> — uncertainty in the estimated mean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Confidence interval (CI)</a:t>
            </a:r>
            <a:r>
              <a:rPr lang="en-GB" dirty="0"/>
              <a:t> — a range associated with uncertainty around an estimate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50C26-6EE2-67E3-FFAC-9F2BF9768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190" y="622202"/>
            <a:ext cx="4505954" cy="30948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CD4CBB-61AD-7747-827C-AF728E131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821" y="3763170"/>
            <a:ext cx="4772691" cy="30948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BDDD80-74B3-2971-0BA4-DE9D87855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384" y="2190078"/>
            <a:ext cx="1924319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49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800" y="0"/>
            <a:ext cx="5976664" cy="346050"/>
          </a:xfrm>
        </p:spPr>
        <p:txBody>
          <a:bodyPr>
            <a:normAutofit fontScale="90000"/>
          </a:bodyPr>
          <a:lstStyle/>
          <a:p>
            <a:r>
              <a:rPr lang="en-GB" dirty="0"/>
              <a:t>Horizontal Bar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60648"/>
            <a:ext cx="2890664" cy="655272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sz="3600" dirty="0"/>
              <a:t>Horizontal bar chart are created using the </a:t>
            </a:r>
            <a:r>
              <a:rPr lang="en-GB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ax.barh</a:t>
            </a:r>
            <a:r>
              <a:rPr lang="en-GB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GB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Categories are shown on the y-axis. 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dirty="0"/>
              <a:t>Numerical values are shown on the x-axis. 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GB" sz="3600" dirty="0" err="1">
                <a:solidFill>
                  <a:srgbClr val="FF0000"/>
                </a:solidFill>
                <a:latin typeface="Courier New" panose="02070309020205020404" pitchFamily="49" charset="0"/>
              </a:rPr>
              <a:t>ax.bar</a:t>
            </a:r>
            <a:r>
              <a:rPr lang="en-GB" sz="3600" dirty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r>
              <a:rPr lang="en-GB" sz="3600" dirty="0">
                <a:solidFill>
                  <a:srgbClr val="FF0000"/>
                </a:solidFill>
              </a:rPr>
              <a:t> </a:t>
            </a:r>
            <a:r>
              <a:rPr lang="en-GB" sz="3600" dirty="0"/>
              <a:t>uses vertical bars, while </a:t>
            </a:r>
            <a:r>
              <a:rPr lang="en-GB" sz="3600" dirty="0" err="1">
                <a:solidFill>
                  <a:srgbClr val="FF0000"/>
                </a:solidFill>
                <a:latin typeface="Courier New" panose="02070309020205020404" pitchFamily="49" charset="0"/>
              </a:rPr>
              <a:t>ax.barh</a:t>
            </a:r>
            <a:r>
              <a:rPr lang="en-GB" sz="3600" dirty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r>
              <a:rPr lang="en-GB" sz="3600" dirty="0">
                <a:solidFill>
                  <a:srgbClr val="FF0000"/>
                </a:solidFill>
              </a:rPr>
              <a:t> </a:t>
            </a:r>
            <a:r>
              <a:rPr lang="en-GB" sz="3600" dirty="0"/>
              <a:t>uses horizontal bars.</a:t>
            </a:r>
            <a:endParaRPr lang="en-US" sz="3600" dirty="0"/>
          </a:p>
          <a:p>
            <a:endParaRPr lang="en-US" sz="3600" dirty="0"/>
          </a:p>
          <a:p>
            <a:pPr marL="0" indent="0">
              <a:buNone/>
            </a:pPr>
            <a:r>
              <a:rPr lang="en-US" sz="3600" dirty="0"/>
              <a:t>Many of the same </a:t>
            </a:r>
            <a:r>
              <a:rPr lang="en-US" sz="3600" dirty="0" err="1"/>
              <a:t>customisation</a:t>
            </a:r>
            <a:r>
              <a:rPr lang="en-US" sz="3600" dirty="0"/>
              <a:t> options can be used with </a:t>
            </a:r>
            <a:r>
              <a:rPr lang="en-US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barh</a:t>
            </a:r>
            <a:r>
              <a:rPr lang="en-US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3600" dirty="0"/>
              <a:t>but the roles of the x- and y-axes are reversed. 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dirty="0"/>
              <a:t>For a horizontal bar chart, use </a:t>
            </a:r>
            <a:r>
              <a:rPr lang="en-US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xerr</a:t>
            </a:r>
            <a:r>
              <a:rPr lang="en-US" sz="3600" dirty="0"/>
              <a:t> rather than </a:t>
            </a:r>
            <a:r>
              <a:rPr lang="en-US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yerr</a:t>
            </a:r>
            <a:endParaRPr lang="en-US" sz="3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600" dirty="0"/>
          </a:p>
          <a:p>
            <a:pPr marL="0" indent="0">
              <a:buNone/>
            </a:pPr>
            <a:r>
              <a:rPr lang="en-US" sz="3600" dirty="0"/>
              <a:t>Horizontal bars are particularly useful </a:t>
            </a:r>
            <a:r>
              <a:rPr lang="en-US" sz="3600" b="1" dirty="0"/>
              <a:t>when category names are long or when you want to compare many categories clearly</a:t>
            </a:r>
            <a:r>
              <a:rPr lang="en-US" sz="3600" dirty="0"/>
              <a:t>.</a:t>
            </a:r>
          </a:p>
          <a:p>
            <a:endParaRPr lang="en-GB" sz="3600" dirty="0"/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8F6C5A-1C1C-6A6C-3543-AD5516611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569242"/>
            <a:ext cx="2543704" cy="25202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9149D4-7DCF-4AA7-2A1A-FA92A839B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3" y="3089522"/>
            <a:ext cx="2508748" cy="26083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52CD9F-D179-394C-8EBD-0634334BD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184" y="569242"/>
            <a:ext cx="2692190" cy="33638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214C1E-337E-F50F-B3A6-FD999A429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184" y="4156248"/>
            <a:ext cx="2692190" cy="199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9846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283152" cy="548680"/>
          </a:xfrm>
        </p:spPr>
        <p:txBody>
          <a:bodyPr>
            <a:normAutofit/>
          </a:bodyPr>
          <a:lstStyle/>
          <a:p>
            <a:r>
              <a:rPr lang="en-GB" sz="3000" b="1" dirty="0" err="1"/>
              <a:t>Multiseries</a:t>
            </a:r>
            <a:r>
              <a:rPr lang="en-GB" sz="3000" b="1" dirty="0"/>
              <a:t> Bar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4211960" cy="316835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GB" sz="2400" dirty="0"/>
              <a:t>A </a:t>
            </a:r>
            <a:r>
              <a:rPr lang="en-GB" sz="2400" dirty="0" err="1"/>
              <a:t>multiseries</a:t>
            </a:r>
            <a:r>
              <a:rPr lang="en-GB" sz="2400" dirty="0"/>
              <a:t> bar chart compares </a:t>
            </a:r>
            <a:r>
              <a:rPr lang="en-GB" sz="2400" b="1" dirty="0"/>
              <a:t>several data series across the same categories</a:t>
            </a:r>
            <a:r>
              <a:rPr lang="en-GB" sz="2400" dirty="0"/>
              <a:t>.</a:t>
            </a:r>
          </a:p>
          <a:p>
            <a:pPr>
              <a:buNone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/>
              <a:t>Each category contains more than one bar.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/>
              <a:t>The bars are placed </a:t>
            </a:r>
            <a:r>
              <a:rPr lang="en-GB" sz="2400" b="1" dirty="0"/>
              <a:t>side by side</a:t>
            </a:r>
            <a:r>
              <a:rPr lang="en-GB" sz="2400" dirty="0"/>
              <a:t> so the series can be compared directly.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/>
              <a:t>Each series should be clearly identified using a legend.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2341B6-504F-FE7C-8E17-11F16492D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548680"/>
            <a:ext cx="3450210" cy="5040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4DFB61-25EE-3EE8-255E-CB5A726B5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96" y="3140968"/>
            <a:ext cx="4782217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70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77" y="628527"/>
            <a:ext cx="4707171" cy="27284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700" dirty="0"/>
              <a:t>A </a:t>
            </a:r>
            <a:r>
              <a:rPr lang="en-GB" sz="1700" dirty="0" err="1"/>
              <a:t>multiseries</a:t>
            </a:r>
            <a:r>
              <a:rPr lang="en-GB" sz="1700" dirty="0"/>
              <a:t> horizontal bar chart compares </a:t>
            </a:r>
            <a:r>
              <a:rPr lang="en-GB" sz="1700" b="1" dirty="0"/>
              <a:t>several data series across the same categories</a:t>
            </a:r>
            <a:r>
              <a:rPr lang="en-GB" sz="1700" dirty="0"/>
              <a:t> using </a:t>
            </a:r>
            <a:r>
              <a:rPr lang="en-GB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horizontal bars</a:t>
            </a:r>
            <a:r>
              <a:rPr lang="en-GB" sz="1700" dirty="0"/>
              <a:t>.</a:t>
            </a:r>
          </a:p>
          <a:p>
            <a:r>
              <a:rPr lang="en-GB" sz="1700" dirty="0"/>
              <a:t>Use </a:t>
            </a:r>
            <a:r>
              <a:rPr lang="en-GB" sz="1700" dirty="0" err="1">
                <a:solidFill>
                  <a:srgbClr val="FF0000"/>
                </a:solidFill>
                <a:latin typeface="Courier New" panose="02070309020205020404" pitchFamily="49" charset="0"/>
              </a:rPr>
              <a:t>ax.barh</a:t>
            </a:r>
            <a:r>
              <a:rPr lang="en-GB" sz="1700" dirty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r>
              <a:rPr lang="en-GB" sz="1700" dirty="0">
                <a:solidFill>
                  <a:srgbClr val="FF0000"/>
                </a:solidFill>
              </a:rPr>
              <a:t> </a:t>
            </a:r>
            <a:r>
              <a:rPr lang="en-GB" sz="1700" dirty="0"/>
              <a:t>instead of </a:t>
            </a:r>
            <a:r>
              <a:rPr lang="en-GB" sz="1700" dirty="0" err="1">
                <a:solidFill>
                  <a:srgbClr val="FF0000"/>
                </a:solidFill>
                <a:latin typeface="Courier New" panose="02070309020205020404" pitchFamily="49" charset="0"/>
              </a:rPr>
              <a:t>ax.bar</a:t>
            </a:r>
            <a:r>
              <a:rPr lang="en-GB" sz="1700" dirty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r>
              <a:rPr lang="en-GB" sz="1700" dirty="0">
                <a:solidFill>
                  <a:srgbClr val="FF0000"/>
                </a:solidFill>
              </a:rPr>
              <a:t>. </a:t>
            </a:r>
            <a:endParaRPr lang="en-GB" sz="1700" dirty="0"/>
          </a:p>
          <a:p>
            <a:r>
              <a:rPr lang="en-GB" sz="1700" dirty="0"/>
              <a:t>Categories are placed on the </a:t>
            </a:r>
            <a:r>
              <a:rPr lang="en-GB" sz="1700" b="1" dirty="0"/>
              <a:t>y-axis</a:t>
            </a:r>
            <a:r>
              <a:rPr lang="en-GB" sz="1700" dirty="0"/>
              <a:t>. </a:t>
            </a:r>
          </a:p>
          <a:p>
            <a:r>
              <a:rPr lang="en-GB" sz="1700" dirty="0"/>
              <a:t>Numerical values are shown on the </a:t>
            </a:r>
            <a:r>
              <a:rPr lang="en-GB" sz="1700" b="1" dirty="0"/>
              <a:t>x-axis</a:t>
            </a:r>
            <a:r>
              <a:rPr lang="en-GB" sz="1700" dirty="0"/>
              <a:t>. </a:t>
            </a:r>
          </a:p>
          <a:p>
            <a:r>
              <a:rPr lang="en-GB" sz="1700" dirty="0"/>
              <a:t>Each series is offset slightly so the bars appear side by side.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418058"/>
          </a:xfrm>
        </p:spPr>
        <p:txBody>
          <a:bodyPr>
            <a:noAutofit/>
          </a:bodyPr>
          <a:lstStyle/>
          <a:p>
            <a:r>
              <a:rPr lang="en-GB" sz="3000" dirty="0" err="1"/>
              <a:t>Multiseries</a:t>
            </a:r>
            <a:r>
              <a:rPr lang="en-GB" sz="3000" dirty="0"/>
              <a:t> Horizontal Bar Chart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FF9770-C935-CD5F-B4F4-CAF7E81BE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756864"/>
            <a:ext cx="3744416" cy="53442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72C91C-620E-2E09-001D-FAF30DC7F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77" y="3140968"/>
            <a:ext cx="4536504" cy="337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404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501476"/>
            <a:ext cx="5184576" cy="165618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GB" sz="1600" dirty="0"/>
              <a:t>Pandas can create grouped bar charts directly from a </a:t>
            </a:r>
            <a:r>
              <a:rPr lang="en-GB" sz="1600" dirty="0" err="1"/>
              <a:t>DataFrame</a:t>
            </a:r>
            <a:r>
              <a:rPr lang="en-GB" sz="16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dirty="0"/>
              <a:t>Use the </a:t>
            </a:r>
            <a:r>
              <a:rPr lang="en-GB" sz="1600" dirty="0" err="1"/>
              <a:t>DataFrame's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FF0000"/>
                </a:solidFill>
                <a:latin typeface="Courier New" panose="02070309020205020404" pitchFamily="49" charset="0"/>
              </a:rPr>
              <a:t>plot()</a:t>
            </a:r>
            <a:r>
              <a:rPr lang="en-GB" sz="1600" dirty="0">
                <a:solidFill>
                  <a:srgbClr val="FF0000"/>
                </a:solidFill>
              </a:rPr>
              <a:t> </a:t>
            </a:r>
            <a:r>
              <a:rPr lang="en-GB" sz="1600" dirty="0"/>
              <a:t>method.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dirty="0"/>
              <a:t>Set </a:t>
            </a:r>
            <a:r>
              <a:rPr lang="en-GB" sz="1600" dirty="0">
                <a:solidFill>
                  <a:srgbClr val="FF0000"/>
                </a:solidFill>
                <a:latin typeface="Courier New" panose="02070309020205020404" pitchFamily="49" charset="0"/>
              </a:rPr>
              <a:t>kind="bar"</a:t>
            </a:r>
            <a:r>
              <a:rPr lang="en-GB" sz="1600" dirty="0">
                <a:solidFill>
                  <a:srgbClr val="FF0000"/>
                </a:solidFill>
              </a:rPr>
              <a:t> </a:t>
            </a:r>
            <a:r>
              <a:rPr lang="en-GB" sz="1600" dirty="0"/>
              <a:t>for a vertical grouped bar chart.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dirty="0"/>
              <a:t>Set </a:t>
            </a:r>
            <a:r>
              <a:rPr lang="en-GB" sz="1600" dirty="0">
                <a:solidFill>
                  <a:srgbClr val="FF0000"/>
                </a:solidFill>
                <a:latin typeface="Courier New" panose="02070309020205020404" pitchFamily="49" charset="0"/>
              </a:rPr>
              <a:t>kind="</a:t>
            </a:r>
            <a:r>
              <a:rPr lang="en-GB" sz="1600" dirty="0" err="1">
                <a:solidFill>
                  <a:srgbClr val="FF0000"/>
                </a:solidFill>
                <a:latin typeface="Courier New" panose="02070309020205020404" pitchFamily="49" charset="0"/>
              </a:rPr>
              <a:t>barh</a:t>
            </a:r>
            <a:r>
              <a:rPr lang="en-GB" sz="1600" dirty="0">
                <a:solidFill>
                  <a:srgbClr val="FF0000"/>
                </a:solidFill>
                <a:latin typeface="Courier New" panose="02070309020205020404" pitchFamily="49" charset="0"/>
              </a:rPr>
              <a:t>"</a:t>
            </a:r>
            <a:r>
              <a:rPr lang="en-GB" sz="1600" dirty="0">
                <a:solidFill>
                  <a:srgbClr val="FF0000"/>
                </a:solidFill>
              </a:rPr>
              <a:t> </a:t>
            </a:r>
            <a:r>
              <a:rPr lang="en-GB" sz="1600" dirty="0"/>
              <a:t>for a horizontal grouped bar chart.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dirty="0"/>
              <a:t>Each numeric column becomes a separate data series.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40192" y="0"/>
            <a:ext cx="9036496" cy="404664"/>
          </a:xfrm>
        </p:spPr>
        <p:txBody>
          <a:bodyPr>
            <a:normAutofit fontScale="90000"/>
          </a:bodyPr>
          <a:lstStyle/>
          <a:p>
            <a:r>
              <a:rPr lang="en-GB" sz="3200" dirty="0" err="1"/>
              <a:t>Multiseries</a:t>
            </a:r>
            <a:r>
              <a:rPr lang="en-GB" sz="3200" dirty="0"/>
              <a:t> Bar Chart with pandas </a:t>
            </a:r>
            <a:r>
              <a:rPr lang="en-GB" sz="3200" dirty="0" err="1"/>
              <a:t>Dataframe</a:t>
            </a:r>
            <a:endParaRPr lang="en-GB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C3C6E-AB20-FBAF-77E0-427FB4D65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02" y="2230684"/>
            <a:ext cx="2808312" cy="27363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8587B2-929D-CEAE-0733-C294F3D2F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60" y="5033148"/>
            <a:ext cx="3096344" cy="18248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743D46-F1EE-E92A-9661-37C129224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112" y="620688"/>
            <a:ext cx="2955125" cy="34866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1BF14D-D8B6-C82C-4DD3-F358A8333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121909"/>
            <a:ext cx="3992316" cy="2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913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980" y="44624"/>
            <a:ext cx="9036496" cy="346050"/>
          </a:xfrm>
        </p:spPr>
        <p:txBody>
          <a:bodyPr>
            <a:normAutofit fontScale="90000"/>
          </a:bodyPr>
          <a:lstStyle/>
          <a:p>
            <a:r>
              <a:rPr lang="en-GB" dirty="0"/>
              <a:t>Stacked Bar Chart with Pandas </a:t>
            </a:r>
            <a:r>
              <a:rPr lang="en-GB" dirty="0" err="1"/>
              <a:t>Dataframe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548680"/>
            <a:ext cx="4752528" cy="23358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/>
              <a:t>A stacked bar chart shows how several data series contribute to the total for each category.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Each bar represents one category. </a:t>
            </a:r>
          </a:p>
          <a:p>
            <a:pPr marL="0" indent="0">
              <a:buNone/>
            </a:pPr>
            <a:r>
              <a:rPr lang="en-US" sz="1700" dirty="0"/>
              <a:t>Each </a:t>
            </a:r>
            <a:r>
              <a:rPr lang="en-US" sz="1700" dirty="0" err="1"/>
              <a:t>coloured</a:t>
            </a:r>
            <a:r>
              <a:rPr lang="en-US" sz="1700" dirty="0"/>
              <a:t> section represents one data series. 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The total height or length of the bar represents the combined value.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A502A7-559F-D92F-3F32-A659CBCFC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03" y="3042534"/>
            <a:ext cx="3077004" cy="36017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F53117-648E-D54B-7AD0-76F12442B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684" y="548680"/>
            <a:ext cx="3917288" cy="2880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A626C9-253B-6988-8512-24D65F67C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196" y="3449519"/>
            <a:ext cx="3731925" cy="2787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B0E3E6-2594-C9DA-FA63-9428C66A2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2898" y="6068957"/>
            <a:ext cx="1609950" cy="74305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5680C5-2E42-7CF3-AF34-6D7F67559389}"/>
              </a:ext>
            </a:extLst>
          </p:cNvPr>
          <p:cNvCxnSpPr>
            <a:cxnSpLocks/>
          </p:cNvCxnSpPr>
          <p:nvPr/>
        </p:nvCxnSpPr>
        <p:spPr>
          <a:xfrm flipV="1">
            <a:off x="1547664" y="3042534"/>
            <a:ext cx="3247072" cy="218803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33497F-B811-6188-9506-88E317E110C9}"/>
              </a:ext>
            </a:extLst>
          </p:cNvPr>
          <p:cNvCxnSpPr>
            <a:cxnSpLocks/>
          </p:cNvCxnSpPr>
          <p:nvPr/>
        </p:nvCxnSpPr>
        <p:spPr>
          <a:xfrm flipV="1">
            <a:off x="4657433" y="5805264"/>
            <a:ext cx="274607" cy="43204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02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476672"/>
          </a:xfrm>
        </p:spPr>
        <p:txBody>
          <a:bodyPr>
            <a:normAutofit fontScale="90000"/>
          </a:bodyPr>
          <a:lstStyle/>
          <a:p>
            <a:r>
              <a:rPr lang="en-GB" dirty="0"/>
              <a:t>Diverging bar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3960440" cy="590465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GB" sz="2800" dirty="0"/>
              <a:t>A diverging bar chart shows values extending in </a:t>
            </a:r>
            <a:r>
              <a:rPr lang="en-GB" sz="2800" b="1" dirty="0"/>
              <a:t>opposite directions from a common baseline</a:t>
            </a:r>
            <a:r>
              <a:rPr lang="en-GB" sz="2800" dirty="0"/>
              <a:t>, usually zero.</a:t>
            </a:r>
          </a:p>
          <a:p>
            <a:pPr>
              <a:buNone/>
            </a:pPr>
            <a:endParaRPr lang="en-GB" sz="2800" dirty="0"/>
          </a:p>
          <a:p>
            <a:pPr>
              <a:buNone/>
            </a:pPr>
            <a:r>
              <a:rPr lang="en-GB" sz="2800" dirty="0"/>
              <a:t>Useful when comparing: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800" dirty="0"/>
              <a:t>positive and negative values;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800" dirty="0"/>
              <a:t>increases and decreases;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800" dirty="0"/>
              <a:t>opposing groups or responses.</a:t>
            </a:r>
          </a:p>
          <a:p>
            <a:pPr marL="0" lvl="0" indent="0">
              <a:buNone/>
            </a:pPr>
            <a:endParaRPr lang="en-GB" sz="2800" dirty="0"/>
          </a:p>
          <a:p>
            <a:pPr marL="0" lvl="0" indent="0">
              <a:buNone/>
            </a:pPr>
            <a:r>
              <a:rPr lang="en-GB" sz="2800" dirty="0"/>
              <a:t>Matplotlib provides </a:t>
            </a:r>
            <a:r>
              <a:rPr lang="en-GB" sz="2800" dirty="0" err="1">
                <a:solidFill>
                  <a:srgbClr val="FF0000"/>
                </a:solidFill>
                <a:latin typeface="Courier New" panose="02070309020205020404" pitchFamily="49" charset="0"/>
              </a:rPr>
              <a:t>bar_label</a:t>
            </a:r>
            <a:r>
              <a:rPr lang="en-GB" sz="2800" dirty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r>
              <a:rPr lang="en-GB" sz="2800" dirty="0"/>
              <a:t>for adding value labels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9B0631-C63A-263C-AE78-A60DA6D2B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692697"/>
            <a:ext cx="3934374" cy="30963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70F3F5-2C06-D3B5-6623-A5887B05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924" y="3929353"/>
            <a:ext cx="3958525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007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984" y="-19170"/>
            <a:ext cx="3384376" cy="634082"/>
          </a:xfrm>
        </p:spPr>
        <p:txBody>
          <a:bodyPr>
            <a:normAutofit/>
          </a:bodyPr>
          <a:lstStyle/>
          <a:p>
            <a:r>
              <a:rPr lang="en-GB" sz="3000" dirty="0"/>
              <a:t>Pie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4624"/>
            <a:ext cx="4716018" cy="66247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A pie chart shows how categories contribute to a single whole. </a:t>
            </a:r>
            <a:r>
              <a:rPr lang="en-GB" sz="1600" dirty="0"/>
              <a:t>Use a pie chart only when: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dirty="0"/>
              <a:t>the categories represent </a:t>
            </a:r>
            <a:r>
              <a:rPr lang="en-GB" sz="1600" b="1" dirty="0"/>
              <a:t>parts of the same total</a:t>
            </a:r>
            <a:r>
              <a:rPr lang="en-GB" sz="1600" dirty="0"/>
              <a:t>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dirty="0"/>
              <a:t>the values are non-negative;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dirty="0"/>
              <a:t>there are only a small number of categories;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600" dirty="0"/>
              <a:t>comparing approximate proportions is more important than comparing precise values.</a:t>
            </a:r>
          </a:p>
          <a:p>
            <a:pPr marL="0" indent="0">
              <a:buNone/>
            </a:pPr>
            <a:endParaRPr lang="en-GB" sz="1600" dirty="0"/>
          </a:p>
          <a:p>
            <a:r>
              <a:rPr lang="en-GB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ax.pie</a:t>
            </a:r>
            <a:r>
              <a:rPr lang="en-GB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600" dirty="0"/>
              <a:t>converts the supplied values into proportions of their total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endParaRPr lang="en-GB" sz="1600" dirty="0"/>
          </a:p>
          <a:p>
            <a:r>
              <a:rPr lang="en-GB" sz="1600" dirty="0"/>
              <a:t>Use the </a:t>
            </a:r>
            <a:r>
              <a:rPr lang="en-GB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explode</a:t>
            </a:r>
            <a:r>
              <a:rPr lang="en-GB" sz="1600" dirty="0"/>
              <a:t> kwarg to highlight a slice. E.g. </a:t>
            </a:r>
            <a:r>
              <a:rPr lang="en-GB" sz="1600" b="1" dirty="0">
                <a:solidFill>
                  <a:srgbClr val="FF0000"/>
                </a:solidFill>
              </a:rPr>
              <a:t>B</a:t>
            </a:r>
          </a:p>
          <a:p>
            <a:pPr marL="0" indent="0">
              <a:buNone/>
            </a:pPr>
            <a:endParaRPr lang="en-GB" sz="1600" dirty="0"/>
          </a:p>
          <a:p>
            <a:r>
              <a:rPr lang="en-GB" sz="1600" dirty="0"/>
              <a:t>User the </a:t>
            </a:r>
            <a:r>
              <a:rPr lang="en-GB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startangle</a:t>
            </a:r>
            <a:r>
              <a:rPr lang="en-GB" sz="1600" dirty="0">
                <a:solidFill>
                  <a:srgbClr val="FF0000"/>
                </a:solidFill>
              </a:rPr>
              <a:t> </a:t>
            </a:r>
            <a:r>
              <a:rPr lang="en-GB" sz="1600" dirty="0"/>
              <a:t>to adjust the rotation of the pie. It takes an integer value between 0 and 360, which is the degree of rotation. (0 is the default)</a:t>
            </a:r>
          </a:p>
          <a:p>
            <a:endParaRPr lang="en-GB" sz="1600" dirty="0"/>
          </a:p>
          <a:p>
            <a:r>
              <a:rPr lang="en-GB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autopct</a:t>
            </a:r>
            <a:r>
              <a:rPr lang="en-GB" sz="1600" dirty="0"/>
              <a:t> </a:t>
            </a:r>
            <a:r>
              <a:rPr lang="en-US" sz="1600" dirty="0"/>
              <a:t>can be used to display those proportions as percentages.</a:t>
            </a:r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Use the </a:t>
            </a:r>
            <a:r>
              <a:rPr lang="en-GB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shadow</a:t>
            </a:r>
            <a:r>
              <a:rPr lang="en-GB" sz="1600" dirty="0"/>
              <a:t> kwarg to add a shadow to an image by setting it to True.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710C9-ABF6-CC94-2A00-081B483DF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8" y="648841"/>
            <a:ext cx="4369923" cy="2708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2A1F6A-1DB7-4E68-AB3E-7278770DA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286" y="3501008"/>
            <a:ext cx="2792474" cy="270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32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US" dirty="0"/>
              <a:t>Pie Charts with a Pandas Series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19" y="692696"/>
            <a:ext cx="4109765" cy="6048672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The pie chart can only represent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 data series at a time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US" dirty="0"/>
              <a:t>If the data are stored in a </a:t>
            </a:r>
            <a:r>
              <a:rPr lang="en-US" dirty="0" err="1"/>
              <a:t>DataFrame</a:t>
            </a:r>
            <a:r>
              <a:rPr lang="en-US" dirty="0"/>
              <a:t>, select the column that you want to </a:t>
            </a:r>
            <a:r>
              <a:rPr lang="en-US" dirty="0" err="1"/>
              <a:t>visualise</a:t>
            </a:r>
            <a:r>
              <a:rPr lang="en-US" dirty="0"/>
              <a:t>.</a:t>
            </a:r>
            <a:endParaRPr lang="en-GB" dirty="0"/>
          </a:p>
          <a:p>
            <a:endParaRPr lang="en-GB" dirty="0"/>
          </a:p>
          <a:p>
            <a:r>
              <a:rPr lang="en-GB" dirty="0"/>
              <a:t>In this example, we </a:t>
            </a:r>
            <a:r>
              <a:rPr lang="en-US" dirty="0"/>
              <a:t>select one Pandas </a:t>
            </a:r>
            <a:r>
              <a:rPr lang="en-US" b="1" dirty="0">
                <a:solidFill>
                  <a:srgbClr val="FF0000"/>
                </a:solidFill>
              </a:rPr>
              <a:t>Series </a:t>
            </a:r>
            <a:r>
              <a:rPr lang="en-US" dirty="0"/>
              <a:t>containing the values to be plotted.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kind</a:t>
            </a:r>
            <a:r>
              <a:rPr lang="en-GB" dirty="0"/>
              <a:t> kwarg is used to specify the type of chart.</a:t>
            </a:r>
          </a:p>
          <a:p>
            <a:endParaRPr lang="en-GB" dirty="0"/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autopct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=“%1.1f%%“ </a:t>
            </a:r>
            <a:r>
              <a:rPr lang="en-US" dirty="0"/>
              <a:t>displays percentages on the slices.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2BA91-2899-5C74-2A17-75DAC69AF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716" y="548680"/>
            <a:ext cx="3306460" cy="31683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FB64FF-5553-8A80-806B-C2FF585F2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782" y="3737844"/>
            <a:ext cx="2952328" cy="300352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7F85DF-06A5-1B98-FA97-DC2E687D6F91}"/>
              </a:ext>
            </a:extLst>
          </p:cNvPr>
          <p:cNvCxnSpPr/>
          <p:nvPr/>
        </p:nvCxnSpPr>
        <p:spPr>
          <a:xfrm flipH="1">
            <a:off x="3851920" y="2348880"/>
            <a:ext cx="864096" cy="79208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C57A61-485A-5723-C127-0AC16048EF1C}"/>
              </a:ext>
            </a:extLst>
          </p:cNvPr>
          <p:cNvCxnSpPr>
            <a:cxnSpLocks/>
          </p:cNvCxnSpPr>
          <p:nvPr/>
        </p:nvCxnSpPr>
        <p:spPr>
          <a:xfrm flipH="1">
            <a:off x="3635896" y="2501280"/>
            <a:ext cx="1440160" cy="186382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6275FE4-A549-608A-374D-D2E911710B29}"/>
              </a:ext>
            </a:extLst>
          </p:cNvPr>
          <p:cNvSpPr/>
          <p:nvPr/>
        </p:nvSpPr>
        <p:spPr>
          <a:xfrm>
            <a:off x="3603279" y="2636912"/>
            <a:ext cx="1440160" cy="2731793"/>
          </a:xfrm>
          <a:custGeom>
            <a:avLst/>
            <a:gdLst>
              <a:gd name="csX0" fmla="*/ 1493822 w 1493822"/>
              <a:gd name="csY0" fmla="*/ 0 h 2688879"/>
              <a:gd name="csX1" fmla="*/ 1475715 w 1493822"/>
              <a:gd name="csY1" fmla="*/ 108641 h 2688879"/>
              <a:gd name="csX2" fmla="*/ 1466662 w 1493822"/>
              <a:gd name="csY2" fmla="*/ 135802 h 2688879"/>
              <a:gd name="csX3" fmla="*/ 1439501 w 1493822"/>
              <a:gd name="csY3" fmla="*/ 199176 h 2688879"/>
              <a:gd name="csX4" fmla="*/ 1412341 w 1493822"/>
              <a:gd name="csY4" fmla="*/ 298764 h 2688879"/>
              <a:gd name="csX5" fmla="*/ 1376127 w 1493822"/>
              <a:gd name="csY5" fmla="*/ 353085 h 2688879"/>
              <a:gd name="csX6" fmla="*/ 1330860 w 1493822"/>
              <a:gd name="csY6" fmla="*/ 407406 h 2688879"/>
              <a:gd name="csX7" fmla="*/ 1222218 w 1493822"/>
              <a:gd name="csY7" fmla="*/ 470780 h 2688879"/>
              <a:gd name="csX8" fmla="*/ 1158844 w 1493822"/>
              <a:gd name="csY8" fmla="*/ 497940 h 2688879"/>
              <a:gd name="csX9" fmla="*/ 1122630 w 1493822"/>
              <a:gd name="csY9" fmla="*/ 525101 h 2688879"/>
              <a:gd name="csX10" fmla="*/ 1068309 w 1493822"/>
              <a:gd name="csY10" fmla="*/ 561315 h 2688879"/>
              <a:gd name="csX11" fmla="*/ 1041149 w 1493822"/>
              <a:gd name="csY11" fmla="*/ 579422 h 2688879"/>
              <a:gd name="csX12" fmla="*/ 959668 w 1493822"/>
              <a:gd name="csY12" fmla="*/ 697117 h 2688879"/>
              <a:gd name="csX13" fmla="*/ 941561 w 1493822"/>
              <a:gd name="csY13" fmla="*/ 742384 h 2688879"/>
              <a:gd name="csX14" fmla="*/ 914400 w 1493822"/>
              <a:gd name="csY14" fmla="*/ 778598 h 2688879"/>
              <a:gd name="csX15" fmla="*/ 887240 w 1493822"/>
              <a:gd name="csY15" fmla="*/ 823865 h 2688879"/>
              <a:gd name="csX16" fmla="*/ 860079 w 1493822"/>
              <a:gd name="csY16" fmla="*/ 878186 h 2688879"/>
              <a:gd name="csX17" fmla="*/ 832919 w 1493822"/>
              <a:gd name="csY17" fmla="*/ 905346 h 2688879"/>
              <a:gd name="csX18" fmla="*/ 814812 w 1493822"/>
              <a:gd name="csY18" fmla="*/ 932507 h 2688879"/>
              <a:gd name="csX19" fmla="*/ 805759 w 1493822"/>
              <a:gd name="csY19" fmla="*/ 968721 h 2688879"/>
              <a:gd name="csX20" fmla="*/ 742384 w 1493822"/>
              <a:gd name="csY20" fmla="*/ 1068309 h 2688879"/>
              <a:gd name="csX21" fmla="*/ 724277 w 1493822"/>
              <a:gd name="csY21" fmla="*/ 1104523 h 2688879"/>
              <a:gd name="csX22" fmla="*/ 688064 w 1493822"/>
              <a:gd name="csY22" fmla="*/ 1158843 h 2688879"/>
              <a:gd name="csX23" fmla="*/ 651850 w 1493822"/>
              <a:gd name="csY23" fmla="*/ 1231271 h 2688879"/>
              <a:gd name="csX24" fmla="*/ 633743 w 1493822"/>
              <a:gd name="csY24" fmla="*/ 1276538 h 2688879"/>
              <a:gd name="csX25" fmla="*/ 606582 w 1493822"/>
              <a:gd name="csY25" fmla="*/ 1303699 h 2688879"/>
              <a:gd name="csX26" fmla="*/ 579422 w 1493822"/>
              <a:gd name="csY26" fmla="*/ 1358020 h 2688879"/>
              <a:gd name="csX27" fmla="*/ 561315 w 1493822"/>
              <a:gd name="csY27" fmla="*/ 1412340 h 2688879"/>
              <a:gd name="csX28" fmla="*/ 534155 w 1493822"/>
              <a:gd name="csY28" fmla="*/ 1457608 h 2688879"/>
              <a:gd name="csX29" fmla="*/ 461727 w 1493822"/>
              <a:gd name="csY29" fmla="*/ 1629624 h 2688879"/>
              <a:gd name="csX30" fmla="*/ 434567 w 1493822"/>
              <a:gd name="csY30" fmla="*/ 1683944 h 2688879"/>
              <a:gd name="csX31" fmla="*/ 425513 w 1493822"/>
              <a:gd name="csY31" fmla="*/ 1738265 h 2688879"/>
              <a:gd name="csX32" fmla="*/ 389299 w 1493822"/>
              <a:gd name="csY32" fmla="*/ 1837853 h 2688879"/>
              <a:gd name="csX33" fmla="*/ 362139 w 1493822"/>
              <a:gd name="csY33" fmla="*/ 1919334 h 2688879"/>
              <a:gd name="csX34" fmla="*/ 280658 w 1493822"/>
              <a:gd name="csY34" fmla="*/ 2100404 h 2688879"/>
              <a:gd name="csX35" fmla="*/ 226337 w 1493822"/>
              <a:gd name="csY35" fmla="*/ 2245259 h 2688879"/>
              <a:gd name="csX36" fmla="*/ 208230 w 1493822"/>
              <a:gd name="csY36" fmla="*/ 2290526 h 2688879"/>
              <a:gd name="csX37" fmla="*/ 172016 w 1493822"/>
              <a:gd name="csY37" fmla="*/ 2362954 h 2688879"/>
              <a:gd name="csX38" fmla="*/ 162963 w 1493822"/>
              <a:gd name="csY38" fmla="*/ 2390115 h 2688879"/>
              <a:gd name="csX39" fmla="*/ 135802 w 1493822"/>
              <a:gd name="csY39" fmla="*/ 2426328 h 2688879"/>
              <a:gd name="csX40" fmla="*/ 90535 w 1493822"/>
              <a:gd name="csY40" fmla="*/ 2507810 h 2688879"/>
              <a:gd name="csX41" fmla="*/ 45268 w 1493822"/>
              <a:gd name="csY41" fmla="*/ 2580237 h 2688879"/>
              <a:gd name="csX42" fmla="*/ 27161 w 1493822"/>
              <a:gd name="csY42" fmla="*/ 2616451 h 2688879"/>
              <a:gd name="csX43" fmla="*/ 0 w 1493822"/>
              <a:gd name="csY43" fmla="*/ 2652665 h 2688879"/>
              <a:gd name="csX44" fmla="*/ 9054 w 1493822"/>
              <a:gd name="csY44" fmla="*/ 2580237 h 2688879"/>
              <a:gd name="csX45" fmla="*/ 0 w 1493822"/>
              <a:gd name="csY45" fmla="*/ 2534970 h 2688879"/>
              <a:gd name="csX46" fmla="*/ 9054 w 1493822"/>
              <a:gd name="csY46" fmla="*/ 2688879 h 2688879"/>
              <a:gd name="csX47" fmla="*/ 81481 w 1493822"/>
              <a:gd name="csY47" fmla="*/ 2652665 h 2688879"/>
              <a:gd name="csX48" fmla="*/ 153909 w 1493822"/>
              <a:gd name="csY48" fmla="*/ 2598344 h 2688879"/>
              <a:gd name="csX49" fmla="*/ 144856 w 1493822"/>
              <a:gd name="csY49" fmla="*/ 2580237 h 26888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493822" h="2688879">
                <a:moveTo>
                  <a:pt x="1493822" y="0"/>
                </a:moveTo>
                <a:cubicBezTo>
                  <a:pt x="1486473" y="58794"/>
                  <a:pt x="1489009" y="62110"/>
                  <a:pt x="1475715" y="108641"/>
                </a:cubicBezTo>
                <a:cubicBezTo>
                  <a:pt x="1473093" y="117817"/>
                  <a:pt x="1470421" y="127030"/>
                  <a:pt x="1466662" y="135802"/>
                </a:cubicBezTo>
                <a:cubicBezTo>
                  <a:pt x="1451118" y="172072"/>
                  <a:pt x="1447993" y="165208"/>
                  <a:pt x="1439501" y="199176"/>
                </a:cubicBezTo>
                <a:cubicBezTo>
                  <a:pt x="1429566" y="238916"/>
                  <a:pt x="1431765" y="259915"/>
                  <a:pt x="1412341" y="298764"/>
                </a:cubicBezTo>
                <a:cubicBezTo>
                  <a:pt x="1402609" y="318228"/>
                  <a:pt x="1388198" y="334978"/>
                  <a:pt x="1376127" y="353085"/>
                </a:cubicBezTo>
                <a:cubicBezTo>
                  <a:pt x="1361374" y="375215"/>
                  <a:pt x="1353410" y="391006"/>
                  <a:pt x="1330860" y="407406"/>
                </a:cubicBezTo>
                <a:cubicBezTo>
                  <a:pt x="1306821" y="424889"/>
                  <a:pt x="1255532" y="456503"/>
                  <a:pt x="1222218" y="470780"/>
                </a:cubicBezTo>
                <a:cubicBezTo>
                  <a:pt x="1183013" y="487582"/>
                  <a:pt x="1202520" y="470642"/>
                  <a:pt x="1158844" y="497940"/>
                </a:cubicBezTo>
                <a:cubicBezTo>
                  <a:pt x="1146048" y="505937"/>
                  <a:pt x="1134992" y="516448"/>
                  <a:pt x="1122630" y="525101"/>
                </a:cubicBezTo>
                <a:cubicBezTo>
                  <a:pt x="1104802" y="537581"/>
                  <a:pt x="1086416" y="549244"/>
                  <a:pt x="1068309" y="561315"/>
                </a:cubicBezTo>
                <a:cubicBezTo>
                  <a:pt x="1059256" y="567351"/>
                  <a:pt x="1047946" y="570926"/>
                  <a:pt x="1041149" y="579422"/>
                </a:cubicBezTo>
                <a:cubicBezTo>
                  <a:pt x="1014275" y="613015"/>
                  <a:pt x="975212" y="658258"/>
                  <a:pt x="959668" y="697117"/>
                </a:cubicBezTo>
                <a:cubicBezTo>
                  <a:pt x="953632" y="712206"/>
                  <a:pt x="949453" y="728178"/>
                  <a:pt x="941561" y="742384"/>
                </a:cubicBezTo>
                <a:cubicBezTo>
                  <a:pt x="934233" y="755574"/>
                  <a:pt x="922770" y="766043"/>
                  <a:pt x="914400" y="778598"/>
                </a:cubicBezTo>
                <a:cubicBezTo>
                  <a:pt x="904639" y="793239"/>
                  <a:pt x="895666" y="808417"/>
                  <a:pt x="887240" y="823865"/>
                </a:cubicBezTo>
                <a:cubicBezTo>
                  <a:pt x="877546" y="841637"/>
                  <a:pt x="871309" y="861342"/>
                  <a:pt x="860079" y="878186"/>
                </a:cubicBezTo>
                <a:cubicBezTo>
                  <a:pt x="852977" y="888839"/>
                  <a:pt x="841115" y="895510"/>
                  <a:pt x="832919" y="905346"/>
                </a:cubicBezTo>
                <a:cubicBezTo>
                  <a:pt x="825953" y="913705"/>
                  <a:pt x="820848" y="923453"/>
                  <a:pt x="814812" y="932507"/>
                </a:cubicBezTo>
                <a:cubicBezTo>
                  <a:pt x="811794" y="944578"/>
                  <a:pt x="810128" y="957070"/>
                  <a:pt x="805759" y="968721"/>
                </a:cubicBezTo>
                <a:cubicBezTo>
                  <a:pt x="789810" y="1011251"/>
                  <a:pt x="769011" y="1026467"/>
                  <a:pt x="742384" y="1068309"/>
                </a:cubicBezTo>
                <a:cubicBezTo>
                  <a:pt x="735138" y="1079695"/>
                  <a:pt x="731221" y="1092950"/>
                  <a:pt x="724277" y="1104523"/>
                </a:cubicBezTo>
                <a:cubicBezTo>
                  <a:pt x="713081" y="1123183"/>
                  <a:pt x="698861" y="1139949"/>
                  <a:pt x="688064" y="1158843"/>
                </a:cubicBezTo>
                <a:cubicBezTo>
                  <a:pt x="674672" y="1182279"/>
                  <a:pt x="661875" y="1206209"/>
                  <a:pt x="651850" y="1231271"/>
                </a:cubicBezTo>
                <a:cubicBezTo>
                  <a:pt x="645814" y="1246360"/>
                  <a:pt x="642356" y="1262757"/>
                  <a:pt x="633743" y="1276538"/>
                </a:cubicBezTo>
                <a:cubicBezTo>
                  <a:pt x="626957" y="1287396"/>
                  <a:pt x="615636" y="1294645"/>
                  <a:pt x="606582" y="1303699"/>
                </a:cubicBezTo>
                <a:cubicBezTo>
                  <a:pt x="597529" y="1321806"/>
                  <a:pt x="587208" y="1339333"/>
                  <a:pt x="579422" y="1358020"/>
                </a:cubicBezTo>
                <a:cubicBezTo>
                  <a:pt x="572081" y="1375638"/>
                  <a:pt x="569213" y="1394965"/>
                  <a:pt x="561315" y="1412340"/>
                </a:cubicBezTo>
                <a:cubicBezTo>
                  <a:pt x="554033" y="1428360"/>
                  <a:pt x="542025" y="1441869"/>
                  <a:pt x="534155" y="1457608"/>
                </a:cubicBezTo>
                <a:cubicBezTo>
                  <a:pt x="495567" y="1534785"/>
                  <a:pt x="497140" y="1548680"/>
                  <a:pt x="461727" y="1629624"/>
                </a:cubicBezTo>
                <a:cubicBezTo>
                  <a:pt x="453613" y="1648171"/>
                  <a:pt x="443620" y="1665837"/>
                  <a:pt x="434567" y="1683944"/>
                </a:cubicBezTo>
                <a:cubicBezTo>
                  <a:pt x="431549" y="1702051"/>
                  <a:pt x="429965" y="1720456"/>
                  <a:pt x="425513" y="1738265"/>
                </a:cubicBezTo>
                <a:cubicBezTo>
                  <a:pt x="414239" y="1783359"/>
                  <a:pt x="404300" y="1795849"/>
                  <a:pt x="389299" y="1837853"/>
                </a:cubicBezTo>
                <a:cubicBezTo>
                  <a:pt x="379670" y="1864815"/>
                  <a:pt x="373085" y="1892880"/>
                  <a:pt x="362139" y="1919334"/>
                </a:cubicBezTo>
                <a:cubicBezTo>
                  <a:pt x="336833" y="1980491"/>
                  <a:pt x="299677" y="2037009"/>
                  <a:pt x="280658" y="2100404"/>
                </a:cubicBezTo>
                <a:cubicBezTo>
                  <a:pt x="236351" y="2248091"/>
                  <a:pt x="274866" y="2138494"/>
                  <a:pt x="226337" y="2245259"/>
                </a:cubicBezTo>
                <a:cubicBezTo>
                  <a:pt x="219612" y="2260054"/>
                  <a:pt x="215040" y="2275770"/>
                  <a:pt x="208230" y="2290526"/>
                </a:cubicBezTo>
                <a:cubicBezTo>
                  <a:pt x="196919" y="2315034"/>
                  <a:pt x="180551" y="2337347"/>
                  <a:pt x="172016" y="2362954"/>
                </a:cubicBezTo>
                <a:cubicBezTo>
                  <a:pt x="168998" y="2372008"/>
                  <a:pt x="167698" y="2381829"/>
                  <a:pt x="162963" y="2390115"/>
                </a:cubicBezTo>
                <a:cubicBezTo>
                  <a:pt x="155477" y="2403216"/>
                  <a:pt x="144856" y="2414257"/>
                  <a:pt x="135802" y="2426328"/>
                </a:cubicBezTo>
                <a:cubicBezTo>
                  <a:pt x="119168" y="2476234"/>
                  <a:pt x="133639" y="2440760"/>
                  <a:pt x="90535" y="2507810"/>
                </a:cubicBezTo>
                <a:cubicBezTo>
                  <a:pt x="75140" y="2531758"/>
                  <a:pt x="58000" y="2554773"/>
                  <a:pt x="45268" y="2580237"/>
                </a:cubicBezTo>
                <a:cubicBezTo>
                  <a:pt x="39232" y="2592308"/>
                  <a:pt x="34314" y="2605006"/>
                  <a:pt x="27161" y="2616451"/>
                </a:cubicBezTo>
                <a:cubicBezTo>
                  <a:pt x="19164" y="2629247"/>
                  <a:pt x="9054" y="2640594"/>
                  <a:pt x="0" y="2652665"/>
                </a:cubicBezTo>
                <a:cubicBezTo>
                  <a:pt x="3018" y="2628522"/>
                  <a:pt x="9054" y="2604568"/>
                  <a:pt x="9054" y="2580237"/>
                </a:cubicBezTo>
                <a:cubicBezTo>
                  <a:pt x="9054" y="2564849"/>
                  <a:pt x="0" y="2519582"/>
                  <a:pt x="0" y="2534970"/>
                </a:cubicBezTo>
                <a:cubicBezTo>
                  <a:pt x="0" y="2586362"/>
                  <a:pt x="6036" y="2637576"/>
                  <a:pt x="9054" y="2688879"/>
                </a:cubicBezTo>
                <a:cubicBezTo>
                  <a:pt x="72598" y="2672992"/>
                  <a:pt x="19923" y="2691139"/>
                  <a:pt x="81481" y="2652665"/>
                </a:cubicBezTo>
                <a:cubicBezTo>
                  <a:pt x="150126" y="2609762"/>
                  <a:pt x="86444" y="2665809"/>
                  <a:pt x="153909" y="2598344"/>
                </a:cubicBezTo>
                <a:cubicBezTo>
                  <a:pt x="165097" y="2564782"/>
                  <a:pt x="171499" y="2566916"/>
                  <a:pt x="144856" y="2580237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936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0529" y="-35858"/>
            <a:ext cx="2000906" cy="418058"/>
          </a:xfrm>
        </p:spPr>
        <p:txBody>
          <a:bodyPr>
            <a:noAutofit/>
          </a:bodyPr>
          <a:lstStyle/>
          <a:p>
            <a:r>
              <a:rPr lang="en-GB" sz="3000" dirty="0"/>
              <a:t>Scatter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4211960" cy="167122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Scatter() </a:t>
            </a:r>
            <a:r>
              <a:rPr lang="en-GB" dirty="0"/>
              <a:t>A scatter plot shows the relationship between </a:t>
            </a:r>
            <a:r>
              <a:rPr lang="en-GB" b="1" dirty="0"/>
              <a:t>two numerical variables</a:t>
            </a:r>
            <a:r>
              <a:rPr lang="en-GB" dirty="0"/>
              <a:t>.</a:t>
            </a:r>
          </a:p>
          <a:p>
            <a:r>
              <a:rPr lang="en-GB" dirty="0"/>
              <a:t>Each point represents one observation with an (x, y) pair.</a:t>
            </a:r>
          </a:p>
          <a:p>
            <a:pPr marL="0" indent="0">
              <a:buNone/>
            </a:pPr>
            <a:r>
              <a:rPr lang="en-GB" dirty="0"/>
              <a:t>Scatter plots are useful for identifying: </a:t>
            </a:r>
            <a:r>
              <a:rPr lang="en-GB" dirty="0">
                <a:solidFill>
                  <a:srgbClr val="FF0000"/>
                </a:solidFill>
              </a:rPr>
              <a:t>positive or negative relationships</a:t>
            </a:r>
            <a:r>
              <a:rPr lang="en-GB" dirty="0"/>
              <a:t>; </a:t>
            </a:r>
            <a:r>
              <a:rPr lang="en-GB" dirty="0">
                <a:solidFill>
                  <a:srgbClr val="FF0000"/>
                </a:solidFill>
              </a:rPr>
              <a:t>clusters; gaps; unusual observations or outliers.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F71D6-1E4A-FD5F-915A-679AD75DA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77" y="2335217"/>
            <a:ext cx="2423030" cy="2187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45F2F0-B7E2-0051-6F2D-0207E29B1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77" y="4638091"/>
            <a:ext cx="2351023" cy="2134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8E0E26-8346-9E44-88F6-A5436C595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321" y="3501008"/>
            <a:ext cx="2959358" cy="34689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6AC060-D93A-2FA9-A2D0-29A611A64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8260" y="1218598"/>
            <a:ext cx="3186382" cy="24645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1B397C-E5A3-2D4A-A2BB-9D0BC11A58C2}"/>
              </a:ext>
            </a:extLst>
          </p:cNvPr>
          <p:cNvSpPr txBox="1"/>
          <p:nvPr/>
        </p:nvSpPr>
        <p:spPr>
          <a:xfrm>
            <a:off x="4551014" y="4458835"/>
            <a:ext cx="1502300" cy="1246495"/>
          </a:xfrm>
          <a:custGeom>
            <a:avLst/>
            <a:gdLst>
              <a:gd name="csX0" fmla="*/ 0 w 1502300"/>
              <a:gd name="csY0" fmla="*/ 0 h 1246495"/>
              <a:gd name="csX1" fmla="*/ 485744 w 1502300"/>
              <a:gd name="csY1" fmla="*/ 0 h 1246495"/>
              <a:gd name="csX2" fmla="*/ 941441 w 1502300"/>
              <a:gd name="csY2" fmla="*/ 0 h 1246495"/>
              <a:gd name="csX3" fmla="*/ 1502300 w 1502300"/>
              <a:gd name="csY3" fmla="*/ 0 h 1246495"/>
              <a:gd name="csX4" fmla="*/ 1502300 w 1502300"/>
              <a:gd name="csY4" fmla="*/ 403033 h 1246495"/>
              <a:gd name="csX5" fmla="*/ 1502300 w 1502300"/>
              <a:gd name="csY5" fmla="*/ 793602 h 1246495"/>
              <a:gd name="csX6" fmla="*/ 1502300 w 1502300"/>
              <a:gd name="csY6" fmla="*/ 1246495 h 1246495"/>
              <a:gd name="csX7" fmla="*/ 1001533 w 1502300"/>
              <a:gd name="csY7" fmla="*/ 1246495 h 1246495"/>
              <a:gd name="csX8" fmla="*/ 470721 w 1502300"/>
              <a:gd name="csY8" fmla="*/ 1246495 h 1246495"/>
              <a:gd name="csX9" fmla="*/ 0 w 1502300"/>
              <a:gd name="csY9" fmla="*/ 1246495 h 1246495"/>
              <a:gd name="csX10" fmla="*/ 0 w 1502300"/>
              <a:gd name="csY10" fmla="*/ 830997 h 1246495"/>
              <a:gd name="csX11" fmla="*/ 0 w 1502300"/>
              <a:gd name="csY11" fmla="*/ 427963 h 1246495"/>
              <a:gd name="csX12" fmla="*/ 0 w 1502300"/>
              <a:gd name="csY12" fmla="*/ 0 h 1246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502300" h="1246495" extrusionOk="0">
                <a:moveTo>
                  <a:pt x="0" y="0"/>
                </a:moveTo>
                <a:cubicBezTo>
                  <a:pt x="155193" y="-46425"/>
                  <a:pt x="321643" y="22368"/>
                  <a:pt x="485744" y="0"/>
                </a:cubicBezTo>
                <a:cubicBezTo>
                  <a:pt x="649845" y="-22368"/>
                  <a:pt x="783564" y="12368"/>
                  <a:pt x="941441" y="0"/>
                </a:cubicBezTo>
                <a:cubicBezTo>
                  <a:pt x="1099318" y="-12368"/>
                  <a:pt x="1287877" y="58460"/>
                  <a:pt x="1502300" y="0"/>
                </a:cubicBezTo>
                <a:cubicBezTo>
                  <a:pt x="1549286" y="188492"/>
                  <a:pt x="1474887" y="223355"/>
                  <a:pt x="1502300" y="403033"/>
                </a:cubicBezTo>
                <a:cubicBezTo>
                  <a:pt x="1529713" y="582711"/>
                  <a:pt x="1484379" y="608844"/>
                  <a:pt x="1502300" y="793602"/>
                </a:cubicBezTo>
                <a:cubicBezTo>
                  <a:pt x="1520221" y="978360"/>
                  <a:pt x="1479592" y="1032844"/>
                  <a:pt x="1502300" y="1246495"/>
                </a:cubicBezTo>
                <a:cubicBezTo>
                  <a:pt x="1273125" y="1292269"/>
                  <a:pt x="1230998" y="1224125"/>
                  <a:pt x="1001533" y="1246495"/>
                </a:cubicBezTo>
                <a:cubicBezTo>
                  <a:pt x="772068" y="1268865"/>
                  <a:pt x="712496" y="1218077"/>
                  <a:pt x="470721" y="1246495"/>
                </a:cubicBezTo>
                <a:cubicBezTo>
                  <a:pt x="228946" y="1274913"/>
                  <a:pt x="133215" y="1216506"/>
                  <a:pt x="0" y="1246495"/>
                </a:cubicBezTo>
                <a:cubicBezTo>
                  <a:pt x="-9058" y="1138810"/>
                  <a:pt x="16367" y="930041"/>
                  <a:pt x="0" y="830997"/>
                </a:cubicBezTo>
                <a:cubicBezTo>
                  <a:pt x="-16367" y="731953"/>
                  <a:pt x="3943" y="601069"/>
                  <a:pt x="0" y="427963"/>
                </a:cubicBezTo>
                <a:cubicBezTo>
                  <a:pt x="-3943" y="254857"/>
                  <a:pt x="23075" y="150330"/>
                  <a:pt x="0" y="0"/>
                </a:cubicBezTo>
                <a:close/>
              </a:path>
            </a:pathLst>
          </a:custGeom>
          <a:noFill/>
          <a:ln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B0F0"/>
                </a:solidFill>
              </a:rPr>
              <a:t>Scatter plots can encode extra information using marker size and </a:t>
            </a:r>
            <a:r>
              <a:rPr lang="en-US" sz="1500" dirty="0" err="1">
                <a:solidFill>
                  <a:srgbClr val="00B0F0"/>
                </a:solidFill>
              </a:rPr>
              <a:t>colour</a:t>
            </a:r>
            <a:r>
              <a:rPr lang="en-US" sz="1500" dirty="0">
                <a:solidFill>
                  <a:srgbClr val="00B0F0"/>
                </a:solidFill>
              </a:rPr>
              <a:t>.</a:t>
            </a:r>
            <a:endParaRPr lang="en-GB" sz="1500" dirty="0">
              <a:solidFill>
                <a:srgbClr val="00B0F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04F053E-4E95-9CD8-0228-E26182125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703" y="0"/>
            <a:ext cx="2762796" cy="49411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4B9A15F-D08E-14F6-F48F-778DFBC8DC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4208" y="5010868"/>
            <a:ext cx="2504011" cy="182154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0D4F2E1-1F8D-E431-CD68-E80CAB39CC7B}"/>
              </a:ext>
            </a:extLst>
          </p:cNvPr>
          <p:cNvSpPr txBox="1"/>
          <p:nvPr/>
        </p:nvSpPr>
        <p:spPr>
          <a:xfrm>
            <a:off x="7286769" y="1772816"/>
            <a:ext cx="1836439" cy="2046714"/>
          </a:xfrm>
          <a:custGeom>
            <a:avLst/>
            <a:gdLst>
              <a:gd name="csX0" fmla="*/ 0 w 1836439"/>
              <a:gd name="csY0" fmla="*/ 0 h 2046714"/>
              <a:gd name="csX1" fmla="*/ 593782 w 1836439"/>
              <a:gd name="csY1" fmla="*/ 0 h 2046714"/>
              <a:gd name="csX2" fmla="*/ 1150835 w 1836439"/>
              <a:gd name="csY2" fmla="*/ 0 h 2046714"/>
              <a:gd name="csX3" fmla="*/ 1836439 w 1836439"/>
              <a:gd name="csY3" fmla="*/ 0 h 2046714"/>
              <a:gd name="csX4" fmla="*/ 1836439 w 1836439"/>
              <a:gd name="csY4" fmla="*/ 661771 h 2046714"/>
              <a:gd name="csX5" fmla="*/ 1836439 w 1836439"/>
              <a:gd name="csY5" fmla="*/ 1303075 h 2046714"/>
              <a:gd name="csX6" fmla="*/ 1836439 w 1836439"/>
              <a:gd name="csY6" fmla="*/ 2046714 h 2046714"/>
              <a:gd name="csX7" fmla="*/ 1224293 w 1836439"/>
              <a:gd name="csY7" fmla="*/ 2046714 h 2046714"/>
              <a:gd name="csX8" fmla="*/ 575418 w 1836439"/>
              <a:gd name="csY8" fmla="*/ 2046714 h 2046714"/>
              <a:gd name="csX9" fmla="*/ 0 w 1836439"/>
              <a:gd name="csY9" fmla="*/ 2046714 h 2046714"/>
              <a:gd name="csX10" fmla="*/ 0 w 1836439"/>
              <a:gd name="csY10" fmla="*/ 1364476 h 2046714"/>
              <a:gd name="csX11" fmla="*/ 0 w 1836439"/>
              <a:gd name="csY11" fmla="*/ 702705 h 2046714"/>
              <a:gd name="csX12" fmla="*/ 0 w 1836439"/>
              <a:gd name="csY12" fmla="*/ 0 h 2046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36439" h="2046714" extrusionOk="0">
                <a:moveTo>
                  <a:pt x="0" y="0"/>
                </a:moveTo>
                <a:cubicBezTo>
                  <a:pt x="205659" y="25427"/>
                  <a:pt x="459113" y="-9279"/>
                  <a:pt x="593782" y="0"/>
                </a:cubicBezTo>
                <a:cubicBezTo>
                  <a:pt x="728451" y="9279"/>
                  <a:pt x="945866" y="3106"/>
                  <a:pt x="1150835" y="0"/>
                </a:cubicBezTo>
                <a:cubicBezTo>
                  <a:pt x="1355804" y="-3106"/>
                  <a:pt x="1522105" y="20814"/>
                  <a:pt x="1836439" y="0"/>
                </a:cubicBezTo>
                <a:cubicBezTo>
                  <a:pt x="1834228" y="228294"/>
                  <a:pt x="1869369" y="437718"/>
                  <a:pt x="1836439" y="661771"/>
                </a:cubicBezTo>
                <a:cubicBezTo>
                  <a:pt x="1803509" y="885824"/>
                  <a:pt x="1824447" y="1159742"/>
                  <a:pt x="1836439" y="1303075"/>
                </a:cubicBezTo>
                <a:cubicBezTo>
                  <a:pt x="1848431" y="1446408"/>
                  <a:pt x="1862167" y="1710682"/>
                  <a:pt x="1836439" y="2046714"/>
                </a:cubicBezTo>
                <a:cubicBezTo>
                  <a:pt x="1634294" y="2060162"/>
                  <a:pt x="1348385" y="2033448"/>
                  <a:pt x="1224293" y="2046714"/>
                </a:cubicBezTo>
                <a:cubicBezTo>
                  <a:pt x="1100201" y="2059980"/>
                  <a:pt x="813584" y="2076289"/>
                  <a:pt x="575418" y="2046714"/>
                </a:cubicBezTo>
                <a:cubicBezTo>
                  <a:pt x="337252" y="2017139"/>
                  <a:pt x="208282" y="2030428"/>
                  <a:pt x="0" y="2046714"/>
                </a:cubicBezTo>
                <a:cubicBezTo>
                  <a:pt x="12849" y="1786679"/>
                  <a:pt x="-18194" y="1633856"/>
                  <a:pt x="0" y="1364476"/>
                </a:cubicBezTo>
                <a:cubicBezTo>
                  <a:pt x="18194" y="1095096"/>
                  <a:pt x="-6732" y="896486"/>
                  <a:pt x="0" y="702705"/>
                </a:cubicBezTo>
                <a:cubicBezTo>
                  <a:pt x="6732" y="508924"/>
                  <a:pt x="30967" y="289741"/>
                  <a:pt x="0" y="0"/>
                </a:cubicBezTo>
                <a:close/>
              </a:path>
            </a:pathLst>
          </a:custGeom>
          <a:noFill/>
          <a:ln>
            <a:solidFill>
              <a:srgbClr val="FFFF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rng.integers</a:t>
            </a:r>
            <a:r>
              <a:rPr lang="en-US" sz="1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400" dirty="0">
                <a:solidFill>
                  <a:srgbClr val="FFFF00"/>
                </a:solidFill>
              </a:rPr>
              <a:t>generates random integer values. </a:t>
            </a:r>
          </a:p>
          <a:p>
            <a:r>
              <a:rPr lang="en-US" sz="1400" dirty="0">
                <a:solidFill>
                  <a:srgbClr val="FFFF00"/>
                </a:solidFill>
              </a:rPr>
              <a:t>Group 1 is generated from a lower x-value range. </a:t>
            </a:r>
          </a:p>
          <a:p>
            <a:r>
              <a:rPr lang="en-US" sz="1400" dirty="0">
                <a:solidFill>
                  <a:srgbClr val="FFFF00"/>
                </a:solidFill>
              </a:rPr>
              <a:t>Group 2 is generated from a higher x-value range</a:t>
            </a:r>
            <a:r>
              <a:rPr lang="en-US" sz="1500" dirty="0">
                <a:solidFill>
                  <a:srgbClr val="FFFF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06989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7" y="0"/>
            <a:ext cx="3456384" cy="476672"/>
          </a:xfrm>
        </p:spPr>
        <p:txBody>
          <a:bodyPr>
            <a:normAutofit fontScale="90000"/>
          </a:bodyPr>
          <a:lstStyle/>
          <a:p>
            <a:r>
              <a:rPr lang="en-GB" dirty="0"/>
              <a:t>Box Plots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A91D1-8E90-3205-D5AE-3663F61553BE}"/>
              </a:ext>
            </a:extLst>
          </p:cNvPr>
          <p:cNvSpPr txBox="1"/>
          <p:nvPr/>
        </p:nvSpPr>
        <p:spPr>
          <a:xfrm>
            <a:off x="0" y="620688"/>
            <a:ext cx="40679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box plot </a:t>
            </a:r>
            <a:r>
              <a:rPr lang="en-US" dirty="0" err="1"/>
              <a:t>summarises</a:t>
            </a:r>
            <a:r>
              <a:rPr lang="en-US" dirty="0"/>
              <a:t> the distribution of numerical data. </a:t>
            </a:r>
          </a:p>
          <a:p>
            <a:endParaRPr lang="en-US" dirty="0"/>
          </a:p>
          <a:p>
            <a:r>
              <a:rPr lang="en-US" dirty="0"/>
              <a:t>It can help us compare: the </a:t>
            </a:r>
            <a:r>
              <a:rPr lang="en-US" dirty="0">
                <a:solidFill>
                  <a:srgbClr val="FF0000"/>
                </a:solidFill>
              </a:rPr>
              <a:t>median</a:t>
            </a:r>
            <a:r>
              <a:rPr lang="en-US" dirty="0"/>
              <a:t>, the </a:t>
            </a:r>
            <a:r>
              <a:rPr lang="en-US" dirty="0">
                <a:solidFill>
                  <a:srgbClr val="FF0000"/>
                </a:solidFill>
              </a:rPr>
              <a:t>spread</a:t>
            </a:r>
            <a:r>
              <a:rPr lang="en-US" dirty="0"/>
              <a:t> of the middle 50% of values possible </a:t>
            </a:r>
            <a:r>
              <a:rPr lang="en-US" dirty="0">
                <a:solidFill>
                  <a:srgbClr val="FF0000"/>
                </a:solidFill>
              </a:rPr>
              <a:t>outliers,</a:t>
            </a:r>
            <a:r>
              <a:rPr lang="en-US" dirty="0"/>
              <a:t> and differences between groups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53F93B-CF2D-9EA2-ED52-49BB59B773D3}"/>
              </a:ext>
            </a:extLst>
          </p:cNvPr>
          <p:cNvSpPr txBox="1"/>
          <p:nvPr/>
        </p:nvSpPr>
        <p:spPr>
          <a:xfrm>
            <a:off x="116832" y="2939971"/>
            <a:ext cx="3256054" cy="369331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The line inside the box shows the </a:t>
            </a:r>
            <a:r>
              <a:rPr lang="en-GB" b="1" dirty="0"/>
              <a:t>median</a:t>
            </a:r>
            <a:r>
              <a:rPr lang="en-GB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The box covers the </a:t>
            </a:r>
            <a:r>
              <a:rPr lang="en-GB" b="1" dirty="0"/>
              <a:t>interquartile range (IQR)</a:t>
            </a:r>
            <a:r>
              <a:rPr lang="en-GB" dirty="0"/>
              <a:t>, from Q1 to Q3.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The whiskers extend to values within the usual whisker rule.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Points beyond the whiskers may be shown as </a:t>
            </a:r>
            <a:r>
              <a:rPr lang="en-GB" b="1" dirty="0"/>
              <a:t>potential outliers</a:t>
            </a:r>
            <a:r>
              <a:rPr lang="en-GB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0C978A-674A-1F17-49C4-530C60F2D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231636"/>
            <a:ext cx="3120026" cy="2774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A454F2-73E5-76EA-38EE-AC35AADF7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3005761"/>
            <a:ext cx="5153744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796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D9369-8ED3-35A5-9D5B-234DC562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4978896" cy="346050"/>
          </a:xfrm>
        </p:spPr>
        <p:txBody>
          <a:bodyPr>
            <a:noAutofit/>
          </a:bodyPr>
          <a:lstStyle/>
          <a:p>
            <a:r>
              <a:rPr lang="en-GB" sz="2500" b="1" u="sng" dirty="0"/>
              <a:t>Box Plots with a Pandas </a:t>
            </a:r>
            <a:r>
              <a:rPr lang="en-GB" sz="2500" b="1" u="sng" dirty="0" err="1"/>
              <a:t>DataFrame</a:t>
            </a:r>
            <a:endParaRPr lang="en-GB" sz="25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B357C-F973-4238-EEC7-6EE6EF9CB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9"/>
            <a:ext cx="4978896" cy="23762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Pandas can create box plots directly from data stored in a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particularly useful when we want to compare the </a:t>
            </a:r>
            <a:r>
              <a:rPr lang="en-US" dirty="0">
                <a:solidFill>
                  <a:srgbClr val="FF0000"/>
                </a:solidFill>
              </a:rPr>
              <a:t>distribution of a numerical variable across several categories.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8FEDC-CA3E-202A-6BBA-ECCF2A011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44624"/>
            <a:ext cx="3396672" cy="4079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CF4F7F-AF2A-7ED4-75DC-E613D0CD5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62" y="2852936"/>
            <a:ext cx="5258534" cy="35533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10059D-092B-F2E4-3332-74E88B83B324}"/>
              </a:ext>
            </a:extLst>
          </p:cNvPr>
          <p:cNvSpPr txBox="1"/>
          <p:nvPr/>
        </p:nvSpPr>
        <p:spPr>
          <a:xfrm>
            <a:off x="5508104" y="4305869"/>
            <a:ext cx="36126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Why use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plt.suptitle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("")</a:t>
            </a:r>
            <a:r>
              <a:rPr lang="en-GB" b="1" dirty="0"/>
              <a:t>?</a:t>
            </a:r>
          </a:p>
          <a:p>
            <a:pPr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DataFrame.boxplot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(by=...) </a:t>
            </a:r>
            <a:r>
              <a:rPr lang="en-GB" dirty="0"/>
              <a:t>automatically adds an additional overall title. </a:t>
            </a:r>
          </a:p>
          <a:p>
            <a:pPr>
              <a:buNone/>
            </a:pP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plt.suptitle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("") </a:t>
            </a:r>
            <a:r>
              <a:rPr lang="en-GB" dirty="0"/>
              <a:t>removes it.</a:t>
            </a:r>
          </a:p>
        </p:txBody>
      </p:sp>
    </p:spTree>
    <p:extLst>
      <p:ext uri="{BB962C8B-B14F-4D97-AF65-F5344CB8AC3E}">
        <p14:creationId xmlns:p14="http://schemas.microsoft.com/office/powerpoint/2010/main" val="40888161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GB" dirty="0"/>
              <a:t>Inset 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5076056" cy="295232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GB" dirty="0"/>
              <a:t>An </a:t>
            </a:r>
            <a:r>
              <a:rPr lang="en-GB" dirty="0">
                <a:solidFill>
                  <a:srgbClr val="FF0000"/>
                </a:solidFill>
              </a:rPr>
              <a:t>inset Axes </a:t>
            </a:r>
            <a:r>
              <a:rPr lang="en-GB" dirty="0"/>
              <a:t>is a smaller plotting area placed inside a main Axes. It can be useful for:</a:t>
            </a:r>
          </a:p>
          <a:p>
            <a:pPr>
              <a:buNone/>
            </a:pPr>
            <a:endParaRPr lang="en-GB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showing a zoomed-in region;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displaying a related secondary view;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highlighting a subset of the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None/>
            </a:pPr>
            <a:r>
              <a:rPr lang="en-GB" dirty="0"/>
              <a:t>To create one, first create the main Figure and Axes, then use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</a:rPr>
              <a:t>ax.inset_axes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to add a smaller Axes inside the main Axes.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972BF-67A0-078D-DF17-F2353AAE0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576985"/>
            <a:ext cx="3993777" cy="5992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3ED013-52F9-A1D1-A3A5-3A0229E6D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36" y="3573016"/>
            <a:ext cx="4848902" cy="329429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A6459C-1089-861F-0972-FCB5A3792FC2}"/>
              </a:ext>
            </a:extLst>
          </p:cNvPr>
          <p:cNvCxnSpPr/>
          <p:nvPr/>
        </p:nvCxnSpPr>
        <p:spPr>
          <a:xfrm flipH="1">
            <a:off x="4427984" y="3284984"/>
            <a:ext cx="216024" cy="7920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1138E8-B764-FDDA-2895-384D385F53D3}"/>
              </a:ext>
            </a:extLst>
          </p:cNvPr>
          <p:cNvCxnSpPr>
            <a:cxnSpLocks/>
          </p:cNvCxnSpPr>
          <p:nvPr/>
        </p:nvCxnSpPr>
        <p:spPr>
          <a:xfrm>
            <a:off x="4716016" y="4509120"/>
            <a:ext cx="357522" cy="21602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057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5573</TotalTime>
  <Words>2745</Words>
  <Application>Microsoft Office PowerPoint</Application>
  <PresentationFormat>On-screen Show (4:3)</PresentationFormat>
  <Paragraphs>366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Arial</vt:lpstr>
      <vt:lpstr>Calibri</vt:lpstr>
      <vt:lpstr>Courier New</vt:lpstr>
      <vt:lpstr>Office Theme</vt:lpstr>
      <vt:lpstr>Data Visualisation with Matplotlib</vt:lpstr>
      <vt:lpstr>Matplotlib</vt:lpstr>
      <vt:lpstr>How Matplotlib is organised?</vt:lpstr>
      <vt:lpstr>Common Axes Methods</vt:lpstr>
      <vt:lpstr>Choosing the Right Chart</vt:lpstr>
      <vt:lpstr>Creating a Simple Plot</vt:lpstr>
      <vt:lpstr>PowerPoint Presentation</vt:lpstr>
      <vt:lpstr>Customising Plots with Keyword Arguments</vt:lpstr>
      <vt:lpstr>Common keyword arguments</vt:lpstr>
      <vt:lpstr>Working with Multiple Axes</vt:lpstr>
      <vt:lpstr>Working with Multiple Figures and Axes</vt:lpstr>
      <vt:lpstr>Adding Titles, Labels and Text</vt:lpstr>
      <vt:lpstr>Annotating Important Points</vt:lpstr>
      <vt:lpstr>Adding a Grid and a Legend</vt:lpstr>
      <vt:lpstr>Positioning a Legend</vt:lpstr>
      <vt:lpstr>Saving Figures to Files</vt:lpstr>
      <vt:lpstr>Handling Date Values</vt:lpstr>
      <vt:lpstr>Useful date-format codes</vt:lpstr>
      <vt:lpstr>Line Charts</vt:lpstr>
      <vt:lpstr>Line charts with a Pandas Dataframe</vt:lpstr>
      <vt:lpstr>Histograms</vt:lpstr>
      <vt:lpstr>Histograms</vt:lpstr>
      <vt:lpstr>Bar Charts</vt:lpstr>
      <vt:lpstr>Customising a Bar Chart</vt:lpstr>
      <vt:lpstr>Bar Charts with Error Bars</vt:lpstr>
      <vt:lpstr>Horizontal Bar Charts</vt:lpstr>
      <vt:lpstr>Multiseries Bar Charts</vt:lpstr>
      <vt:lpstr>Multiseries Horizontal Bar Chart</vt:lpstr>
      <vt:lpstr>Multiseries Bar Chart with pandas Dataframe</vt:lpstr>
      <vt:lpstr>Stacked Bar Chart with Pandas Dataframe</vt:lpstr>
      <vt:lpstr>Diverging bar chart</vt:lpstr>
      <vt:lpstr>Pie chart</vt:lpstr>
      <vt:lpstr>Pie Charts with a Pandas Series</vt:lpstr>
      <vt:lpstr>Scatter Plot</vt:lpstr>
      <vt:lpstr>Box Plots</vt:lpstr>
      <vt:lpstr>Box Plots with a Pandas DataFrame</vt:lpstr>
      <vt:lpstr>Inset Axes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Visualisation with Matplotlib</dc:title>
  <dc:creator>Mireilla Bikanga</dc:creator>
  <cp:lastModifiedBy>Mireilla Bikanga Ada</cp:lastModifiedBy>
  <cp:revision>89</cp:revision>
  <dcterms:created xsi:type="dcterms:W3CDTF">2019-09-16T15:13:23Z</dcterms:created>
  <dcterms:modified xsi:type="dcterms:W3CDTF">2026-09-04T17:13:32Z</dcterms:modified>
</cp:coreProperties>
</file>
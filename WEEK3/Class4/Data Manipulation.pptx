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7"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E16E7A-7FCA-4B34-8E2C-2F8BE406727D}" v="7" dt="2026-09-18T11:09:35.5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930"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reilla Bikanga Ada" userId="b964f4d4-5927-4a33-a1eb-35030e652755" providerId="ADAL" clId="{A46988CF-BACF-4872-8EC1-69BC73F08BCA}"/>
    <pc:docChg chg="undo redo custSel modSld">
      <pc:chgData name="Mireilla Bikanga Ada" userId="b964f4d4-5927-4a33-a1eb-35030e652755" providerId="ADAL" clId="{A46988CF-BACF-4872-8EC1-69BC73F08BCA}" dt="2026-09-18T11:13:47.613" v="262" actId="20577"/>
      <pc:docMkLst>
        <pc:docMk/>
      </pc:docMkLst>
      <pc:sldChg chg="modSp mod">
        <pc:chgData name="Mireilla Bikanga Ada" userId="b964f4d4-5927-4a33-a1eb-35030e652755" providerId="ADAL" clId="{A46988CF-BACF-4872-8EC1-69BC73F08BCA}" dt="2026-09-18T09:37:52.974" v="6" actId="20577"/>
        <pc:sldMkLst>
          <pc:docMk/>
          <pc:sldMk cId="2360053275" sldId="258"/>
        </pc:sldMkLst>
        <pc:spChg chg="mod">
          <ac:chgData name="Mireilla Bikanga Ada" userId="b964f4d4-5927-4a33-a1eb-35030e652755" providerId="ADAL" clId="{A46988CF-BACF-4872-8EC1-69BC73F08BCA}" dt="2026-09-18T09:37:52.974" v="6" actId="20577"/>
          <ac:spMkLst>
            <pc:docMk/>
            <pc:sldMk cId="2360053275" sldId="258"/>
            <ac:spMk id="3" creationId="{00000000-0000-0000-0000-000000000000}"/>
          </ac:spMkLst>
        </pc:spChg>
      </pc:sldChg>
      <pc:sldChg chg="modSp mod">
        <pc:chgData name="Mireilla Bikanga Ada" userId="b964f4d4-5927-4a33-a1eb-35030e652755" providerId="ADAL" clId="{A46988CF-BACF-4872-8EC1-69BC73F08BCA}" dt="2026-09-18T09:46:14.275" v="84" actId="2711"/>
        <pc:sldMkLst>
          <pc:docMk/>
          <pc:sldMk cId="2842469343" sldId="260"/>
        </pc:sldMkLst>
        <pc:spChg chg="mod">
          <ac:chgData name="Mireilla Bikanga Ada" userId="b964f4d4-5927-4a33-a1eb-35030e652755" providerId="ADAL" clId="{A46988CF-BACF-4872-8EC1-69BC73F08BCA}" dt="2026-09-18T09:46:14.275" v="84" actId="2711"/>
          <ac:spMkLst>
            <pc:docMk/>
            <pc:sldMk cId="2842469343" sldId="260"/>
            <ac:spMk id="3" creationId="{00000000-0000-0000-0000-000000000000}"/>
          </ac:spMkLst>
        </pc:spChg>
      </pc:sldChg>
      <pc:sldChg chg="modSp mod">
        <pc:chgData name="Mireilla Bikanga Ada" userId="b964f4d4-5927-4a33-a1eb-35030e652755" providerId="ADAL" clId="{A46988CF-BACF-4872-8EC1-69BC73F08BCA}" dt="2026-09-18T09:48:55.887" v="96" actId="2711"/>
        <pc:sldMkLst>
          <pc:docMk/>
          <pc:sldMk cId="4200024875" sldId="261"/>
        </pc:sldMkLst>
        <pc:spChg chg="mod">
          <ac:chgData name="Mireilla Bikanga Ada" userId="b964f4d4-5927-4a33-a1eb-35030e652755" providerId="ADAL" clId="{A46988CF-BACF-4872-8EC1-69BC73F08BCA}" dt="2026-09-18T09:48:55.887" v="96" actId="2711"/>
          <ac:spMkLst>
            <pc:docMk/>
            <pc:sldMk cId="4200024875" sldId="261"/>
            <ac:spMk id="3" creationId="{00000000-0000-0000-0000-000000000000}"/>
          </ac:spMkLst>
        </pc:spChg>
      </pc:sldChg>
      <pc:sldChg chg="modSp mod">
        <pc:chgData name="Mireilla Bikanga Ada" userId="b964f4d4-5927-4a33-a1eb-35030e652755" providerId="ADAL" clId="{A46988CF-BACF-4872-8EC1-69BC73F08BCA}" dt="2026-09-18T09:50:21.882" v="97" actId="2711"/>
        <pc:sldMkLst>
          <pc:docMk/>
          <pc:sldMk cId="63867178" sldId="262"/>
        </pc:sldMkLst>
        <pc:spChg chg="mod">
          <ac:chgData name="Mireilla Bikanga Ada" userId="b964f4d4-5927-4a33-a1eb-35030e652755" providerId="ADAL" clId="{A46988CF-BACF-4872-8EC1-69BC73F08BCA}" dt="2026-09-18T09:50:21.882" v="97" actId="2711"/>
          <ac:spMkLst>
            <pc:docMk/>
            <pc:sldMk cId="63867178" sldId="262"/>
            <ac:spMk id="3" creationId="{00000000-0000-0000-0000-000000000000}"/>
          </ac:spMkLst>
        </pc:spChg>
      </pc:sldChg>
      <pc:sldChg chg="modSp mod">
        <pc:chgData name="Mireilla Bikanga Ada" userId="b964f4d4-5927-4a33-a1eb-35030e652755" providerId="ADAL" clId="{A46988CF-BACF-4872-8EC1-69BC73F08BCA}" dt="2026-09-18T09:50:54.421" v="98" actId="2711"/>
        <pc:sldMkLst>
          <pc:docMk/>
          <pc:sldMk cId="3632322577" sldId="264"/>
        </pc:sldMkLst>
        <pc:spChg chg="mod">
          <ac:chgData name="Mireilla Bikanga Ada" userId="b964f4d4-5927-4a33-a1eb-35030e652755" providerId="ADAL" clId="{A46988CF-BACF-4872-8EC1-69BC73F08BCA}" dt="2026-09-18T09:50:54.421" v="98" actId="2711"/>
          <ac:spMkLst>
            <pc:docMk/>
            <pc:sldMk cId="3632322577" sldId="264"/>
            <ac:spMk id="3" creationId="{00000000-0000-0000-0000-000000000000}"/>
          </ac:spMkLst>
        </pc:spChg>
      </pc:sldChg>
      <pc:sldChg chg="modSp mod">
        <pc:chgData name="Mireilla Bikanga Ada" userId="b964f4d4-5927-4a33-a1eb-35030e652755" providerId="ADAL" clId="{A46988CF-BACF-4872-8EC1-69BC73F08BCA}" dt="2026-09-18T09:52:10.047" v="101"/>
        <pc:sldMkLst>
          <pc:docMk/>
          <pc:sldMk cId="2648033457" sldId="267"/>
        </pc:sldMkLst>
        <pc:spChg chg="mod">
          <ac:chgData name="Mireilla Bikanga Ada" userId="b964f4d4-5927-4a33-a1eb-35030e652755" providerId="ADAL" clId="{A46988CF-BACF-4872-8EC1-69BC73F08BCA}" dt="2026-09-18T09:52:10.047" v="101"/>
          <ac:spMkLst>
            <pc:docMk/>
            <pc:sldMk cId="2648033457" sldId="267"/>
            <ac:spMk id="5" creationId="{00000000-0000-0000-0000-000000000000}"/>
          </ac:spMkLst>
        </pc:spChg>
      </pc:sldChg>
      <pc:sldChg chg="addSp modSp mod">
        <pc:chgData name="Mireilla Bikanga Ada" userId="b964f4d4-5927-4a33-a1eb-35030e652755" providerId="ADAL" clId="{A46988CF-BACF-4872-8EC1-69BC73F08BCA}" dt="2026-09-18T09:57:59.625" v="168" actId="20577"/>
        <pc:sldMkLst>
          <pc:docMk/>
          <pc:sldMk cId="4058342907" sldId="268"/>
        </pc:sldMkLst>
        <pc:spChg chg="add mod">
          <ac:chgData name="Mireilla Bikanga Ada" userId="b964f4d4-5927-4a33-a1eb-35030e652755" providerId="ADAL" clId="{A46988CF-BACF-4872-8EC1-69BC73F08BCA}" dt="2026-09-18T09:57:40.811" v="156" actId="1076"/>
          <ac:spMkLst>
            <pc:docMk/>
            <pc:sldMk cId="4058342907" sldId="268"/>
            <ac:spMk id="7" creationId="{954B5741-698D-82F1-65D0-F378866DC9C1}"/>
          </ac:spMkLst>
        </pc:spChg>
        <pc:spChg chg="add mod">
          <ac:chgData name="Mireilla Bikanga Ada" userId="b964f4d4-5927-4a33-a1eb-35030e652755" providerId="ADAL" clId="{A46988CF-BACF-4872-8EC1-69BC73F08BCA}" dt="2026-09-18T09:57:28.530" v="153" actId="14100"/>
          <ac:spMkLst>
            <pc:docMk/>
            <pc:sldMk cId="4058342907" sldId="268"/>
            <ac:spMk id="11" creationId="{FBF9161D-7B3A-3CA8-4875-D5906A4873F5}"/>
          </ac:spMkLst>
        </pc:spChg>
        <pc:spChg chg="add mod">
          <ac:chgData name="Mireilla Bikanga Ada" userId="b964f4d4-5927-4a33-a1eb-35030e652755" providerId="ADAL" clId="{A46988CF-BACF-4872-8EC1-69BC73F08BCA}" dt="2026-09-18T09:57:59.625" v="168" actId="20577"/>
          <ac:spMkLst>
            <pc:docMk/>
            <pc:sldMk cId="4058342907" sldId="268"/>
            <ac:spMk id="13" creationId="{193657D4-B942-B4D0-743B-E46B05665629}"/>
          </ac:spMkLst>
        </pc:spChg>
        <pc:picChg chg="mod">
          <ac:chgData name="Mireilla Bikanga Ada" userId="b964f4d4-5927-4a33-a1eb-35030e652755" providerId="ADAL" clId="{A46988CF-BACF-4872-8EC1-69BC73F08BCA}" dt="2026-09-18T09:57:35.993" v="155" actId="1076"/>
          <ac:picMkLst>
            <pc:docMk/>
            <pc:sldMk cId="4058342907" sldId="268"/>
            <ac:picMk id="3075" creationId="{00000000-0000-0000-0000-000000000000}"/>
          </ac:picMkLst>
        </pc:picChg>
        <pc:cxnChg chg="add mod">
          <ac:chgData name="Mireilla Bikanga Ada" userId="b964f4d4-5927-4a33-a1eb-35030e652755" providerId="ADAL" clId="{A46988CF-BACF-4872-8EC1-69BC73F08BCA}" dt="2026-09-18T09:57:44.841" v="157" actId="14100"/>
          <ac:cxnSpMkLst>
            <pc:docMk/>
            <pc:sldMk cId="4058342907" sldId="268"/>
            <ac:cxnSpMk id="16" creationId="{C1FECBF9-4023-C7B1-BAD0-E6A0011B463E}"/>
          </ac:cxnSpMkLst>
        </pc:cxnChg>
        <pc:cxnChg chg="add mod">
          <ac:chgData name="Mireilla Bikanga Ada" userId="b964f4d4-5927-4a33-a1eb-35030e652755" providerId="ADAL" clId="{A46988CF-BACF-4872-8EC1-69BC73F08BCA}" dt="2026-09-18T09:57:59.625" v="168" actId="20577"/>
          <ac:cxnSpMkLst>
            <pc:docMk/>
            <pc:sldMk cId="4058342907" sldId="268"/>
            <ac:cxnSpMk id="17" creationId="{AB3417D2-C9DD-6D14-7687-3C00217EA63F}"/>
          </ac:cxnSpMkLst>
        </pc:cxnChg>
      </pc:sldChg>
      <pc:sldChg chg="modSp mod">
        <pc:chgData name="Mireilla Bikanga Ada" userId="b964f4d4-5927-4a33-a1eb-35030e652755" providerId="ADAL" clId="{A46988CF-BACF-4872-8EC1-69BC73F08BCA}" dt="2026-09-18T10:03:04.613" v="223"/>
        <pc:sldMkLst>
          <pc:docMk/>
          <pc:sldMk cId="1123561743" sldId="269"/>
        </pc:sldMkLst>
        <pc:spChg chg="mod">
          <ac:chgData name="Mireilla Bikanga Ada" userId="b964f4d4-5927-4a33-a1eb-35030e652755" providerId="ADAL" clId="{A46988CF-BACF-4872-8EC1-69BC73F08BCA}" dt="2026-09-18T10:03:04.613" v="223"/>
          <ac:spMkLst>
            <pc:docMk/>
            <pc:sldMk cId="1123561743" sldId="269"/>
            <ac:spMk id="3" creationId="{00000000-0000-0000-0000-000000000000}"/>
          </ac:spMkLst>
        </pc:spChg>
      </pc:sldChg>
      <pc:sldChg chg="modSp mod">
        <pc:chgData name="Mireilla Bikanga Ada" userId="b964f4d4-5927-4a33-a1eb-35030e652755" providerId="ADAL" clId="{A46988CF-BACF-4872-8EC1-69BC73F08BCA}" dt="2026-09-18T11:00:24.061" v="241" actId="207"/>
        <pc:sldMkLst>
          <pc:docMk/>
          <pc:sldMk cId="2044660582" sldId="270"/>
        </pc:sldMkLst>
        <pc:spChg chg="mod">
          <ac:chgData name="Mireilla Bikanga Ada" userId="b964f4d4-5927-4a33-a1eb-35030e652755" providerId="ADAL" clId="{A46988CF-BACF-4872-8EC1-69BC73F08BCA}" dt="2026-09-18T11:00:24.061" v="241" actId="207"/>
          <ac:spMkLst>
            <pc:docMk/>
            <pc:sldMk cId="2044660582" sldId="270"/>
            <ac:spMk id="3" creationId="{00000000-0000-0000-0000-000000000000}"/>
          </ac:spMkLst>
        </pc:spChg>
      </pc:sldChg>
      <pc:sldChg chg="modSp mod">
        <pc:chgData name="Mireilla Bikanga Ada" userId="b964f4d4-5927-4a33-a1eb-35030e652755" providerId="ADAL" clId="{A46988CF-BACF-4872-8EC1-69BC73F08BCA}" dt="2026-09-18T11:10:24.795" v="248" actId="2711"/>
        <pc:sldMkLst>
          <pc:docMk/>
          <pc:sldMk cId="2322070334" sldId="271"/>
        </pc:sldMkLst>
        <pc:spChg chg="mod">
          <ac:chgData name="Mireilla Bikanga Ada" userId="b964f4d4-5927-4a33-a1eb-35030e652755" providerId="ADAL" clId="{A46988CF-BACF-4872-8EC1-69BC73F08BCA}" dt="2026-09-18T11:09:35.582" v="246"/>
          <ac:spMkLst>
            <pc:docMk/>
            <pc:sldMk cId="2322070334" sldId="271"/>
            <ac:spMk id="4" creationId="{00000000-0000-0000-0000-000000000000}"/>
          </ac:spMkLst>
        </pc:spChg>
        <pc:spChg chg="mod">
          <ac:chgData name="Mireilla Bikanga Ada" userId="b964f4d4-5927-4a33-a1eb-35030e652755" providerId="ADAL" clId="{A46988CF-BACF-4872-8EC1-69BC73F08BCA}" dt="2026-09-18T11:10:24.795" v="248" actId="2711"/>
          <ac:spMkLst>
            <pc:docMk/>
            <pc:sldMk cId="2322070334" sldId="271"/>
            <ac:spMk id="9" creationId="{00000000-0000-0000-0000-000000000000}"/>
          </ac:spMkLst>
        </pc:spChg>
      </pc:sldChg>
      <pc:sldChg chg="modSp mod">
        <pc:chgData name="Mireilla Bikanga Ada" userId="b964f4d4-5927-4a33-a1eb-35030e652755" providerId="ADAL" clId="{A46988CF-BACF-4872-8EC1-69BC73F08BCA}" dt="2026-09-18T11:13:47.613" v="262" actId="20577"/>
        <pc:sldMkLst>
          <pc:docMk/>
          <pc:sldMk cId="3788417559" sldId="275"/>
        </pc:sldMkLst>
        <pc:spChg chg="mod">
          <ac:chgData name="Mireilla Bikanga Ada" userId="b964f4d4-5927-4a33-a1eb-35030e652755" providerId="ADAL" clId="{A46988CF-BACF-4872-8EC1-69BC73F08BCA}" dt="2026-09-18T11:13:47.613" v="262" actId="20577"/>
          <ac:spMkLst>
            <pc:docMk/>
            <pc:sldMk cId="3788417559" sldId="275"/>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89B70B02-2A47-4243-9DB2-14142851D6F4}" type="datetimeFigureOut">
              <a:rPr lang="en-GB" smtClean="0"/>
              <a:t>18/09/2026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CF8987-14E1-40A9-BC3C-8BC35539528E}" type="slidenum">
              <a:rPr lang="en-GB" smtClean="0"/>
              <a:t>‹#›</a:t>
            </a:fld>
            <a:endParaRPr lang="en-GB"/>
          </a:p>
        </p:txBody>
      </p:sp>
    </p:spTree>
    <p:extLst>
      <p:ext uri="{BB962C8B-B14F-4D97-AF65-F5344CB8AC3E}">
        <p14:creationId xmlns:p14="http://schemas.microsoft.com/office/powerpoint/2010/main" val="2203913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9B70B02-2A47-4243-9DB2-14142851D6F4}" type="datetimeFigureOut">
              <a:rPr lang="en-GB" smtClean="0"/>
              <a:t>18/09/2026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CF8987-14E1-40A9-BC3C-8BC35539528E}" type="slidenum">
              <a:rPr lang="en-GB" smtClean="0"/>
              <a:t>‹#›</a:t>
            </a:fld>
            <a:endParaRPr lang="en-GB"/>
          </a:p>
        </p:txBody>
      </p:sp>
    </p:spTree>
    <p:extLst>
      <p:ext uri="{BB962C8B-B14F-4D97-AF65-F5344CB8AC3E}">
        <p14:creationId xmlns:p14="http://schemas.microsoft.com/office/powerpoint/2010/main" val="3222123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B70B02-2A47-4243-9DB2-14142851D6F4}" type="datetimeFigureOut">
              <a:rPr lang="en-GB" smtClean="0"/>
              <a:t>18/09/2026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CF8987-14E1-40A9-BC3C-8BC35539528E}" type="slidenum">
              <a:rPr lang="en-GB" smtClean="0"/>
              <a:t>‹#›</a:t>
            </a:fld>
            <a:endParaRPr lang="en-GB"/>
          </a:p>
        </p:txBody>
      </p:sp>
    </p:spTree>
    <p:extLst>
      <p:ext uri="{BB962C8B-B14F-4D97-AF65-F5344CB8AC3E}">
        <p14:creationId xmlns:p14="http://schemas.microsoft.com/office/powerpoint/2010/main" val="1458730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89B70B02-2A47-4243-9DB2-14142851D6F4}" type="datetimeFigureOut">
              <a:rPr lang="en-GB" smtClean="0"/>
              <a:t>18/09/2026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4CF8987-14E1-40A9-BC3C-8BC35539528E}" type="slidenum">
              <a:rPr lang="en-GB" smtClean="0"/>
              <a:t>‹#›</a:t>
            </a:fld>
            <a:endParaRPr lang="en-GB"/>
          </a:p>
        </p:txBody>
      </p:sp>
    </p:spTree>
    <p:extLst>
      <p:ext uri="{BB962C8B-B14F-4D97-AF65-F5344CB8AC3E}">
        <p14:creationId xmlns:p14="http://schemas.microsoft.com/office/powerpoint/2010/main" val="1850437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89B70B02-2A47-4243-9DB2-14142851D6F4}" type="datetimeFigureOut">
              <a:rPr lang="en-GB" smtClean="0"/>
              <a:t>18/09/2026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4CF8987-14E1-40A9-BC3C-8BC35539528E}" type="slidenum">
              <a:rPr lang="en-GB" smtClean="0"/>
              <a:t>‹#›</a:t>
            </a:fld>
            <a:endParaRPr lang="en-GB"/>
          </a:p>
        </p:txBody>
      </p:sp>
    </p:spTree>
    <p:extLst>
      <p:ext uri="{BB962C8B-B14F-4D97-AF65-F5344CB8AC3E}">
        <p14:creationId xmlns:p14="http://schemas.microsoft.com/office/powerpoint/2010/main" val="3144640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89B70B02-2A47-4243-9DB2-14142851D6F4}" type="datetimeFigureOut">
              <a:rPr lang="en-GB" smtClean="0"/>
              <a:t>18/09/2026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4CF8987-14E1-40A9-BC3C-8BC35539528E}" type="slidenum">
              <a:rPr lang="en-GB" smtClean="0"/>
              <a:t>‹#›</a:t>
            </a:fld>
            <a:endParaRPr lang="en-GB"/>
          </a:p>
        </p:txBody>
      </p:sp>
    </p:spTree>
    <p:extLst>
      <p:ext uri="{BB962C8B-B14F-4D97-AF65-F5344CB8AC3E}">
        <p14:creationId xmlns:p14="http://schemas.microsoft.com/office/powerpoint/2010/main" val="1348599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B70B02-2A47-4243-9DB2-14142851D6F4}" type="datetimeFigureOut">
              <a:rPr lang="en-GB" smtClean="0"/>
              <a:t>18/09/2026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4CF8987-14E1-40A9-BC3C-8BC35539528E}" type="slidenum">
              <a:rPr lang="en-GB" smtClean="0"/>
              <a:t>‹#›</a:t>
            </a:fld>
            <a:endParaRPr lang="en-GB"/>
          </a:p>
        </p:txBody>
      </p:sp>
    </p:spTree>
    <p:extLst>
      <p:ext uri="{BB962C8B-B14F-4D97-AF65-F5344CB8AC3E}">
        <p14:creationId xmlns:p14="http://schemas.microsoft.com/office/powerpoint/2010/main" val="3564179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B70B02-2A47-4243-9DB2-14142851D6F4}" type="datetimeFigureOut">
              <a:rPr lang="en-GB" smtClean="0"/>
              <a:t>18/09/2026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4CF8987-14E1-40A9-BC3C-8BC35539528E}" type="slidenum">
              <a:rPr lang="en-GB" smtClean="0"/>
              <a:t>‹#›</a:t>
            </a:fld>
            <a:endParaRPr lang="en-GB"/>
          </a:p>
        </p:txBody>
      </p:sp>
    </p:spTree>
    <p:extLst>
      <p:ext uri="{BB962C8B-B14F-4D97-AF65-F5344CB8AC3E}">
        <p14:creationId xmlns:p14="http://schemas.microsoft.com/office/powerpoint/2010/main" val="1702216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B70B02-2A47-4243-9DB2-14142851D6F4}" type="datetimeFigureOut">
              <a:rPr lang="en-GB" smtClean="0"/>
              <a:t>18/09/2026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4CF8987-14E1-40A9-BC3C-8BC35539528E}" type="slidenum">
              <a:rPr lang="en-GB" smtClean="0"/>
              <a:t>‹#›</a:t>
            </a:fld>
            <a:endParaRPr lang="en-GB"/>
          </a:p>
        </p:txBody>
      </p:sp>
    </p:spTree>
    <p:extLst>
      <p:ext uri="{BB962C8B-B14F-4D97-AF65-F5344CB8AC3E}">
        <p14:creationId xmlns:p14="http://schemas.microsoft.com/office/powerpoint/2010/main" val="1454794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9B70B02-2A47-4243-9DB2-14142851D6F4}" type="datetimeFigureOut">
              <a:rPr lang="en-GB" smtClean="0"/>
              <a:t>18/09/2026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CF8987-14E1-40A9-BC3C-8BC35539528E}" type="slidenum">
              <a:rPr lang="en-GB" smtClean="0"/>
              <a:t>‹#›</a:t>
            </a:fld>
            <a:endParaRPr lang="en-GB"/>
          </a:p>
        </p:txBody>
      </p:sp>
    </p:spTree>
    <p:extLst>
      <p:ext uri="{BB962C8B-B14F-4D97-AF65-F5344CB8AC3E}">
        <p14:creationId xmlns:p14="http://schemas.microsoft.com/office/powerpoint/2010/main" val="3608487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9B70B02-2A47-4243-9DB2-14142851D6F4}" type="datetimeFigureOut">
              <a:rPr lang="en-GB" smtClean="0"/>
              <a:t>18/09/2026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CF8987-14E1-40A9-BC3C-8BC35539528E}" type="slidenum">
              <a:rPr lang="en-GB" smtClean="0"/>
              <a:t>‹#›</a:t>
            </a:fld>
            <a:endParaRPr lang="en-GB"/>
          </a:p>
        </p:txBody>
      </p:sp>
    </p:spTree>
    <p:extLst>
      <p:ext uri="{BB962C8B-B14F-4D97-AF65-F5344CB8AC3E}">
        <p14:creationId xmlns:p14="http://schemas.microsoft.com/office/powerpoint/2010/main" val="960006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B70B02-2A47-4243-9DB2-14142851D6F4}" type="datetimeFigureOut">
              <a:rPr lang="en-GB" smtClean="0"/>
              <a:t>18/09/2026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CF8987-14E1-40A9-BC3C-8BC35539528E}" type="slidenum">
              <a:rPr lang="en-GB" smtClean="0"/>
              <a:t>‹#›</a:t>
            </a:fld>
            <a:endParaRPr lang="en-GB"/>
          </a:p>
        </p:txBody>
      </p:sp>
    </p:spTree>
    <p:extLst>
      <p:ext uri="{BB962C8B-B14F-4D97-AF65-F5344CB8AC3E}">
        <p14:creationId xmlns:p14="http://schemas.microsoft.com/office/powerpoint/2010/main" val="41901412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GB"/>
          </a:p>
        </p:txBody>
      </p:sp>
      <p:sp>
        <p:nvSpPr>
          <p:cNvPr id="4" name="Title 1"/>
          <p:cNvSpPr>
            <a:spLocks noGrp="1"/>
          </p:cNvSpPr>
          <p:nvPr>
            <p:ph type="ctrTitle"/>
          </p:nvPr>
        </p:nvSpPr>
        <p:spPr/>
        <p:txBody>
          <a:bodyPr>
            <a:normAutofit/>
          </a:bodyPr>
          <a:lstStyle/>
          <a:p>
            <a:r>
              <a:rPr lang="en-GB" dirty="0"/>
              <a:t>Pandas - Data Manipulation</a:t>
            </a:r>
          </a:p>
        </p:txBody>
      </p:sp>
    </p:spTree>
    <p:extLst>
      <p:ext uri="{BB962C8B-B14F-4D97-AF65-F5344CB8AC3E}">
        <p14:creationId xmlns:p14="http://schemas.microsoft.com/office/powerpoint/2010/main" val="986930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4848" y="836712"/>
            <a:ext cx="8589640" cy="1368152"/>
          </a:xfrm>
        </p:spPr>
        <p:txBody>
          <a:bodyPr>
            <a:normAutofit fontScale="92500" lnSpcReduction="10000"/>
          </a:bodyPr>
          <a:lstStyle/>
          <a:p>
            <a:r>
              <a:rPr lang="en-GB" dirty="0">
                <a:latin typeface="Courier New" panose="02070309020205020404" pitchFamily="49" charset="0"/>
                <a:cs typeface="Courier New" panose="02070309020205020404" pitchFamily="49" charset="0"/>
              </a:rPr>
              <a:t>The merge() </a:t>
            </a:r>
            <a:r>
              <a:rPr lang="en-GB" dirty="0"/>
              <a:t>function is used to combine data through the connection of the rows using one or more keys (</a:t>
            </a:r>
            <a:r>
              <a:rPr lang="en-GB" dirty="0">
                <a:latin typeface="Courier New" panose="02070309020205020404" pitchFamily="49" charset="0"/>
                <a:cs typeface="Courier New" panose="02070309020205020404" pitchFamily="49" charset="0"/>
              </a:rPr>
              <a:t>id</a:t>
            </a:r>
            <a:r>
              <a:rPr lang="en-GB" dirty="0"/>
              <a:t> field in this example).</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662" y="2711599"/>
            <a:ext cx="6086475" cy="733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650" y="3795712"/>
            <a:ext cx="5726498" cy="695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4288" y="1844824"/>
            <a:ext cx="1600200" cy="1733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16688" y="3795712"/>
            <a:ext cx="1295400" cy="137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7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568" y="4659463"/>
            <a:ext cx="2232248" cy="21581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131840" y="5589240"/>
            <a:ext cx="3528392" cy="1200329"/>
          </a:xfrm>
          <a:prstGeom prst="rect">
            <a:avLst/>
          </a:prstGeom>
          <a:noFill/>
          <a:ln>
            <a:solidFill>
              <a:schemeClr val="tx1"/>
            </a:solidFill>
            <a:prstDash val="lgDash"/>
          </a:ln>
        </p:spPr>
        <p:txBody>
          <a:bodyPr wrap="square" rtlCol="0">
            <a:spAutoFit/>
          </a:bodyPr>
          <a:lstStyle/>
          <a:p>
            <a:r>
              <a:rPr lang="en-GB" dirty="0">
                <a:solidFill>
                  <a:prstClr val="black"/>
                </a:solidFill>
                <a:latin typeface="Courier New" panose="02070309020205020404" pitchFamily="49" charset="0"/>
                <a:cs typeface="Courier New" panose="02070309020205020404" pitchFamily="49" charset="0"/>
              </a:rPr>
              <a:t>The returned </a:t>
            </a:r>
            <a:r>
              <a:rPr lang="en-GB" dirty="0" err="1">
                <a:solidFill>
                  <a:prstClr val="black"/>
                </a:solidFill>
                <a:latin typeface="Courier New" panose="02070309020205020404" pitchFamily="49" charset="0"/>
                <a:cs typeface="Courier New" panose="02070309020205020404" pitchFamily="49" charset="0"/>
              </a:rPr>
              <a:t>dataframe</a:t>
            </a:r>
            <a:r>
              <a:rPr lang="en-GB" dirty="0">
                <a:solidFill>
                  <a:prstClr val="black"/>
                </a:solidFill>
                <a:latin typeface="Courier New" panose="02070309020205020404" pitchFamily="49" charset="0"/>
                <a:cs typeface="Courier New" panose="02070309020205020404" pitchFamily="49" charset="0"/>
              </a:rPr>
              <a:t> consists of all rows that have an ID in common</a:t>
            </a:r>
          </a:p>
        </p:txBody>
      </p:sp>
      <p:cxnSp>
        <p:nvCxnSpPr>
          <p:cNvPr id="6" name="Straight Arrow Connector 5"/>
          <p:cNvCxnSpPr/>
          <p:nvPr/>
        </p:nvCxnSpPr>
        <p:spPr>
          <a:xfrm flipH="1">
            <a:off x="2992557" y="4844129"/>
            <a:ext cx="50405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563888" y="4536557"/>
            <a:ext cx="3448000" cy="646331"/>
          </a:xfrm>
          <a:prstGeom prst="rect">
            <a:avLst/>
          </a:prstGeom>
          <a:noFill/>
          <a:ln>
            <a:solidFill>
              <a:schemeClr val="tx1"/>
            </a:solidFill>
            <a:prstDash val="lgDash"/>
          </a:ln>
        </p:spPr>
        <p:txBody>
          <a:bodyPr wrap="square" rtlCol="0">
            <a:spAutoFit/>
          </a:bodyPr>
          <a:lstStyle/>
          <a:p>
            <a:r>
              <a:rPr lang="en-GB" dirty="0">
                <a:solidFill>
                  <a:prstClr val="black"/>
                </a:solidFill>
                <a:latin typeface="Courier New" panose="02070309020205020404" pitchFamily="49" charset="0"/>
                <a:cs typeface="Courier New" panose="02070309020205020404" pitchFamily="49" charset="0"/>
              </a:rPr>
              <a:t>Merged files without specifying any column</a:t>
            </a:r>
          </a:p>
        </p:txBody>
      </p:sp>
      <p:cxnSp>
        <p:nvCxnSpPr>
          <p:cNvPr id="11" name="Straight Arrow Connector 10"/>
          <p:cNvCxnSpPr/>
          <p:nvPr/>
        </p:nvCxnSpPr>
        <p:spPr>
          <a:xfrm flipH="1">
            <a:off x="2627784" y="6050905"/>
            <a:ext cx="364773"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itle 1"/>
          <p:cNvSpPr>
            <a:spLocks noGrp="1"/>
          </p:cNvSpPr>
          <p:nvPr>
            <p:ph type="title"/>
          </p:nvPr>
        </p:nvSpPr>
        <p:spPr>
          <a:xfrm>
            <a:off x="467544" y="1856"/>
            <a:ext cx="8229600" cy="418058"/>
          </a:xfrm>
        </p:spPr>
        <p:txBody>
          <a:bodyPr>
            <a:normAutofit fontScale="90000"/>
          </a:bodyPr>
          <a:lstStyle/>
          <a:p>
            <a:r>
              <a:rPr lang="en-GB" dirty="0"/>
              <a:t>Data Manipulation - Merging</a:t>
            </a:r>
          </a:p>
        </p:txBody>
      </p:sp>
    </p:spTree>
    <p:extLst>
      <p:ext uri="{BB962C8B-B14F-4D97-AF65-F5344CB8AC3E}">
        <p14:creationId xmlns:p14="http://schemas.microsoft.com/office/powerpoint/2010/main" val="1706957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1" y="620687"/>
            <a:ext cx="8229600" cy="1512169"/>
          </a:xfrm>
        </p:spPr>
        <p:txBody>
          <a:bodyPr>
            <a:normAutofit fontScale="70000" lnSpcReduction="20000"/>
          </a:bodyPr>
          <a:lstStyle/>
          <a:p>
            <a:pPr marL="0" indent="0">
              <a:buNone/>
            </a:pPr>
            <a:r>
              <a:rPr lang="en-US" dirty="0"/>
              <a:t>The </a:t>
            </a:r>
            <a:r>
              <a:rPr lang="en-US" dirty="0">
                <a:solidFill>
                  <a:srgbClr val="FF0000"/>
                </a:solidFill>
                <a:latin typeface="Courier New" panose="02070309020205020404" pitchFamily="49" charset="0"/>
                <a:cs typeface="Courier New" panose="02070309020205020404" pitchFamily="49" charset="0"/>
              </a:rPr>
              <a:t>on</a:t>
            </a:r>
            <a:r>
              <a:rPr lang="en-US" dirty="0"/>
              <a:t> parameter can be used to explicitly specify the column or columns used as the merge key. This is particularly useful when the </a:t>
            </a:r>
            <a:r>
              <a:rPr lang="en-US" dirty="0" err="1"/>
              <a:t>DataFrames</a:t>
            </a:r>
            <a:r>
              <a:rPr lang="en-US" dirty="0"/>
              <a:t> contain several columns with matching names.</a:t>
            </a:r>
            <a:endParaRPr lang="en-GB" dirty="0"/>
          </a:p>
          <a:p>
            <a:pPr marL="0" indent="0">
              <a:buNone/>
            </a:pPr>
            <a:r>
              <a:rPr lang="en-GB" dirty="0"/>
              <a:t> </a:t>
            </a:r>
          </a:p>
        </p:txBody>
      </p:sp>
      <p:sp>
        <p:nvSpPr>
          <p:cNvPr id="4" name="Title 1"/>
          <p:cNvSpPr>
            <a:spLocks noGrp="1"/>
          </p:cNvSpPr>
          <p:nvPr>
            <p:ph type="title"/>
          </p:nvPr>
        </p:nvSpPr>
        <p:spPr>
          <a:xfrm>
            <a:off x="467544" y="1856"/>
            <a:ext cx="8229600" cy="418058"/>
          </a:xfrm>
        </p:spPr>
        <p:txBody>
          <a:bodyPr>
            <a:normAutofit fontScale="90000"/>
          </a:bodyPr>
          <a:lstStyle/>
          <a:p>
            <a:r>
              <a:rPr lang="en-GB" dirty="0"/>
              <a:t>Data Manipulation - Merging</a:t>
            </a: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17" y="2204864"/>
            <a:ext cx="6143625" cy="904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7794" y="1584701"/>
            <a:ext cx="1909192" cy="16797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05" y="3299271"/>
            <a:ext cx="5438775" cy="676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9961" y="3284984"/>
            <a:ext cx="1381125" cy="1381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8"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6136" y="4779987"/>
            <a:ext cx="2990850" cy="1457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9"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817" y="4211481"/>
            <a:ext cx="3143250" cy="2363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2699792" y="5393337"/>
            <a:ext cx="1493764" cy="523220"/>
          </a:xfrm>
          <a:prstGeom prst="rect">
            <a:avLst/>
          </a:prstGeom>
          <a:noFill/>
          <a:ln>
            <a:solidFill>
              <a:srgbClr val="FF0000"/>
            </a:solidFill>
            <a:prstDash val="lgDash"/>
          </a:ln>
        </p:spPr>
        <p:txBody>
          <a:bodyPr wrap="square" rtlCol="0">
            <a:spAutoFit/>
          </a:bodyPr>
          <a:lstStyle/>
          <a:p>
            <a:r>
              <a:rPr lang="en-GB" sz="1400" dirty="0">
                <a:solidFill>
                  <a:prstClr val="black"/>
                </a:solidFill>
                <a:latin typeface="Courier New" panose="02070309020205020404" pitchFamily="49" charset="0"/>
                <a:cs typeface="Courier New" panose="02070309020205020404" pitchFamily="49" charset="0"/>
              </a:rPr>
              <a:t>Criteria for merging: ID</a:t>
            </a:r>
          </a:p>
        </p:txBody>
      </p:sp>
      <p:sp>
        <p:nvSpPr>
          <p:cNvPr id="12" name="TextBox 11"/>
          <p:cNvSpPr txBox="1"/>
          <p:nvPr/>
        </p:nvSpPr>
        <p:spPr>
          <a:xfrm>
            <a:off x="5796136" y="6421305"/>
            <a:ext cx="3125524" cy="307777"/>
          </a:xfrm>
          <a:prstGeom prst="rect">
            <a:avLst/>
          </a:prstGeom>
          <a:noFill/>
          <a:ln>
            <a:solidFill>
              <a:srgbClr val="FF0000"/>
            </a:solidFill>
            <a:prstDash val="lgDash"/>
          </a:ln>
        </p:spPr>
        <p:txBody>
          <a:bodyPr wrap="square" rtlCol="0">
            <a:spAutoFit/>
          </a:bodyPr>
          <a:lstStyle/>
          <a:p>
            <a:r>
              <a:rPr lang="en-GB" sz="1400" dirty="0">
                <a:solidFill>
                  <a:prstClr val="black"/>
                </a:solidFill>
                <a:latin typeface="Courier New" panose="02070309020205020404" pitchFamily="49" charset="0"/>
                <a:cs typeface="Courier New" panose="02070309020205020404" pitchFamily="49" charset="0"/>
              </a:rPr>
              <a:t>Criteria for merging: brand</a:t>
            </a:r>
          </a:p>
        </p:txBody>
      </p:sp>
    </p:spTree>
    <p:extLst>
      <p:ext uri="{BB962C8B-B14F-4D97-AF65-F5344CB8AC3E}">
        <p14:creationId xmlns:p14="http://schemas.microsoft.com/office/powerpoint/2010/main" val="2360053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4076" y="764703"/>
            <a:ext cx="3816424" cy="5648099"/>
          </a:xfrm>
        </p:spPr>
        <p:txBody>
          <a:bodyPr>
            <a:normAutofit fontScale="70000" lnSpcReduction="20000"/>
          </a:bodyPr>
          <a:lstStyle/>
          <a:p>
            <a:r>
              <a:rPr lang="en-GB" dirty="0"/>
              <a:t>Instead of considering the columns of a </a:t>
            </a:r>
            <a:r>
              <a:rPr lang="en-GB" dirty="0" err="1"/>
              <a:t>dataframe</a:t>
            </a:r>
            <a:r>
              <a:rPr lang="en-GB" dirty="0"/>
              <a:t> as keys, indexes could be used as keys for merging. Set</a:t>
            </a:r>
            <a:r>
              <a:rPr lang="en-GB" dirty="0">
                <a:latin typeface="Courier New" panose="02070309020205020404" pitchFamily="49" charset="0"/>
                <a:cs typeface="Courier New" panose="02070309020205020404" pitchFamily="49" charset="0"/>
              </a:rPr>
              <a:t> left_index </a:t>
            </a:r>
            <a:r>
              <a:rPr lang="en-GB" dirty="0"/>
              <a:t>or </a:t>
            </a:r>
            <a:r>
              <a:rPr lang="en-GB" dirty="0">
                <a:latin typeface="Courier New" panose="02070309020205020404" pitchFamily="49" charset="0"/>
                <a:cs typeface="Courier New" panose="02070309020205020404" pitchFamily="49" charset="0"/>
              </a:rPr>
              <a:t>right_index</a:t>
            </a:r>
            <a:r>
              <a:rPr lang="en-GB" dirty="0"/>
              <a:t> options to True to activate which indexes to consider.</a:t>
            </a:r>
          </a:p>
          <a:p>
            <a:pPr marL="0" indent="0">
              <a:buNone/>
            </a:pPr>
            <a:endParaRPr lang="en-GB" dirty="0"/>
          </a:p>
          <a:p>
            <a:pPr marL="0" indent="0">
              <a:buNone/>
            </a:pPr>
            <a:endParaRPr lang="en-GB" dirty="0"/>
          </a:p>
          <a:p>
            <a:r>
              <a:rPr lang="en-GB" dirty="0"/>
              <a:t>The </a:t>
            </a:r>
            <a:r>
              <a:rPr lang="en-GB" dirty="0">
                <a:latin typeface="Courier New" panose="02070309020205020404" pitchFamily="49" charset="0"/>
                <a:cs typeface="Courier New" panose="02070309020205020404" pitchFamily="49" charset="0"/>
              </a:rPr>
              <a:t>join() </a:t>
            </a:r>
            <a:r>
              <a:rPr lang="en-GB" dirty="0"/>
              <a:t>function is more convenient when you want to merge by indexes. When some columns in frame3 have the same name as the columns in frame4, rename the columns in frame4 before launching the </a:t>
            </a:r>
            <a:r>
              <a:rPr lang="en-GB" dirty="0">
                <a:latin typeface="Courier New" panose="02070309020205020404" pitchFamily="49" charset="0"/>
                <a:cs typeface="Courier New" panose="02070309020205020404" pitchFamily="49" charset="0"/>
              </a:rPr>
              <a:t>join() </a:t>
            </a:r>
            <a:r>
              <a:rPr lang="en-GB" dirty="0"/>
              <a:t>function.</a:t>
            </a:r>
          </a:p>
          <a:p>
            <a:endParaRPr lang="en-GB" dirty="0"/>
          </a:p>
          <a:p>
            <a:endParaRPr lang="en-GB" dirty="0"/>
          </a:p>
          <a:p>
            <a:endParaRPr lang="en-GB" dirty="0"/>
          </a:p>
          <a:p>
            <a:endParaRPr lang="en-GB" dirty="0"/>
          </a:p>
        </p:txBody>
      </p:sp>
      <p:sp>
        <p:nvSpPr>
          <p:cNvPr id="4" name="Title 1"/>
          <p:cNvSpPr>
            <a:spLocks noGrp="1"/>
          </p:cNvSpPr>
          <p:nvPr>
            <p:ph type="title"/>
          </p:nvPr>
        </p:nvSpPr>
        <p:spPr>
          <a:xfrm>
            <a:off x="395536" y="0"/>
            <a:ext cx="8229600" cy="404664"/>
          </a:xfrm>
        </p:spPr>
        <p:txBody>
          <a:bodyPr>
            <a:noAutofit/>
          </a:bodyPr>
          <a:lstStyle/>
          <a:p>
            <a:r>
              <a:rPr lang="en-GB" sz="3200" dirty="0"/>
              <a:t>Data Manipulation - Merging</a:t>
            </a:r>
          </a:p>
        </p:txBody>
      </p:sp>
      <p:pic>
        <p:nvPicPr>
          <p:cNvPr id="143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0500" y="548680"/>
            <a:ext cx="5143500" cy="2038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4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2537" y="3593403"/>
            <a:ext cx="3019425" cy="281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20395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0"/>
            <a:ext cx="8229600" cy="418058"/>
          </a:xfrm>
        </p:spPr>
        <p:txBody>
          <a:bodyPr>
            <a:normAutofit fontScale="90000"/>
          </a:bodyPr>
          <a:lstStyle/>
          <a:p>
            <a:r>
              <a:rPr lang="en-GB" dirty="0"/>
              <a:t>Data </a:t>
            </a:r>
            <a:r>
              <a:rPr lang="en-GB" dirty="0" err="1"/>
              <a:t>Manapulation</a:t>
            </a:r>
            <a:r>
              <a:rPr lang="en-GB" dirty="0"/>
              <a:t> - Concatenating</a:t>
            </a:r>
          </a:p>
        </p:txBody>
      </p:sp>
      <p:sp>
        <p:nvSpPr>
          <p:cNvPr id="3" name="Content Placeholder 2"/>
          <p:cNvSpPr>
            <a:spLocks noGrp="1"/>
          </p:cNvSpPr>
          <p:nvPr>
            <p:ph idx="1"/>
          </p:nvPr>
        </p:nvSpPr>
        <p:spPr>
          <a:xfrm>
            <a:off x="395536" y="692696"/>
            <a:ext cx="3888432" cy="5616624"/>
          </a:xfrm>
        </p:spPr>
        <p:txBody>
          <a:bodyPr>
            <a:normAutofit fontScale="77500" lnSpcReduction="20000"/>
          </a:bodyPr>
          <a:lstStyle/>
          <a:p>
            <a:r>
              <a:rPr lang="en-GB" dirty="0">
                <a:latin typeface="Courier New" panose="02070309020205020404" pitchFamily="49" charset="0"/>
                <a:cs typeface="Courier New" panose="02070309020205020404" pitchFamily="49" charset="0"/>
              </a:rPr>
              <a:t>Concatenation</a:t>
            </a:r>
            <a:r>
              <a:rPr lang="en-GB" dirty="0"/>
              <a:t> is another type of data combination.</a:t>
            </a:r>
          </a:p>
          <a:p>
            <a:endParaRPr lang="en-GB" dirty="0"/>
          </a:p>
          <a:p>
            <a:pPr marL="0" indent="0">
              <a:buNone/>
            </a:pPr>
            <a:r>
              <a:rPr lang="en-GB" dirty="0"/>
              <a:t>So, while </a:t>
            </a:r>
            <a:r>
              <a:rPr lang="en-US" dirty="0">
                <a:latin typeface="Courier New" panose="02070309020205020404" pitchFamily="49" charset="0"/>
                <a:cs typeface="Courier New" panose="02070309020205020404" pitchFamily="49" charset="0"/>
              </a:rPr>
              <a:t>merging</a:t>
            </a:r>
            <a:r>
              <a:rPr lang="en-US" dirty="0"/>
              <a:t> combines data </a:t>
            </a:r>
            <a:r>
              <a:rPr lang="en-US" dirty="0">
                <a:solidFill>
                  <a:srgbClr val="FF0000"/>
                </a:solidFill>
              </a:rPr>
              <a:t>by matching keys</a:t>
            </a:r>
            <a:r>
              <a:rPr lang="en-US" dirty="0"/>
              <a:t>, </a:t>
            </a:r>
            <a:r>
              <a:rPr lang="en-US" dirty="0">
                <a:latin typeface="Courier New" panose="02070309020205020404" pitchFamily="49" charset="0"/>
                <a:cs typeface="Courier New" panose="02070309020205020404" pitchFamily="49" charset="0"/>
              </a:rPr>
              <a:t>concatenation</a:t>
            </a:r>
            <a:r>
              <a:rPr lang="en-US" dirty="0"/>
              <a:t> </a:t>
            </a:r>
            <a:r>
              <a:rPr lang="en-US" dirty="0">
                <a:solidFill>
                  <a:srgbClr val="FF0000"/>
                </a:solidFill>
              </a:rPr>
              <a:t>combines objects along an axis. </a:t>
            </a:r>
          </a:p>
          <a:p>
            <a:pPr marL="0" indent="0">
              <a:buNone/>
            </a:pPr>
            <a:endParaRPr lang="en-GB" dirty="0">
              <a:solidFill>
                <a:srgbClr val="FF0000"/>
              </a:solidFill>
            </a:endParaRPr>
          </a:p>
          <a:p>
            <a:r>
              <a:rPr lang="en-GB" dirty="0">
                <a:latin typeface="Courier New" panose="02070309020205020404" pitchFamily="49" charset="0"/>
                <a:cs typeface="Courier New" panose="02070309020205020404" pitchFamily="49" charset="0"/>
              </a:rPr>
              <a:t>NumPy</a:t>
            </a:r>
            <a:r>
              <a:rPr lang="en-GB" dirty="0"/>
              <a:t> provides a </a:t>
            </a:r>
            <a:r>
              <a:rPr lang="en-GB" dirty="0" err="1">
                <a:latin typeface="Courier New" panose="02070309020205020404" pitchFamily="49" charset="0"/>
                <a:cs typeface="Courier New" panose="02070309020205020404" pitchFamily="49" charset="0"/>
              </a:rPr>
              <a:t>np.concatenate</a:t>
            </a:r>
            <a:r>
              <a:rPr lang="en-GB" dirty="0">
                <a:latin typeface="Courier New" panose="02070309020205020404" pitchFamily="49" charset="0"/>
                <a:cs typeface="Courier New" panose="02070309020205020404" pitchFamily="49" charset="0"/>
              </a:rPr>
              <a:t>() </a:t>
            </a:r>
            <a:r>
              <a:rPr lang="en-GB" dirty="0"/>
              <a:t>function to combine arrays along an existing axis</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056" y="764704"/>
            <a:ext cx="3562350" cy="428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6875" y="5083780"/>
            <a:ext cx="3505200" cy="1695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42469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0"/>
            <a:ext cx="8229600" cy="418058"/>
          </a:xfrm>
        </p:spPr>
        <p:txBody>
          <a:bodyPr>
            <a:noAutofit/>
          </a:bodyPr>
          <a:lstStyle/>
          <a:p>
            <a:r>
              <a:rPr lang="en-GB" sz="3200" dirty="0"/>
              <a:t>Data Manipulation - Concatenating Series</a:t>
            </a:r>
          </a:p>
        </p:txBody>
      </p:sp>
      <p:sp>
        <p:nvSpPr>
          <p:cNvPr id="3" name="Content Placeholder 2"/>
          <p:cNvSpPr>
            <a:spLocks noGrp="1"/>
          </p:cNvSpPr>
          <p:nvPr>
            <p:ph idx="1"/>
          </p:nvPr>
        </p:nvSpPr>
        <p:spPr>
          <a:xfrm>
            <a:off x="395536" y="692696"/>
            <a:ext cx="3312368" cy="5256584"/>
          </a:xfrm>
        </p:spPr>
        <p:txBody>
          <a:bodyPr>
            <a:normAutofit fontScale="77500" lnSpcReduction="20000"/>
          </a:bodyPr>
          <a:lstStyle/>
          <a:p>
            <a:r>
              <a:rPr lang="en-GB" dirty="0">
                <a:cs typeface="Courier New" panose="02070309020205020404" pitchFamily="49" charset="0"/>
              </a:rPr>
              <a:t>With pandas library and its data structure like </a:t>
            </a:r>
            <a:r>
              <a:rPr lang="en-GB" dirty="0">
                <a:latin typeface="Courier New" panose="02070309020205020404" pitchFamily="49" charset="0"/>
                <a:cs typeface="Courier New" panose="02070309020205020404" pitchFamily="49" charset="0"/>
              </a:rPr>
              <a:t>series</a:t>
            </a:r>
            <a:r>
              <a:rPr lang="en-GB" dirty="0">
                <a:cs typeface="Courier New" panose="02070309020205020404" pitchFamily="49" charset="0"/>
              </a:rPr>
              <a:t> and </a:t>
            </a:r>
            <a:r>
              <a:rPr lang="en-GB" dirty="0" err="1">
                <a:latin typeface="Courier New" panose="02070309020205020404" pitchFamily="49" charset="0"/>
                <a:cs typeface="Courier New" panose="02070309020205020404" pitchFamily="49" charset="0"/>
              </a:rPr>
              <a:t>dataframe</a:t>
            </a:r>
            <a:r>
              <a:rPr lang="en-GB" dirty="0">
                <a:cs typeface="Courier New" panose="02070309020205020404" pitchFamily="49" charset="0"/>
              </a:rPr>
              <a:t>, having labelled axes allows further generalisation of the concatenation of arrays.</a:t>
            </a:r>
          </a:p>
          <a:p>
            <a:pPr marL="0" indent="0">
              <a:buNone/>
            </a:pPr>
            <a:endParaRPr lang="en-GB" dirty="0">
              <a:cs typeface="Courier New" panose="02070309020205020404" pitchFamily="49" charset="0"/>
            </a:endParaRPr>
          </a:p>
          <a:p>
            <a:r>
              <a:rPr lang="en-US" dirty="0">
                <a:cs typeface="Courier New" panose="02070309020205020404" pitchFamily="49" charset="0"/>
              </a:rPr>
              <a:t>Pandas uses </a:t>
            </a:r>
            <a:r>
              <a:rPr lang="en-US" dirty="0" err="1">
                <a:latin typeface="Courier New" panose="02070309020205020404" pitchFamily="49" charset="0"/>
                <a:cs typeface="Courier New" panose="02070309020205020404" pitchFamily="49" charset="0"/>
              </a:rPr>
              <a:t>pd.concat</a:t>
            </a:r>
            <a:r>
              <a:rPr lang="en-US" dirty="0">
                <a:latin typeface="Courier New" panose="02070309020205020404" pitchFamily="49" charset="0"/>
                <a:cs typeface="Courier New" panose="02070309020205020404" pitchFamily="49" charset="0"/>
              </a:rPr>
              <a:t>() </a:t>
            </a:r>
            <a:r>
              <a:rPr lang="en-US" dirty="0">
                <a:cs typeface="Courier New" panose="02070309020205020404" pitchFamily="49" charset="0"/>
              </a:rPr>
              <a:t>to combine Series or </a:t>
            </a:r>
            <a:r>
              <a:rPr lang="en-US" dirty="0" err="1">
                <a:cs typeface="Courier New" panose="02070309020205020404" pitchFamily="49" charset="0"/>
              </a:rPr>
              <a:t>DataFrames</a:t>
            </a:r>
            <a:r>
              <a:rPr lang="en-US" dirty="0">
                <a:cs typeface="Courier New" panose="02070309020205020404" pitchFamily="49" charset="0"/>
              </a:rPr>
              <a:t> along an axis.</a:t>
            </a:r>
            <a:endParaRPr lang="en-GB" dirty="0">
              <a:cs typeface="Courier New" panose="02070309020205020404" pitchFamily="49" charset="0"/>
            </a:endParaRPr>
          </a:p>
          <a:p>
            <a:endParaRPr lang="en-GB" dirty="0">
              <a:cs typeface="Courier New" panose="02070309020205020404" pitchFamily="49" charset="0"/>
            </a:endParaRPr>
          </a:p>
          <a:p>
            <a:endParaRPr lang="en-GB"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920" y="650170"/>
            <a:ext cx="4608959" cy="5717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00024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764704"/>
            <a:ext cx="3744416" cy="5616624"/>
          </a:xfrm>
        </p:spPr>
        <p:txBody>
          <a:bodyPr>
            <a:normAutofit fontScale="85000" lnSpcReduction="20000"/>
          </a:bodyPr>
          <a:lstStyle/>
          <a:p>
            <a:r>
              <a:rPr lang="en-GB" dirty="0"/>
              <a:t>To create a hierarchical index on the concatenation, use the </a:t>
            </a:r>
            <a:r>
              <a:rPr lang="en-GB" dirty="0">
                <a:latin typeface="Courier New" panose="02070309020205020404" pitchFamily="49" charset="0"/>
                <a:cs typeface="Courier New" panose="02070309020205020404" pitchFamily="49" charset="0"/>
              </a:rPr>
              <a:t>keys</a:t>
            </a:r>
            <a:r>
              <a:rPr lang="en-GB" dirty="0"/>
              <a:t> option.</a:t>
            </a:r>
          </a:p>
          <a:p>
            <a:endParaRPr lang="en-GB" dirty="0"/>
          </a:p>
          <a:p>
            <a:endParaRPr lang="en-GB" dirty="0"/>
          </a:p>
          <a:p>
            <a:endParaRPr lang="en-GB" dirty="0"/>
          </a:p>
          <a:p>
            <a:pPr marL="0" indent="0">
              <a:buNone/>
            </a:pPr>
            <a:endParaRPr lang="en-GB" dirty="0"/>
          </a:p>
          <a:p>
            <a:r>
              <a:rPr lang="en-GB" dirty="0"/>
              <a:t>In the case of combinations between series along the </a:t>
            </a:r>
            <a:r>
              <a:rPr lang="en-GB" dirty="0">
                <a:latin typeface="Courier New" panose="02070309020205020404" pitchFamily="49" charset="0"/>
                <a:cs typeface="Courier New" panose="02070309020205020404" pitchFamily="49" charset="0"/>
              </a:rPr>
              <a:t>axis = 1</a:t>
            </a:r>
            <a:r>
              <a:rPr lang="en-GB" dirty="0"/>
              <a:t> the keys become the column headers of the </a:t>
            </a:r>
            <a:r>
              <a:rPr lang="en-GB" dirty="0" err="1"/>
              <a:t>dataframe</a:t>
            </a:r>
            <a:r>
              <a:rPr lang="en-GB" dirty="0"/>
              <a:t>.</a:t>
            </a:r>
          </a:p>
          <a:p>
            <a:endParaRPr lang="en-GB" dirty="0"/>
          </a:p>
          <a:p>
            <a:endParaRPr lang="en-GB" dirty="0"/>
          </a:p>
        </p:txBody>
      </p:sp>
      <p:sp>
        <p:nvSpPr>
          <p:cNvPr id="4" name="Title 1"/>
          <p:cNvSpPr>
            <a:spLocks noGrp="1"/>
          </p:cNvSpPr>
          <p:nvPr>
            <p:ph type="title"/>
          </p:nvPr>
        </p:nvSpPr>
        <p:spPr>
          <a:xfrm>
            <a:off x="395536" y="0"/>
            <a:ext cx="8229600" cy="418058"/>
          </a:xfrm>
        </p:spPr>
        <p:txBody>
          <a:bodyPr>
            <a:noAutofit/>
          </a:bodyPr>
          <a:lstStyle/>
          <a:p>
            <a:r>
              <a:rPr lang="en-GB" sz="3200" dirty="0"/>
              <a:t>Data Manipulation - Concatenating Series</a:t>
            </a: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104" y="809604"/>
            <a:ext cx="3086100" cy="223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9033" y="3284984"/>
            <a:ext cx="3971925" cy="3171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3867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980728"/>
            <a:ext cx="8229600" cy="964704"/>
          </a:xfrm>
        </p:spPr>
        <p:txBody>
          <a:bodyPr>
            <a:normAutofit fontScale="92500" lnSpcReduction="10000"/>
          </a:bodyPr>
          <a:lstStyle/>
          <a:p>
            <a:r>
              <a:rPr lang="en-GB" dirty="0"/>
              <a:t>The same logic of concatenation applied to the series can be applied to the </a:t>
            </a:r>
            <a:r>
              <a:rPr lang="en-GB" dirty="0" err="1"/>
              <a:t>dataframe</a:t>
            </a:r>
            <a:endParaRPr lang="en-GB" dirty="0"/>
          </a:p>
        </p:txBody>
      </p:sp>
      <p:sp>
        <p:nvSpPr>
          <p:cNvPr id="4" name="Title 1"/>
          <p:cNvSpPr>
            <a:spLocks noGrp="1"/>
          </p:cNvSpPr>
          <p:nvPr>
            <p:ph type="title"/>
          </p:nvPr>
        </p:nvSpPr>
        <p:spPr>
          <a:xfrm>
            <a:off x="457200" y="44624"/>
            <a:ext cx="8229600" cy="504056"/>
          </a:xfrm>
        </p:spPr>
        <p:txBody>
          <a:bodyPr>
            <a:noAutofit/>
          </a:bodyPr>
          <a:lstStyle/>
          <a:p>
            <a:r>
              <a:rPr lang="en-GB" sz="3200" dirty="0"/>
              <a:t>Data manipulation - Concatenating Dataframes</a:t>
            </a:r>
          </a:p>
        </p:txBody>
      </p:sp>
      <p:pic>
        <p:nvPicPr>
          <p:cNvPr id="1843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348880"/>
            <a:ext cx="6086475" cy="3286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1989" y="3501008"/>
            <a:ext cx="4714875" cy="2752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80969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4624"/>
            <a:ext cx="3744416" cy="346050"/>
          </a:xfrm>
        </p:spPr>
        <p:txBody>
          <a:bodyPr>
            <a:normAutofit fontScale="90000"/>
          </a:bodyPr>
          <a:lstStyle/>
          <a:p>
            <a:r>
              <a:rPr lang="en-GB" dirty="0"/>
              <a:t>Combining</a:t>
            </a:r>
          </a:p>
        </p:txBody>
      </p:sp>
      <p:sp>
        <p:nvSpPr>
          <p:cNvPr id="3" name="Content Placeholder 2"/>
          <p:cNvSpPr>
            <a:spLocks noGrp="1"/>
          </p:cNvSpPr>
          <p:nvPr>
            <p:ph idx="1"/>
          </p:nvPr>
        </p:nvSpPr>
        <p:spPr>
          <a:xfrm>
            <a:off x="107504" y="1412776"/>
            <a:ext cx="3826768" cy="4525963"/>
          </a:xfrm>
        </p:spPr>
        <p:txBody>
          <a:bodyPr>
            <a:normAutofit fontScale="70000" lnSpcReduction="20000"/>
          </a:bodyPr>
          <a:lstStyle/>
          <a:p>
            <a:r>
              <a:rPr lang="en-GB" dirty="0"/>
              <a:t>Sometimes, a combination of data cannot be obtained either with merging or with concatenation.</a:t>
            </a:r>
          </a:p>
          <a:p>
            <a:pPr marL="0" indent="0">
              <a:buNone/>
            </a:pPr>
            <a:endParaRPr lang="en-GB" dirty="0"/>
          </a:p>
          <a:p>
            <a:r>
              <a:rPr lang="en-GB" dirty="0"/>
              <a:t>This can be applied to series using the  </a:t>
            </a:r>
            <a:r>
              <a:rPr lang="en-GB" dirty="0" err="1">
                <a:latin typeface="Courier New" panose="02070309020205020404" pitchFamily="49" charset="0"/>
                <a:cs typeface="Courier New" panose="02070309020205020404" pitchFamily="49" charset="0"/>
              </a:rPr>
              <a:t>combine_first</a:t>
            </a:r>
            <a:r>
              <a:rPr lang="en-GB" dirty="0">
                <a:latin typeface="Courier New" panose="02070309020205020404" pitchFamily="49" charset="0"/>
                <a:cs typeface="Courier New" panose="02070309020205020404" pitchFamily="49" charset="0"/>
              </a:rPr>
              <a:t>() </a:t>
            </a:r>
            <a:r>
              <a:rPr lang="en-GB" dirty="0"/>
              <a:t>function </a:t>
            </a:r>
          </a:p>
          <a:p>
            <a:pPr marL="0" indent="0">
              <a:buNone/>
            </a:pPr>
            <a:endParaRPr lang="en-GB" dirty="0"/>
          </a:p>
          <a:p>
            <a:r>
              <a:rPr lang="en-GB" dirty="0"/>
              <a:t>For example we want the two datasets to have indexes that overlap partially or entirely. </a:t>
            </a: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9952" y="44624"/>
            <a:ext cx="4896544" cy="66967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32322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44624"/>
            <a:ext cx="8229600" cy="418058"/>
          </a:xfrm>
        </p:spPr>
        <p:txBody>
          <a:bodyPr>
            <a:normAutofit fontScale="90000"/>
          </a:bodyPr>
          <a:lstStyle/>
          <a:p>
            <a:r>
              <a:rPr lang="en-GB" dirty="0"/>
              <a:t>Data Manipulation - Pivoting</a:t>
            </a:r>
          </a:p>
        </p:txBody>
      </p:sp>
      <p:sp>
        <p:nvSpPr>
          <p:cNvPr id="3" name="Content Placeholder 2"/>
          <p:cNvSpPr>
            <a:spLocks noGrp="1"/>
          </p:cNvSpPr>
          <p:nvPr>
            <p:ph idx="1"/>
          </p:nvPr>
        </p:nvSpPr>
        <p:spPr>
          <a:xfrm>
            <a:off x="467544" y="1052736"/>
            <a:ext cx="8229600" cy="4525963"/>
          </a:xfrm>
        </p:spPr>
        <p:txBody>
          <a:bodyPr>
            <a:normAutofit fontScale="92500" lnSpcReduction="10000"/>
          </a:bodyPr>
          <a:lstStyle/>
          <a:p>
            <a:r>
              <a:rPr lang="en-GB" dirty="0"/>
              <a:t>After putting together the data in order to unify the values collected from different sources, the values can be arranged and rearranged by column values on rows or vice versa. This is operation is know as </a:t>
            </a:r>
            <a:r>
              <a:rPr lang="en-GB" dirty="0">
                <a:latin typeface="Courier New" panose="02070309020205020404" pitchFamily="49" charset="0"/>
                <a:cs typeface="Courier New" panose="02070309020205020404" pitchFamily="49" charset="0"/>
              </a:rPr>
              <a:t>pivoting</a:t>
            </a:r>
            <a:r>
              <a:rPr lang="en-GB" dirty="0"/>
              <a:t>. </a:t>
            </a:r>
          </a:p>
          <a:p>
            <a:pPr marL="0" indent="0">
              <a:buNone/>
            </a:pPr>
            <a:endParaRPr lang="en-GB" dirty="0"/>
          </a:p>
          <a:p>
            <a:r>
              <a:rPr lang="en-GB" dirty="0"/>
              <a:t>In pivoting you have two basic operations:</a:t>
            </a:r>
          </a:p>
          <a:p>
            <a:pPr lvl="1"/>
            <a:r>
              <a:rPr lang="en-GB" dirty="0">
                <a:solidFill>
                  <a:srgbClr val="FF0000"/>
                </a:solidFill>
                <a:latin typeface="Courier New" panose="02070309020205020404" pitchFamily="49" charset="0"/>
                <a:cs typeface="Courier New" panose="02070309020205020404" pitchFamily="49" charset="0"/>
              </a:rPr>
              <a:t>Stacking</a:t>
            </a:r>
            <a:r>
              <a:rPr lang="en-GB" dirty="0"/>
              <a:t> – rotates or pivots the data structure converting columns to rows</a:t>
            </a:r>
          </a:p>
          <a:p>
            <a:pPr lvl="1"/>
            <a:r>
              <a:rPr lang="en-GB" dirty="0">
                <a:solidFill>
                  <a:srgbClr val="FF0000"/>
                </a:solidFill>
                <a:latin typeface="Courier New" panose="02070309020205020404" pitchFamily="49" charset="0"/>
                <a:cs typeface="Courier New" panose="02070309020205020404" pitchFamily="49" charset="0"/>
              </a:rPr>
              <a:t>Unstacking</a:t>
            </a:r>
            <a:r>
              <a:rPr lang="en-GB" dirty="0"/>
              <a:t> – converts row to columns</a:t>
            </a:r>
          </a:p>
        </p:txBody>
      </p:sp>
    </p:spTree>
    <p:extLst>
      <p:ext uri="{BB962C8B-B14F-4D97-AF65-F5344CB8AC3E}">
        <p14:creationId xmlns:p14="http://schemas.microsoft.com/office/powerpoint/2010/main" val="1729880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56"/>
            <a:ext cx="8229600" cy="474816"/>
          </a:xfrm>
        </p:spPr>
        <p:txBody>
          <a:bodyPr>
            <a:normAutofit fontScale="90000"/>
          </a:bodyPr>
          <a:lstStyle/>
          <a:p>
            <a:r>
              <a:rPr lang="en-GB" dirty="0"/>
              <a:t>Data Preparation - Pivoting</a:t>
            </a:r>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437332"/>
            <a:ext cx="4752975" cy="2619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2747019"/>
            <a:ext cx="2028825" cy="2695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1527" y="2747019"/>
            <a:ext cx="1914525" cy="3714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251520" y="5796324"/>
            <a:ext cx="4320480" cy="954107"/>
          </a:xfrm>
          <a:prstGeom prst="rect">
            <a:avLst/>
          </a:prstGeom>
          <a:noFill/>
          <a:ln>
            <a:solidFill>
              <a:srgbClr val="FF0000"/>
            </a:solidFill>
            <a:prstDash val="lgDash"/>
          </a:ln>
        </p:spPr>
        <p:txBody>
          <a:bodyPr wrap="square" rtlCol="0">
            <a:spAutoFit/>
          </a:bodyPr>
          <a:lstStyle/>
          <a:p>
            <a:r>
              <a:rPr lang="en-GB" sz="1400" dirty="0">
                <a:solidFill>
                  <a:prstClr val="black"/>
                </a:solidFill>
                <a:latin typeface="Courier New" panose="02070309020205020404" pitchFamily="49" charset="0"/>
                <a:cs typeface="Courier New" panose="02070309020205020404" pitchFamily="49" charset="0"/>
              </a:rPr>
              <a:t>Using the stack() function on the </a:t>
            </a:r>
            <a:r>
              <a:rPr lang="en-GB" sz="1400" dirty="0" err="1">
                <a:solidFill>
                  <a:prstClr val="black"/>
                </a:solidFill>
                <a:latin typeface="Courier New" panose="02070309020205020404" pitchFamily="49" charset="0"/>
                <a:cs typeface="Courier New" panose="02070309020205020404" pitchFamily="49" charset="0"/>
              </a:rPr>
              <a:t>dataframe</a:t>
            </a:r>
            <a:r>
              <a:rPr lang="en-GB" sz="1400" dirty="0">
                <a:solidFill>
                  <a:prstClr val="black"/>
                </a:solidFill>
                <a:latin typeface="Courier New" panose="02070309020205020404" pitchFamily="49" charset="0"/>
                <a:cs typeface="Courier New" panose="02070309020205020404" pitchFamily="49" charset="0"/>
              </a:rPr>
              <a:t>, you get the pivoting of columns in rows, thus producing a series</a:t>
            </a:r>
          </a:p>
        </p:txBody>
      </p:sp>
      <p:cxnSp>
        <p:nvCxnSpPr>
          <p:cNvPr id="6" name="Straight Arrow Connector 5"/>
          <p:cNvCxnSpPr/>
          <p:nvPr/>
        </p:nvCxnSpPr>
        <p:spPr>
          <a:xfrm flipV="1">
            <a:off x="2411760" y="5013176"/>
            <a:ext cx="360040" cy="6480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07504" y="4601817"/>
            <a:ext cx="2232248" cy="369332"/>
          </a:xfrm>
          <a:prstGeom prst="rect">
            <a:avLst/>
          </a:prstGeom>
          <a:noFill/>
          <a:ln>
            <a:solidFill>
              <a:srgbClr val="FF0000"/>
            </a:solidFill>
            <a:prstDash val="sysDash"/>
          </a:ln>
        </p:spPr>
        <p:txBody>
          <a:bodyPr wrap="square" rtlCol="0">
            <a:spAutoFit/>
          </a:bodyPr>
          <a:lstStyle/>
          <a:p>
            <a:r>
              <a:rPr lang="en-GB" dirty="0">
                <a:solidFill>
                  <a:prstClr val="black"/>
                </a:solidFill>
              </a:rPr>
              <a:t>Initial </a:t>
            </a:r>
            <a:r>
              <a:rPr lang="en-GB" dirty="0" err="1">
                <a:solidFill>
                  <a:prstClr val="black"/>
                </a:solidFill>
              </a:rPr>
              <a:t>dataframe</a:t>
            </a:r>
            <a:endParaRPr lang="en-GB" dirty="0">
              <a:solidFill>
                <a:prstClr val="black"/>
              </a:solidFill>
            </a:endParaRPr>
          </a:p>
        </p:txBody>
      </p:sp>
      <p:cxnSp>
        <p:nvCxnSpPr>
          <p:cNvPr id="9" name="Straight Arrow Connector 8"/>
          <p:cNvCxnSpPr/>
          <p:nvPr/>
        </p:nvCxnSpPr>
        <p:spPr>
          <a:xfrm flipV="1">
            <a:off x="1619672" y="4094806"/>
            <a:ext cx="72008" cy="50701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7164288" y="1556792"/>
            <a:ext cx="1835696" cy="954107"/>
          </a:xfrm>
          <a:prstGeom prst="rect">
            <a:avLst/>
          </a:prstGeom>
          <a:noFill/>
          <a:ln>
            <a:solidFill>
              <a:srgbClr val="7030A0"/>
            </a:solidFill>
            <a:prstDash val="lgDash"/>
          </a:ln>
        </p:spPr>
        <p:txBody>
          <a:bodyPr wrap="square" rtlCol="0">
            <a:spAutoFit/>
          </a:bodyPr>
          <a:lstStyle/>
          <a:p>
            <a:r>
              <a:rPr lang="en-GB" sz="1400" dirty="0">
                <a:solidFill>
                  <a:prstClr val="black"/>
                </a:solidFill>
                <a:latin typeface="Courier New" panose="02070309020205020404" pitchFamily="49" charset="0"/>
                <a:cs typeface="Courier New" panose="02070309020205020404" pitchFamily="49" charset="0"/>
              </a:rPr>
              <a:t>Reassemble the table with unstack() function</a:t>
            </a:r>
          </a:p>
        </p:txBody>
      </p:sp>
      <p:cxnSp>
        <p:nvCxnSpPr>
          <p:cNvPr id="13" name="Straight Arrow Connector 12"/>
          <p:cNvCxnSpPr/>
          <p:nvPr/>
        </p:nvCxnSpPr>
        <p:spPr>
          <a:xfrm flipH="1">
            <a:off x="7278613" y="2510899"/>
            <a:ext cx="605755" cy="70207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7524328" y="5503883"/>
            <a:ext cx="1619672" cy="954107"/>
          </a:xfrm>
          <a:prstGeom prst="rect">
            <a:avLst/>
          </a:prstGeom>
          <a:noFill/>
          <a:ln>
            <a:solidFill>
              <a:srgbClr val="7030A0"/>
            </a:solidFill>
            <a:prstDash val="lgDash"/>
          </a:ln>
        </p:spPr>
        <p:txBody>
          <a:bodyPr wrap="square" rtlCol="0">
            <a:spAutoFit/>
          </a:bodyPr>
          <a:lstStyle/>
          <a:p>
            <a:r>
              <a:rPr lang="en-GB" sz="1400" dirty="0">
                <a:solidFill>
                  <a:prstClr val="black"/>
                </a:solidFill>
                <a:latin typeface="Courier New" panose="02070309020205020404" pitchFamily="49" charset="0"/>
                <a:cs typeface="Courier New" panose="02070309020205020404" pitchFamily="49" charset="0"/>
              </a:rPr>
              <a:t>You can also unstack on a different level</a:t>
            </a:r>
          </a:p>
        </p:txBody>
      </p:sp>
      <p:cxnSp>
        <p:nvCxnSpPr>
          <p:cNvPr id="15" name="Straight Arrow Connector 14"/>
          <p:cNvCxnSpPr/>
          <p:nvPr/>
        </p:nvCxnSpPr>
        <p:spPr>
          <a:xfrm flipH="1">
            <a:off x="7164288" y="5796324"/>
            <a:ext cx="41720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390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496" y="620688"/>
            <a:ext cx="8229600" cy="1800200"/>
          </a:xfrm>
        </p:spPr>
        <p:txBody>
          <a:bodyPr>
            <a:normAutofit fontScale="62500" lnSpcReduction="20000"/>
          </a:bodyPr>
          <a:lstStyle/>
          <a:p>
            <a:r>
              <a:rPr lang="en-GB" dirty="0"/>
              <a:t>Pivoting a type of dataset that have entries on various columns, sometimes duplicated lines – e.g.. A log file that is accumulating data. </a:t>
            </a:r>
          </a:p>
          <a:p>
            <a:r>
              <a:rPr lang="en-GB" dirty="0"/>
              <a:t>This can be difficult to read and in fully understanding the relationship between the key values and the rest of the columns.</a:t>
            </a:r>
          </a:p>
          <a:p>
            <a:r>
              <a:rPr lang="en-GB" dirty="0"/>
              <a:t>Instead of long format, the data can be arranged in a table that is </a:t>
            </a:r>
            <a:r>
              <a:rPr lang="en-GB" i="1" dirty="0"/>
              <a:t>wide</a:t>
            </a:r>
            <a:r>
              <a:rPr lang="en-GB" dirty="0"/>
              <a:t> using the </a:t>
            </a:r>
            <a:r>
              <a:rPr lang="en-GB" dirty="0">
                <a:latin typeface="Courier New" panose="02070309020205020404" pitchFamily="49" charset="0"/>
                <a:cs typeface="Courier New" panose="02070309020205020404" pitchFamily="49" charset="0"/>
              </a:rPr>
              <a:t>pivot() </a:t>
            </a:r>
            <a:r>
              <a:rPr lang="en-GB" dirty="0"/>
              <a:t>function.</a:t>
            </a:r>
          </a:p>
        </p:txBody>
      </p:sp>
      <p:sp>
        <p:nvSpPr>
          <p:cNvPr id="4" name="Title 1"/>
          <p:cNvSpPr>
            <a:spLocks noGrp="1"/>
          </p:cNvSpPr>
          <p:nvPr>
            <p:ph type="title"/>
          </p:nvPr>
        </p:nvSpPr>
        <p:spPr>
          <a:xfrm>
            <a:off x="16250" y="19108"/>
            <a:ext cx="9144000" cy="490066"/>
          </a:xfrm>
        </p:spPr>
        <p:txBody>
          <a:bodyPr>
            <a:noAutofit/>
          </a:bodyPr>
          <a:lstStyle/>
          <a:p>
            <a:r>
              <a:rPr lang="en-GB" sz="3200" dirty="0"/>
              <a:t>Pivoting from ‘Long’ to ‘Wide’ format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264" y="2540496"/>
            <a:ext cx="4531791" cy="43175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040" y="3933056"/>
            <a:ext cx="3952875"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5364088" y="2348880"/>
            <a:ext cx="3520827" cy="954107"/>
          </a:xfrm>
          <a:prstGeom prst="rect">
            <a:avLst/>
          </a:prstGeom>
          <a:noFill/>
          <a:ln>
            <a:solidFill>
              <a:srgbClr val="FF0000"/>
            </a:solidFill>
            <a:prstDash val="lgDash"/>
          </a:ln>
        </p:spPr>
        <p:txBody>
          <a:bodyPr wrap="square" rtlCol="0">
            <a:spAutoFit/>
          </a:bodyPr>
          <a:lstStyle/>
          <a:p>
            <a:r>
              <a:rPr lang="en-GB" sz="1400" dirty="0">
                <a:solidFill>
                  <a:prstClr val="black"/>
                </a:solidFill>
                <a:latin typeface="Courier New" panose="02070309020205020404" pitchFamily="49" charset="0"/>
                <a:cs typeface="Courier New" panose="02070309020205020404" pitchFamily="49" charset="0"/>
              </a:rPr>
              <a:t>pivot() </a:t>
            </a:r>
            <a:r>
              <a:rPr lang="en-US" sz="1400" dirty="0">
                <a:solidFill>
                  <a:prstClr val="black"/>
                </a:solidFill>
                <a:latin typeface="Courier New" panose="02070309020205020404" pitchFamily="49" charset="0"/>
                <a:cs typeface="Courier New" panose="02070309020205020404" pitchFamily="49" charset="0"/>
              </a:rPr>
              <a:t>can reshape data from long format to wide format, which may make some patterns easier to view or </a:t>
            </a:r>
            <a:r>
              <a:rPr lang="en-US" sz="1400" dirty="0" err="1">
                <a:solidFill>
                  <a:prstClr val="black"/>
                </a:solidFill>
                <a:latin typeface="Courier New" panose="02070309020205020404" pitchFamily="49" charset="0"/>
                <a:cs typeface="Courier New" panose="02070309020205020404" pitchFamily="49" charset="0"/>
              </a:rPr>
              <a:t>analyse</a:t>
            </a:r>
            <a:r>
              <a:rPr lang="en-US" sz="1400" dirty="0">
                <a:solidFill>
                  <a:prstClr val="black"/>
                </a:solidFill>
                <a:latin typeface="Courier New" panose="02070309020205020404" pitchFamily="49" charset="0"/>
                <a:cs typeface="Courier New" panose="02070309020205020404" pitchFamily="49" charset="0"/>
              </a:rPr>
              <a:t>.</a:t>
            </a:r>
            <a:endParaRPr lang="en-GB" sz="1400" dirty="0">
              <a:solidFill>
                <a:prstClr val="black"/>
              </a:solidFill>
              <a:latin typeface="Courier New" panose="02070309020205020404" pitchFamily="49" charset="0"/>
              <a:cs typeface="Courier New" panose="02070309020205020404" pitchFamily="49" charset="0"/>
            </a:endParaRPr>
          </a:p>
        </p:txBody>
      </p:sp>
      <p:cxnSp>
        <p:nvCxnSpPr>
          <p:cNvPr id="7" name="Straight Arrow Connector 6"/>
          <p:cNvCxnSpPr/>
          <p:nvPr/>
        </p:nvCxnSpPr>
        <p:spPr>
          <a:xfrm>
            <a:off x="7164288" y="3374995"/>
            <a:ext cx="0" cy="4140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386416" y="4859124"/>
            <a:ext cx="1800200" cy="1384995"/>
          </a:xfrm>
          <a:prstGeom prst="rect">
            <a:avLst/>
          </a:prstGeom>
          <a:noFill/>
          <a:ln>
            <a:solidFill>
              <a:srgbClr val="FF0000"/>
            </a:solidFill>
            <a:prstDash val="lgDash"/>
          </a:ln>
        </p:spPr>
        <p:txBody>
          <a:bodyPr wrap="square" rtlCol="0">
            <a:spAutoFit/>
          </a:bodyPr>
          <a:lstStyle/>
          <a:p>
            <a:r>
              <a:rPr lang="en-GB" sz="1400" dirty="0">
                <a:solidFill>
                  <a:prstClr val="black"/>
                </a:solidFill>
                <a:latin typeface="Courier New" panose="02070309020205020404" pitchFamily="49" charset="0"/>
                <a:cs typeface="Courier New" panose="02070309020205020404" pitchFamily="49" charset="0"/>
              </a:rPr>
              <a:t>Long type: difficult to read and understanding in more complex data</a:t>
            </a:r>
          </a:p>
        </p:txBody>
      </p:sp>
      <p:cxnSp>
        <p:nvCxnSpPr>
          <p:cNvPr id="9" name="Straight Arrow Connector 8"/>
          <p:cNvCxnSpPr/>
          <p:nvPr/>
        </p:nvCxnSpPr>
        <p:spPr>
          <a:xfrm flipH="1">
            <a:off x="1835696" y="5228456"/>
            <a:ext cx="55072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8033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0482"/>
            <a:ext cx="8229600" cy="418058"/>
          </a:xfrm>
        </p:spPr>
        <p:txBody>
          <a:bodyPr>
            <a:normAutofit fontScale="90000"/>
          </a:bodyPr>
          <a:lstStyle/>
          <a:p>
            <a:r>
              <a:rPr lang="en-GB" dirty="0"/>
              <a:t>Data preparation - Removing</a:t>
            </a:r>
          </a:p>
        </p:txBody>
      </p:sp>
      <p:sp>
        <p:nvSpPr>
          <p:cNvPr id="3" name="Content Placeholder 2"/>
          <p:cNvSpPr>
            <a:spLocks noGrp="1"/>
          </p:cNvSpPr>
          <p:nvPr>
            <p:ph idx="1"/>
          </p:nvPr>
        </p:nvSpPr>
        <p:spPr>
          <a:xfrm>
            <a:off x="395536" y="908721"/>
            <a:ext cx="8229600" cy="1584175"/>
          </a:xfrm>
        </p:spPr>
        <p:txBody>
          <a:bodyPr>
            <a:normAutofit fontScale="62500" lnSpcReduction="20000"/>
          </a:bodyPr>
          <a:lstStyle/>
          <a:p>
            <a:r>
              <a:rPr lang="en-GB" dirty="0"/>
              <a:t>The last stage of data preparation is the removal of columns and rows.</a:t>
            </a:r>
          </a:p>
          <a:p>
            <a:r>
              <a:rPr lang="en-GB" dirty="0"/>
              <a:t>In order to remove a </a:t>
            </a:r>
            <a:r>
              <a:rPr lang="en-GB" dirty="0">
                <a:latin typeface="Courier New" panose="02070309020205020404" pitchFamily="49" charset="0"/>
                <a:cs typeface="Courier New" panose="02070309020205020404" pitchFamily="49" charset="0"/>
              </a:rPr>
              <a:t>column</a:t>
            </a:r>
            <a:r>
              <a:rPr lang="en-GB" dirty="0"/>
              <a:t>, use </a:t>
            </a:r>
            <a:r>
              <a:rPr lang="en-GB" dirty="0">
                <a:latin typeface="Courier New" panose="02070309020205020404" pitchFamily="49" charset="0"/>
                <a:cs typeface="Courier New" panose="02070309020205020404" pitchFamily="49" charset="0"/>
              </a:rPr>
              <a:t>del</a:t>
            </a:r>
            <a:r>
              <a:rPr lang="en-GB" dirty="0"/>
              <a:t> command applied to the </a:t>
            </a:r>
            <a:r>
              <a:rPr lang="en-GB" dirty="0" err="1"/>
              <a:t>dataframe</a:t>
            </a:r>
            <a:r>
              <a:rPr lang="en-GB" dirty="0"/>
              <a:t> with the column name specified.</a:t>
            </a:r>
          </a:p>
          <a:p>
            <a:r>
              <a:rPr lang="en-GB" dirty="0"/>
              <a:t>To remove a </a:t>
            </a:r>
            <a:r>
              <a:rPr lang="en-GB" dirty="0">
                <a:latin typeface="Courier New" panose="02070309020205020404" pitchFamily="49" charset="0"/>
                <a:cs typeface="Courier New" panose="02070309020205020404" pitchFamily="49" charset="0"/>
              </a:rPr>
              <a:t>row</a:t>
            </a:r>
            <a:r>
              <a:rPr lang="en-GB" dirty="0"/>
              <a:t>, use the </a:t>
            </a:r>
            <a:r>
              <a:rPr lang="en-GB" dirty="0">
                <a:latin typeface="Courier New" panose="02070309020205020404" pitchFamily="49" charset="0"/>
                <a:cs typeface="Courier New" panose="02070309020205020404" pitchFamily="49" charset="0"/>
              </a:rPr>
              <a:t>drop()</a:t>
            </a:r>
            <a:r>
              <a:rPr lang="en-GB" dirty="0"/>
              <a:t> function with the label of the corresponding index as argument</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25" y="2347739"/>
            <a:ext cx="4810125" cy="289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3174" y="3507359"/>
            <a:ext cx="1529141" cy="2495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97195" y="4079947"/>
            <a:ext cx="2095500" cy="1590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07504" y="5517232"/>
            <a:ext cx="1728192" cy="646331"/>
          </a:xfrm>
          <a:prstGeom prst="rect">
            <a:avLst/>
          </a:prstGeom>
          <a:noFill/>
          <a:ln>
            <a:solidFill>
              <a:srgbClr val="7030A0"/>
            </a:solidFill>
            <a:prstDash val="dash"/>
          </a:ln>
        </p:spPr>
        <p:txBody>
          <a:bodyPr wrap="square" rtlCol="0">
            <a:spAutoFit/>
          </a:bodyPr>
          <a:lstStyle/>
          <a:p>
            <a:r>
              <a:rPr lang="en-GB" dirty="0">
                <a:solidFill>
                  <a:prstClr val="black"/>
                </a:solidFill>
                <a:latin typeface="Courier New" panose="02070309020205020404" pitchFamily="49" charset="0"/>
                <a:cs typeface="Courier New" panose="02070309020205020404" pitchFamily="49" charset="0"/>
              </a:rPr>
              <a:t>Initial </a:t>
            </a:r>
            <a:r>
              <a:rPr lang="en-GB" dirty="0" err="1">
                <a:solidFill>
                  <a:prstClr val="black"/>
                </a:solidFill>
                <a:latin typeface="Courier New" panose="02070309020205020404" pitchFamily="49" charset="0"/>
                <a:cs typeface="Courier New" panose="02070309020205020404" pitchFamily="49" charset="0"/>
              </a:rPr>
              <a:t>dataframe</a:t>
            </a:r>
            <a:endParaRPr lang="en-GB" dirty="0">
              <a:solidFill>
                <a:prstClr val="black"/>
              </a:solidFill>
              <a:latin typeface="Courier New" panose="02070309020205020404" pitchFamily="49" charset="0"/>
              <a:cs typeface="Courier New" panose="02070309020205020404" pitchFamily="49" charset="0"/>
            </a:endParaRPr>
          </a:p>
        </p:txBody>
      </p:sp>
      <p:sp>
        <p:nvSpPr>
          <p:cNvPr id="8" name="TextBox 7"/>
          <p:cNvSpPr txBox="1"/>
          <p:nvPr/>
        </p:nvSpPr>
        <p:spPr>
          <a:xfrm>
            <a:off x="2658588" y="4131029"/>
            <a:ext cx="1625380" cy="1200329"/>
          </a:xfrm>
          <a:prstGeom prst="rect">
            <a:avLst/>
          </a:prstGeom>
          <a:noFill/>
          <a:ln>
            <a:solidFill>
              <a:srgbClr val="7030A0"/>
            </a:solidFill>
            <a:prstDash val="dash"/>
          </a:ln>
        </p:spPr>
        <p:txBody>
          <a:bodyPr wrap="square" rtlCol="0">
            <a:spAutoFit/>
          </a:bodyPr>
          <a:lstStyle/>
          <a:p>
            <a:r>
              <a:rPr lang="en-GB" dirty="0">
                <a:solidFill>
                  <a:prstClr val="black"/>
                </a:solidFill>
                <a:latin typeface="Courier New" panose="02070309020205020404" pitchFamily="49" charset="0"/>
                <a:cs typeface="Courier New" panose="02070309020205020404" pitchFamily="49" charset="0"/>
              </a:rPr>
              <a:t>Removing a column called </a:t>
            </a:r>
            <a:r>
              <a:rPr lang="en-GB" i="1" dirty="0">
                <a:solidFill>
                  <a:prstClr val="black"/>
                </a:solidFill>
                <a:latin typeface="Courier New" panose="02070309020205020404" pitchFamily="49" charset="0"/>
                <a:cs typeface="Courier New" panose="02070309020205020404" pitchFamily="49" charset="0"/>
              </a:rPr>
              <a:t>ball</a:t>
            </a:r>
          </a:p>
        </p:txBody>
      </p:sp>
      <p:sp>
        <p:nvSpPr>
          <p:cNvPr id="9" name="TextBox 8"/>
          <p:cNvSpPr txBox="1"/>
          <p:nvPr/>
        </p:nvSpPr>
        <p:spPr>
          <a:xfrm>
            <a:off x="6372200" y="2492896"/>
            <a:ext cx="2520280" cy="646331"/>
          </a:xfrm>
          <a:prstGeom prst="rect">
            <a:avLst/>
          </a:prstGeom>
          <a:noFill/>
          <a:ln>
            <a:solidFill>
              <a:srgbClr val="7030A0"/>
            </a:solidFill>
            <a:prstDash val="dash"/>
          </a:ln>
        </p:spPr>
        <p:txBody>
          <a:bodyPr wrap="square" rtlCol="0">
            <a:spAutoFit/>
          </a:bodyPr>
          <a:lstStyle/>
          <a:p>
            <a:r>
              <a:rPr lang="en-GB" dirty="0">
                <a:solidFill>
                  <a:prstClr val="black"/>
                </a:solidFill>
                <a:latin typeface="Courier New" panose="02070309020205020404" pitchFamily="49" charset="0"/>
                <a:cs typeface="Courier New" panose="02070309020205020404" pitchFamily="49" charset="0"/>
              </a:rPr>
              <a:t>Removing a row called </a:t>
            </a:r>
            <a:r>
              <a:rPr lang="en-GB" i="1" dirty="0">
                <a:solidFill>
                  <a:prstClr val="black"/>
                </a:solidFill>
                <a:latin typeface="Courier New" panose="02070309020205020404" pitchFamily="49" charset="0"/>
                <a:cs typeface="Courier New" panose="02070309020205020404" pitchFamily="49" charset="0"/>
              </a:rPr>
              <a:t>white</a:t>
            </a:r>
          </a:p>
        </p:txBody>
      </p:sp>
      <p:cxnSp>
        <p:nvCxnSpPr>
          <p:cNvPr id="6" name="Straight Arrow Connector 5"/>
          <p:cNvCxnSpPr/>
          <p:nvPr/>
        </p:nvCxnSpPr>
        <p:spPr>
          <a:xfrm>
            <a:off x="8095636" y="3139227"/>
            <a:ext cx="0" cy="8658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4355976" y="4509120"/>
            <a:ext cx="69359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1403648" y="5243339"/>
            <a:ext cx="72008" cy="27389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54B5741-698D-82F1-65D0-F378866DC9C1}"/>
              </a:ext>
            </a:extLst>
          </p:cNvPr>
          <p:cNvSpPr txBox="1"/>
          <p:nvPr/>
        </p:nvSpPr>
        <p:spPr>
          <a:xfrm>
            <a:off x="2000214" y="5637446"/>
            <a:ext cx="3306043" cy="338554"/>
          </a:xfrm>
          <a:custGeom>
            <a:avLst/>
            <a:gdLst>
              <a:gd name="csX0" fmla="*/ 0 w 3306043"/>
              <a:gd name="csY0" fmla="*/ 0 h 338554"/>
              <a:gd name="csX1" fmla="*/ 551007 w 3306043"/>
              <a:gd name="csY1" fmla="*/ 0 h 338554"/>
              <a:gd name="csX2" fmla="*/ 1068954 w 3306043"/>
              <a:gd name="csY2" fmla="*/ 0 h 338554"/>
              <a:gd name="csX3" fmla="*/ 1653022 w 3306043"/>
              <a:gd name="csY3" fmla="*/ 0 h 338554"/>
              <a:gd name="csX4" fmla="*/ 2270150 w 3306043"/>
              <a:gd name="csY4" fmla="*/ 0 h 338554"/>
              <a:gd name="csX5" fmla="*/ 2821157 w 3306043"/>
              <a:gd name="csY5" fmla="*/ 0 h 338554"/>
              <a:gd name="csX6" fmla="*/ 3306043 w 3306043"/>
              <a:gd name="csY6" fmla="*/ 0 h 338554"/>
              <a:gd name="csX7" fmla="*/ 3306043 w 3306043"/>
              <a:gd name="csY7" fmla="*/ 338554 h 338554"/>
              <a:gd name="csX8" fmla="*/ 2854217 w 3306043"/>
              <a:gd name="csY8" fmla="*/ 338554 h 338554"/>
              <a:gd name="csX9" fmla="*/ 2303210 w 3306043"/>
              <a:gd name="csY9" fmla="*/ 338554 h 338554"/>
              <a:gd name="csX10" fmla="*/ 1719142 w 3306043"/>
              <a:gd name="csY10" fmla="*/ 338554 h 338554"/>
              <a:gd name="csX11" fmla="*/ 1102014 w 3306043"/>
              <a:gd name="csY11" fmla="*/ 338554 h 338554"/>
              <a:gd name="csX12" fmla="*/ 484886 w 3306043"/>
              <a:gd name="csY12" fmla="*/ 338554 h 338554"/>
              <a:gd name="csX13" fmla="*/ 0 w 3306043"/>
              <a:gd name="csY13" fmla="*/ 338554 h 338554"/>
              <a:gd name="csX14" fmla="*/ 0 w 3306043"/>
              <a:gd name="csY14" fmla="*/ 0 h 3385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306043" h="338554" extrusionOk="0">
                <a:moveTo>
                  <a:pt x="0" y="0"/>
                </a:moveTo>
                <a:cubicBezTo>
                  <a:pt x="186429" y="-47834"/>
                  <a:pt x="369842" y="63847"/>
                  <a:pt x="551007" y="0"/>
                </a:cubicBezTo>
                <a:cubicBezTo>
                  <a:pt x="732172" y="-63847"/>
                  <a:pt x="941354" y="13792"/>
                  <a:pt x="1068954" y="0"/>
                </a:cubicBezTo>
                <a:cubicBezTo>
                  <a:pt x="1196554" y="-13792"/>
                  <a:pt x="1531242" y="49140"/>
                  <a:pt x="1653022" y="0"/>
                </a:cubicBezTo>
                <a:cubicBezTo>
                  <a:pt x="1774802" y="-49140"/>
                  <a:pt x="2122736" y="17881"/>
                  <a:pt x="2270150" y="0"/>
                </a:cubicBezTo>
                <a:cubicBezTo>
                  <a:pt x="2417564" y="-17881"/>
                  <a:pt x="2575678" y="65971"/>
                  <a:pt x="2821157" y="0"/>
                </a:cubicBezTo>
                <a:cubicBezTo>
                  <a:pt x="3066636" y="-65971"/>
                  <a:pt x="3160321" y="17173"/>
                  <a:pt x="3306043" y="0"/>
                </a:cubicBezTo>
                <a:cubicBezTo>
                  <a:pt x="3318737" y="94371"/>
                  <a:pt x="3268040" y="179673"/>
                  <a:pt x="3306043" y="338554"/>
                </a:cubicBezTo>
                <a:cubicBezTo>
                  <a:pt x="3200685" y="391610"/>
                  <a:pt x="3031982" y="326018"/>
                  <a:pt x="2854217" y="338554"/>
                </a:cubicBezTo>
                <a:cubicBezTo>
                  <a:pt x="2676452" y="351090"/>
                  <a:pt x="2575039" y="309373"/>
                  <a:pt x="2303210" y="338554"/>
                </a:cubicBezTo>
                <a:cubicBezTo>
                  <a:pt x="2031381" y="367735"/>
                  <a:pt x="1969662" y="280357"/>
                  <a:pt x="1719142" y="338554"/>
                </a:cubicBezTo>
                <a:cubicBezTo>
                  <a:pt x="1468622" y="396751"/>
                  <a:pt x="1361112" y="310586"/>
                  <a:pt x="1102014" y="338554"/>
                </a:cubicBezTo>
                <a:cubicBezTo>
                  <a:pt x="842916" y="366522"/>
                  <a:pt x="749589" y="274935"/>
                  <a:pt x="484886" y="338554"/>
                </a:cubicBezTo>
                <a:cubicBezTo>
                  <a:pt x="220183" y="402173"/>
                  <a:pt x="140543" y="327771"/>
                  <a:pt x="0" y="338554"/>
                </a:cubicBezTo>
                <a:cubicBezTo>
                  <a:pt x="-27920" y="247134"/>
                  <a:pt x="11790" y="129225"/>
                  <a:pt x="0" y="0"/>
                </a:cubicBezTo>
                <a:close/>
              </a:path>
            </a:pathLst>
          </a:custGeom>
          <a:noFill/>
          <a:ln>
            <a:solidFill>
              <a:schemeClr val="accent1"/>
            </a:solidFill>
            <a:extLst>
              <a:ext uri="{C807C97D-BFC1-408E-A445-0C87EB9F89A2}">
                <ask:lineSketchStyleProps xmlns:ask="http://schemas.microsoft.com/office/drawing/2018/sketchyshapes" sd="1617499634">
                  <a:prstGeom prst="rect">
                    <a:avLst/>
                  </a:prstGeom>
                  <ask:type>
                    <ask:lineSketchScribble/>
                  </ask:type>
                </ask:lineSketchStyleProps>
              </a:ext>
            </a:extLst>
          </a:ln>
        </p:spPr>
        <p:txBody>
          <a:bodyPr wrap="square">
            <a:spAutoFit/>
          </a:bodyPr>
          <a:lstStyle/>
          <a:p>
            <a:r>
              <a:rPr lang="en-GB" sz="1600" dirty="0" err="1">
                <a:latin typeface="Courier New" panose="02070309020205020404" pitchFamily="49" charset="0"/>
                <a:cs typeface="Courier New" panose="02070309020205020404" pitchFamily="49" charset="0"/>
              </a:rPr>
              <a:t>df.drop</a:t>
            </a:r>
            <a:r>
              <a:rPr lang="en-GB" sz="1600" dirty="0">
                <a:latin typeface="Courier New" panose="02070309020205020404" pitchFamily="49" charset="0"/>
                <a:cs typeface="Courier New" panose="02070309020205020404" pitchFamily="49" charset="0"/>
              </a:rPr>
              <a:t>(columns=["ball"])</a:t>
            </a:r>
          </a:p>
        </p:txBody>
      </p:sp>
      <p:sp>
        <p:nvSpPr>
          <p:cNvPr id="11" name="TextBox 10">
            <a:extLst>
              <a:ext uri="{FF2B5EF4-FFF2-40B4-BE49-F238E27FC236}">
                <a16:creationId xmlns:a16="http://schemas.microsoft.com/office/drawing/2014/main" id="{FBF9161D-7B3A-3CA8-4875-D5906A4873F5}"/>
              </a:ext>
            </a:extLst>
          </p:cNvPr>
          <p:cNvSpPr txBox="1"/>
          <p:nvPr/>
        </p:nvSpPr>
        <p:spPr>
          <a:xfrm>
            <a:off x="2131050" y="6223919"/>
            <a:ext cx="3255258" cy="369332"/>
          </a:xfrm>
          <a:custGeom>
            <a:avLst/>
            <a:gdLst>
              <a:gd name="csX0" fmla="*/ 0 w 3255258"/>
              <a:gd name="csY0" fmla="*/ 0 h 369332"/>
              <a:gd name="csX1" fmla="*/ 618499 w 3255258"/>
              <a:gd name="csY1" fmla="*/ 0 h 369332"/>
              <a:gd name="csX2" fmla="*/ 1171893 w 3255258"/>
              <a:gd name="csY2" fmla="*/ 0 h 369332"/>
              <a:gd name="csX3" fmla="*/ 1888050 w 3255258"/>
              <a:gd name="csY3" fmla="*/ 0 h 369332"/>
              <a:gd name="csX4" fmla="*/ 2506549 w 3255258"/>
              <a:gd name="csY4" fmla="*/ 0 h 369332"/>
              <a:gd name="csX5" fmla="*/ 3255258 w 3255258"/>
              <a:gd name="csY5" fmla="*/ 0 h 369332"/>
              <a:gd name="csX6" fmla="*/ 3255258 w 3255258"/>
              <a:gd name="csY6" fmla="*/ 369332 h 369332"/>
              <a:gd name="csX7" fmla="*/ 2604206 w 3255258"/>
              <a:gd name="csY7" fmla="*/ 369332 h 369332"/>
              <a:gd name="csX8" fmla="*/ 1888050 w 3255258"/>
              <a:gd name="csY8" fmla="*/ 369332 h 369332"/>
              <a:gd name="csX9" fmla="*/ 1334656 w 3255258"/>
              <a:gd name="csY9" fmla="*/ 369332 h 369332"/>
              <a:gd name="csX10" fmla="*/ 683604 w 3255258"/>
              <a:gd name="csY10" fmla="*/ 369332 h 369332"/>
              <a:gd name="csX11" fmla="*/ 0 w 3255258"/>
              <a:gd name="csY11" fmla="*/ 369332 h 369332"/>
              <a:gd name="csX12" fmla="*/ 0 w 3255258"/>
              <a:gd name="csY12"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55258" h="369332" extrusionOk="0">
                <a:moveTo>
                  <a:pt x="0" y="0"/>
                </a:moveTo>
                <a:cubicBezTo>
                  <a:pt x="229438" y="7153"/>
                  <a:pt x="467607" y="-1406"/>
                  <a:pt x="618499" y="0"/>
                </a:cubicBezTo>
                <a:cubicBezTo>
                  <a:pt x="769391" y="1406"/>
                  <a:pt x="908563" y="-533"/>
                  <a:pt x="1171893" y="0"/>
                </a:cubicBezTo>
                <a:cubicBezTo>
                  <a:pt x="1435223" y="533"/>
                  <a:pt x="1667507" y="-17645"/>
                  <a:pt x="1888050" y="0"/>
                </a:cubicBezTo>
                <a:cubicBezTo>
                  <a:pt x="2108593" y="17645"/>
                  <a:pt x="2274535" y="20705"/>
                  <a:pt x="2506549" y="0"/>
                </a:cubicBezTo>
                <a:cubicBezTo>
                  <a:pt x="2738563" y="-20705"/>
                  <a:pt x="2939930" y="-25690"/>
                  <a:pt x="3255258" y="0"/>
                </a:cubicBezTo>
                <a:cubicBezTo>
                  <a:pt x="3265565" y="81226"/>
                  <a:pt x="3266960" y="278722"/>
                  <a:pt x="3255258" y="369332"/>
                </a:cubicBezTo>
                <a:cubicBezTo>
                  <a:pt x="3075310" y="381198"/>
                  <a:pt x="2761655" y="379672"/>
                  <a:pt x="2604206" y="369332"/>
                </a:cubicBezTo>
                <a:cubicBezTo>
                  <a:pt x="2446757" y="358992"/>
                  <a:pt x="2224685" y="354602"/>
                  <a:pt x="1888050" y="369332"/>
                </a:cubicBezTo>
                <a:cubicBezTo>
                  <a:pt x="1551415" y="384062"/>
                  <a:pt x="1554729" y="352251"/>
                  <a:pt x="1334656" y="369332"/>
                </a:cubicBezTo>
                <a:cubicBezTo>
                  <a:pt x="1114583" y="386413"/>
                  <a:pt x="845198" y="380492"/>
                  <a:pt x="683604" y="369332"/>
                </a:cubicBezTo>
                <a:cubicBezTo>
                  <a:pt x="522010" y="358172"/>
                  <a:pt x="226734" y="379303"/>
                  <a:pt x="0" y="369332"/>
                </a:cubicBezTo>
                <a:cubicBezTo>
                  <a:pt x="-10803" y="211973"/>
                  <a:pt x="-3827" y="175527"/>
                  <a:pt x="0" y="0"/>
                </a:cubicBezTo>
                <a:close/>
              </a:path>
            </a:pathLst>
          </a:custGeom>
          <a:noFill/>
          <a:ln>
            <a:solidFill>
              <a:schemeClr val="accent1"/>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txBody>
          <a:bodyPr wrap="square">
            <a:spAutoFit/>
          </a:bodyPr>
          <a:lstStyle/>
          <a:p>
            <a:r>
              <a:rPr lang="en-GB" dirty="0" err="1">
                <a:latin typeface="Courier New" panose="02070309020205020404" pitchFamily="49" charset="0"/>
                <a:cs typeface="Courier New" panose="02070309020205020404" pitchFamily="49" charset="0"/>
              </a:rPr>
              <a:t>df.drop</a:t>
            </a:r>
            <a:r>
              <a:rPr lang="en-GB" dirty="0">
                <a:latin typeface="Courier New" panose="02070309020205020404" pitchFamily="49" charset="0"/>
                <a:cs typeface="Courier New" panose="02070309020205020404" pitchFamily="49" charset="0"/>
              </a:rPr>
              <a:t>(index="white")</a:t>
            </a:r>
          </a:p>
        </p:txBody>
      </p:sp>
      <p:sp>
        <p:nvSpPr>
          <p:cNvPr id="13" name="TextBox 12">
            <a:extLst>
              <a:ext uri="{FF2B5EF4-FFF2-40B4-BE49-F238E27FC236}">
                <a16:creationId xmlns:a16="http://schemas.microsoft.com/office/drawing/2014/main" id="{193657D4-B942-B4D0-743B-E46B05665629}"/>
              </a:ext>
            </a:extLst>
          </p:cNvPr>
          <p:cNvSpPr txBox="1"/>
          <p:nvPr/>
        </p:nvSpPr>
        <p:spPr>
          <a:xfrm>
            <a:off x="221128" y="6425708"/>
            <a:ext cx="1544462" cy="369332"/>
          </a:xfrm>
          <a:prstGeom prst="rect">
            <a:avLst/>
          </a:prstGeom>
          <a:noFill/>
          <a:ln>
            <a:solidFill>
              <a:schemeClr val="accent1"/>
            </a:solidFill>
            <a:prstDash val="sysDot"/>
          </a:ln>
        </p:spPr>
        <p:txBody>
          <a:bodyPr wrap="none" rtlCol="0">
            <a:spAutoFit/>
          </a:bodyPr>
          <a:lstStyle/>
          <a:p>
            <a:r>
              <a:rPr lang="en-US" dirty="0"/>
              <a:t>row vs column</a:t>
            </a:r>
            <a:endParaRPr lang="en-GB" dirty="0"/>
          </a:p>
        </p:txBody>
      </p:sp>
      <p:cxnSp>
        <p:nvCxnSpPr>
          <p:cNvPr id="16" name="Straight Arrow Connector 15">
            <a:extLst>
              <a:ext uri="{FF2B5EF4-FFF2-40B4-BE49-F238E27FC236}">
                <a16:creationId xmlns:a16="http://schemas.microsoft.com/office/drawing/2014/main" id="{C1FECBF9-4023-C7B1-BAD0-E6A0011B463E}"/>
              </a:ext>
            </a:extLst>
          </p:cNvPr>
          <p:cNvCxnSpPr>
            <a:cxnSpLocks/>
          </p:cNvCxnSpPr>
          <p:nvPr/>
        </p:nvCxnSpPr>
        <p:spPr>
          <a:xfrm flipV="1">
            <a:off x="1795611" y="5982932"/>
            <a:ext cx="402185" cy="526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B3417D2-C9DD-6D14-7687-3C00217EA63F}"/>
              </a:ext>
            </a:extLst>
          </p:cNvPr>
          <p:cNvCxnSpPr>
            <a:cxnSpLocks/>
            <a:stCxn id="13" idx="3"/>
          </p:cNvCxnSpPr>
          <p:nvPr/>
        </p:nvCxnSpPr>
        <p:spPr>
          <a:xfrm flipV="1">
            <a:off x="1765590" y="6376319"/>
            <a:ext cx="432206" cy="234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8342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686800" cy="346050"/>
          </a:xfrm>
        </p:spPr>
        <p:txBody>
          <a:bodyPr>
            <a:noAutofit/>
          </a:bodyPr>
          <a:lstStyle/>
          <a:p>
            <a:r>
              <a:rPr lang="en-GB" sz="3200" dirty="0"/>
              <a:t>Data Transformation – Removing Duplicates</a:t>
            </a:r>
          </a:p>
        </p:txBody>
      </p:sp>
      <p:sp>
        <p:nvSpPr>
          <p:cNvPr id="3" name="Content Placeholder 2"/>
          <p:cNvSpPr>
            <a:spLocks noGrp="1"/>
          </p:cNvSpPr>
          <p:nvPr>
            <p:ph idx="1"/>
          </p:nvPr>
        </p:nvSpPr>
        <p:spPr>
          <a:xfrm>
            <a:off x="323528" y="908720"/>
            <a:ext cx="8610429" cy="1584176"/>
          </a:xfrm>
        </p:spPr>
        <p:txBody>
          <a:bodyPr>
            <a:normAutofit fontScale="70000" lnSpcReduction="20000"/>
          </a:bodyPr>
          <a:lstStyle/>
          <a:p>
            <a:r>
              <a:rPr lang="en-GB" dirty="0"/>
              <a:t>The </a:t>
            </a:r>
            <a:r>
              <a:rPr lang="en-GB" dirty="0">
                <a:latin typeface="Courier New" panose="02070309020205020404" pitchFamily="49" charset="0"/>
                <a:cs typeface="Courier New" panose="02070309020205020404" pitchFamily="49" charset="0"/>
              </a:rPr>
              <a:t>duplicated() </a:t>
            </a:r>
            <a:r>
              <a:rPr lang="en-GB" dirty="0"/>
              <a:t>function </a:t>
            </a:r>
            <a:r>
              <a:rPr lang="en-US" dirty="0"/>
              <a:t>returns a Boolean Series (</a:t>
            </a:r>
            <a:r>
              <a:rPr lang="en-US" dirty="0">
                <a:latin typeface="Courier New" panose="02070309020205020404" pitchFamily="49" charset="0"/>
                <a:cs typeface="Courier New" panose="02070309020205020404" pitchFamily="49" charset="0"/>
              </a:rPr>
              <a:t>True</a:t>
            </a:r>
            <a:r>
              <a:rPr lang="en-US" dirty="0"/>
              <a:t> or </a:t>
            </a:r>
            <a:r>
              <a:rPr lang="en-US" dirty="0">
                <a:latin typeface="Courier New" panose="02070309020205020404" pitchFamily="49" charset="0"/>
                <a:cs typeface="Courier New" panose="02070309020205020404" pitchFamily="49" charset="0"/>
              </a:rPr>
              <a:t>False</a:t>
            </a:r>
            <a:r>
              <a:rPr lang="en-US" dirty="0"/>
              <a:t>) indicating duplicated rows. By default, the first occurrence is not marked as a duplicate</a:t>
            </a:r>
            <a:r>
              <a:rPr lang="en-GB" dirty="0"/>
              <a:t>. </a:t>
            </a:r>
          </a:p>
          <a:p>
            <a:r>
              <a:rPr lang="en-GB" dirty="0"/>
              <a:t>The </a:t>
            </a:r>
            <a:r>
              <a:rPr lang="en-GB" dirty="0">
                <a:latin typeface="Courier New" panose="02070309020205020404" pitchFamily="49" charset="0"/>
                <a:cs typeface="Courier New" panose="02070309020205020404" pitchFamily="49" charset="0"/>
              </a:rPr>
              <a:t>drop_duplicates() </a:t>
            </a:r>
            <a:r>
              <a:rPr lang="en-GB" dirty="0"/>
              <a:t>function returns the </a:t>
            </a:r>
            <a:r>
              <a:rPr lang="en-GB" dirty="0" err="1"/>
              <a:t>dataframe</a:t>
            </a:r>
            <a:r>
              <a:rPr lang="en-GB" dirty="0"/>
              <a:t> with duplicate rows removed</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924944"/>
            <a:ext cx="3923928" cy="3028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2" y="4167954"/>
            <a:ext cx="1838325" cy="162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5103390" y="5505070"/>
            <a:ext cx="1947940" cy="1169551"/>
          </a:xfrm>
          <a:prstGeom prst="rect">
            <a:avLst/>
          </a:prstGeom>
          <a:noFill/>
          <a:ln>
            <a:solidFill>
              <a:srgbClr val="FF0000"/>
            </a:solidFill>
            <a:prstDash val="lgDash"/>
          </a:ln>
        </p:spPr>
        <p:txBody>
          <a:bodyPr wrap="square" rtlCol="0">
            <a:spAutoFit/>
          </a:bodyPr>
          <a:lstStyle/>
          <a:p>
            <a:r>
              <a:rPr lang="en-GB" sz="1400" dirty="0">
                <a:solidFill>
                  <a:prstClr val="black"/>
                </a:solidFill>
                <a:latin typeface="Courier New" panose="02070309020205020404" pitchFamily="49" charset="0"/>
                <a:cs typeface="Courier New" panose="02070309020205020404" pitchFamily="49" charset="0"/>
              </a:rPr>
              <a:t>Identify the duplicate rows and in this case these are rows 1, 3 and 4</a:t>
            </a:r>
          </a:p>
        </p:txBody>
      </p:sp>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0032" y="2863494"/>
            <a:ext cx="2088232" cy="1762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6296" y="2924944"/>
            <a:ext cx="1724794" cy="1476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7583409" y="5058065"/>
            <a:ext cx="1368152" cy="738664"/>
          </a:xfrm>
          <a:prstGeom prst="rect">
            <a:avLst/>
          </a:prstGeom>
          <a:noFill/>
          <a:ln>
            <a:solidFill>
              <a:srgbClr val="FF0000"/>
            </a:solidFill>
            <a:prstDash val="lgDash"/>
          </a:ln>
        </p:spPr>
        <p:txBody>
          <a:bodyPr wrap="square" rtlCol="0">
            <a:spAutoFit/>
          </a:bodyPr>
          <a:lstStyle/>
          <a:p>
            <a:r>
              <a:rPr lang="en-GB" sz="1400" dirty="0">
                <a:solidFill>
                  <a:prstClr val="black"/>
                </a:solidFill>
                <a:latin typeface="Courier New" panose="02070309020205020404" pitchFamily="49" charset="0"/>
                <a:cs typeface="Courier New" panose="02070309020205020404" pitchFamily="49" charset="0"/>
              </a:rPr>
              <a:t>delete duplicated rows</a:t>
            </a:r>
          </a:p>
        </p:txBody>
      </p:sp>
      <p:cxnSp>
        <p:nvCxnSpPr>
          <p:cNvPr id="6" name="Straight Arrow Connector 5"/>
          <p:cNvCxnSpPr/>
          <p:nvPr/>
        </p:nvCxnSpPr>
        <p:spPr>
          <a:xfrm flipV="1">
            <a:off x="6156176" y="3933056"/>
            <a:ext cx="0" cy="138512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8316416" y="3829027"/>
            <a:ext cx="0" cy="12275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339752" y="6225798"/>
            <a:ext cx="1947940" cy="523220"/>
          </a:xfrm>
          <a:prstGeom prst="rect">
            <a:avLst/>
          </a:prstGeom>
          <a:noFill/>
          <a:ln>
            <a:solidFill>
              <a:srgbClr val="FF0000"/>
            </a:solidFill>
            <a:prstDash val="lgDash"/>
          </a:ln>
        </p:spPr>
        <p:txBody>
          <a:bodyPr wrap="square" rtlCol="0">
            <a:spAutoFit/>
          </a:bodyPr>
          <a:lstStyle/>
          <a:p>
            <a:r>
              <a:rPr lang="en-GB" sz="1400" dirty="0">
                <a:solidFill>
                  <a:prstClr val="black"/>
                </a:solidFill>
                <a:latin typeface="Courier New" panose="02070309020205020404" pitchFamily="49" charset="0"/>
                <a:cs typeface="Courier New" panose="02070309020205020404" pitchFamily="49" charset="0"/>
              </a:rPr>
              <a:t>Detect duplicated rows</a:t>
            </a:r>
          </a:p>
        </p:txBody>
      </p:sp>
      <p:cxnSp>
        <p:nvCxnSpPr>
          <p:cNvPr id="11" name="Straight Arrow Connector 10"/>
          <p:cNvCxnSpPr/>
          <p:nvPr/>
        </p:nvCxnSpPr>
        <p:spPr>
          <a:xfrm flipV="1">
            <a:off x="3419872" y="5877972"/>
            <a:ext cx="0" cy="3892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0" y="6225798"/>
            <a:ext cx="1224136" cy="523220"/>
          </a:xfrm>
          <a:prstGeom prst="rect">
            <a:avLst/>
          </a:prstGeom>
          <a:noFill/>
          <a:ln>
            <a:solidFill>
              <a:srgbClr val="FF0000"/>
            </a:solidFill>
            <a:prstDash val="lgDash"/>
          </a:ln>
        </p:spPr>
        <p:txBody>
          <a:bodyPr wrap="square" rtlCol="0">
            <a:spAutoFit/>
          </a:bodyPr>
          <a:lstStyle/>
          <a:p>
            <a:r>
              <a:rPr lang="en-GB" sz="1400" dirty="0">
                <a:solidFill>
                  <a:prstClr val="black"/>
                </a:solidFill>
                <a:latin typeface="Courier New" panose="02070309020205020404" pitchFamily="49" charset="0"/>
                <a:cs typeface="Courier New" panose="02070309020205020404" pitchFamily="49" charset="0"/>
              </a:rPr>
              <a:t>Initial </a:t>
            </a:r>
            <a:r>
              <a:rPr lang="en-GB" sz="1400" dirty="0" err="1">
                <a:solidFill>
                  <a:prstClr val="black"/>
                </a:solidFill>
                <a:latin typeface="Courier New" panose="02070309020205020404" pitchFamily="49" charset="0"/>
                <a:cs typeface="Courier New" panose="02070309020205020404" pitchFamily="49" charset="0"/>
              </a:rPr>
              <a:t>dataframe</a:t>
            </a:r>
            <a:endParaRPr lang="en-GB" sz="1400" dirty="0">
              <a:solidFill>
                <a:prstClr val="black"/>
              </a:solidFill>
              <a:latin typeface="Courier New" panose="02070309020205020404" pitchFamily="49" charset="0"/>
              <a:cs typeface="Courier New" panose="02070309020205020404" pitchFamily="49" charset="0"/>
            </a:endParaRPr>
          </a:p>
        </p:txBody>
      </p:sp>
      <p:cxnSp>
        <p:nvCxnSpPr>
          <p:cNvPr id="13" name="Straight Arrow Connector 12"/>
          <p:cNvCxnSpPr/>
          <p:nvPr/>
        </p:nvCxnSpPr>
        <p:spPr>
          <a:xfrm flipV="1">
            <a:off x="395536" y="5953895"/>
            <a:ext cx="0" cy="27190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3561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46050"/>
          </a:xfrm>
        </p:spPr>
        <p:txBody>
          <a:bodyPr>
            <a:normAutofit fontScale="90000"/>
          </a:bodyPr>
          <a:lstStyle/>
          <a:p>
            <a:r>
              <a:rPr lang="en-GB" dirty="0"/>
              <a:t>Data Transformation - Mapping</a:t>
            </a:r>
          </a:p>
        </p:txBody>
      </p:sp>
      <p:sp>
        <p:nvSpPr>
          <p:cNvPr id="3" name="Content Placeholder 2"/>
          <p:cNvSpPr>
            <a:spLocks noGrp="1"/>
          </p:cNvSpPr>
          <p:nvPr>
            <p:ph idx="1"/>
          </p:nvPr>
        </p:nvSpPr>
        <p:spPr>
          <a:xfrm>
            <a:off x="323528" y="1052736"/>
            <a:ext cx="8445624" cy="5400600"/>
          </a:xfrm>
        </p:spPr>
        <p:txBody>
          <a:bodyPr>
            <a:normAutofit fontScale="85000" lnSpcReduction="20000"/>
          </a:bodyPr>
          <a:lstStyle/>
          <a:p>
            <a:r>
              <a:rPr lang="en-GB" dirty="0"/>
              <a:t>Mapping is the creation of a list of matches between two different values, with the ability to bind a value to a particular label or string.</a:t>
            </a:r>
          </a:p>
          <a:p>
            <a:endParaRPr lang="en-GB" dirty="0"/>
          </a:p>
          <a:p>
            <a:endParaRPr lang="en-GB" dirty="0"/>
          </a:p>
          <a:p>
            <a:endParaRPr lang="en-GB" dirty="0"/>
          </a:p>
          <a:p>
            <a:endParaRPr lang="en-GB" dirty="0"/>
          </a:p>
          <a:p>
            <a:pPr marL="0" indent="0">
              <a:buNone/>
            </a:pPr>
            <a:endParaRPr lang="en-GB" dirty="0"/>
          </a:p>
          <a:p>
            <a:r>
              <a:rPr lang="en-GB" dirty="0"/>
              <a:t>The </a:t>
            </a:r>
            <a:r>
              <a:rPr lang="en-GB" dirty="0">
                <a:solidFill>
                  <a:srgbClr val="FF0000"/>
                </a:solidFill>
                <a:latin typeface="Courier New" panose="02070309020205020404" pitchFamily="49" charset="0"/>
                <a:cs typeface="Courier New" panose="02070309020205020404" pitchFamily="49" charset="0"/>
              </a:rPr>
              <a:t>replace() </a:t>
            </a:r>
            <a:r>
              <a:rPr lang="en-GB" dirty="0"/>
              <a:t>function replaces data values</a:t>
            </a:r>
          </a:p>
          <a:p>
            <a:r>
              <a:rPr lang="en-GB" dirty="0"/>
              <a:t>The </a:t>
            </a:r>
            <a:r>
              <a:rPr lang="en-US" dirty="0" err="1">
                <a:solidFill>
                  <a:srgbClr val="FF0000"/>
                </a:solidFill>
                <a:latin typeface="Courier New" panose="02070309020205020404" pitchFamily="49" charset="0"/>
                <a:cs typeface="Courier New" panose="02070309020205020404" pitchFamily="49" charset="0"/>
              </a:rPr>
              <a:t>Series.map</a:t>
            </a:r>
            <a:r>
              <a:rPr lang="en-US" dirty="0">
                <a:solidFill>
                  <a:srgbClr val="FF0000"/>
                </a:solidFill>
                <a:latin typeface="Courier New" panose="02070309020205020404" pitchFamily="49" charset="0"/>
                <a:cs typeface="Courier New" panose="02070309020205020404" pitchFamily="49" charset="0"/>
              </a:rPr>
              <a:t>() </a:t>
            </a:r>
            <a:r>
              <a:rPr lang="en-US" dirty="0">
                <a:cs typeface="Courier New" panose="02070309020205020404" pitchFamily="49" charset="0"/>
              </a:rPr>
              <a:t>transforms values according to a function or mapping such as a dictionary. Its result can be assigned to a new or existing </a:t>
            </a:r>
            <a:r>
              <a:rPr lang="en-US" dirty="0" err="1">
                <a:cs typeface="Courier New" panose="02070309020205020404" pitchFamily="49" charset="0"/>
              </a:rPr>
              <a:t>DataFrame</a:t>
            </a:r>
            <a:r>
              <a:rPr lang="en-US" dirty="0">
                <a:cs typeface="Courier New" panose="02070309020205020404" pitchFamily="49" charset="0"/>
              </a:rPr>
              <a:t> column.</a:t>
            </a:r>
            <a:endParaRPr lang="en-GB" dirty="0"/>
          </a:p>
          <a:p>
            <a:r>
              <a:rPr lang="en-GB" dirty="0"/>
              <a:t>The </a:t>
            </a:r>
            <a:r>
              <a:rPr lang="en-GB" dirty="0">
                <a:solidFill>
                  <a:srgbClr val="FF0000"/>
                </a:solidFill>
                <a:latin typeface="Courier New" panose="02070309020205020404" pitchFamily="49" charset="0"/>
                <a:cs typeface="Courier New" panose="02070309020205020404" pitchFamily="49" charset="0"/>
              </a:rPr>
              <a:t>rename() </a:t>
            </a:r>
            <a:r>
              <a:rPr lang="en-GB" dirty="0"/>
              <a:t>function </a:t>
            </a:r>
            <a:r>
              <a:rPr lang="en-US" dirty="0"/>
              <a:t>changes index labels and/or column labels</a:t>
            </a:r>
            <a:r>
              <a:rPr lang="en-GB" dirty="0"/>
              <a:t>.</a:t>
            </a:r>
          </a:p>
          <a:p>
            <a:endParaRPr lang="en-GB"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2132856"/>
            <a:ext cx="5438775" cy="2019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44660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p:spPr>
        <p:txBody>
          <a:bodyPr>
            <a:normAutofit fontScale="90000"/>
          </a:bodyPr>
          <a:lstStyle/>
          <a:p>
            <a:r>
              <a:rPr lang="en-GB" dirty="0"/>
              <a:t>Replacing values via mapping</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138" y="1417624"/>
            <a:ext cx="5472608" cy="3276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7864" y="2813496"/>
            <a:ext cx="1895475" cy="942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2200" y="1417624"/>
            <a:ext cx="2286000" cy="2343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2937970" y="4365104"/>
            <a:ext cx="3218203" cy="2308324"/>
          </a:xfrm>
          <a:prstGeom prst="rect">
            <a:avLst/>
          </a:prstGeom>
          <a:noFill/>
          <a:ln>
            <a:solidFill>
              <a:srgbClr val="7030A0"/>
            </a:solidFill>
            <a:prstDash val="lgDash"/>
          </a:ln>
        </p:spPr>
        <p:txBody>
          <a:bodyPr wrap="square" rtlCol="0">
            <a:spAutoFit/>
          </a:bodyPr>
          <a:lstStyle/>
          <a:p>
            <a:r>
              <a:rPr lang="en-US" dirty="0">
                <a:solidFill>
                  <a:prstClr val="black"/>
                </a:solidFill>
                <a:latin typeface="Courier New" panose="02070309020205020404" pitchFamily="49" charset="0"/>
                <a:cs typeface="Courier New" panose="02070309020205020404" pitchFamily="49" charset="0"/>
              </a:rPr>
              <a:t>To replace incorrect values, </a:t>
            </a:r>
            <a:r>
              <a:rPr lang="en-US" i="1" dirty="0">
                <a:solidFill>
                  <a:prstClr val="black"/>
                </a:solidFill>
                <a:latin typeface="Courier New" panose="02070309020205020404" pitchFamily="49" charset="0"/>
                <a:cs typeface="Courier New" panose="02070309020205020404" pitchFamily="49" charset="0"/>
              </a:rPr>
              <a:t>first</a:t>
            </a:r>
            <a:r>
              <a:rPr lang="en-US" dirty="0">
                <a:solidFill>
                  <a:prstClr val="black"/>
                </a:solidFill>
                <a:latin typeface="Courier New" panose="02070309020205020404" pitchFamily="49" charset="0"/>
                <a:cs typeface="Courier New" panose="02070309020205020404" pitchFamily="49" charset="0"/>
              </a:rPr>
              <a:t> define a mapping where each incorrect/original value is the key and its corresponding corrected value is the mapped value</a:t>
            </a:r>
            <a:r>
              <a:rPr lang="en-GB" dirty="0">
                <a:solidFill>
                  <a:prstClr val="black"/>
                </a:solidFill>
                <a:latin typeface="Courier New" panose="02070309020205020404" pitchFamily="49" charset="0"/>
                <a:cs typeface="Courier New" panose="02070309020205020404" pitchFamily="49" charset="0"/>
              </a:rPr>
              <a:t>.</a:t>
            </a:r>
          </a:p>
        </p:txBody>
      </p:sp>
      <p:sp>
        <p:nvSpPr>
          <p:cNvPr id="9" name="TextBox 8"/>
          <p:cNvSpPr txBox="1"/>
          <p:nvPr/>
        </p:nvSpPr>
        <p:spPr>
          <a:xfrm>
            <a:off x="258538" y="5276478"/>
            <a:ext cx="2377630" cy="1477328"/>
          </a:xfrm>
          <a:prstGeom prst="rect">
            <a:avLst/>
          </a:prstGeom>
          <a:noFill/>
          <a:ln>
            <a:solidFill>
              <a:srgbClr val="7030A0"/>
            </a:solidFill>
            <a:prstDash val="lgDash"/>
          </a:ln>
        </p:spPr>
        <p:txBody>
          <a:bodyPr wrap="square" rtlCol="0">
            <a:spAutoFit/>
          </a:bodyPr>
          <a:lstStyle/>
          <a:p>
            <a:r>
              <a:rPr lang="en-GB" dirty="0">
                <a:solidFill>
                  <a:prstClr val="black"/>
                </a:solidFill>
                <a:latin typeface="Courier New" panose="02070309020205020404" pitchFamily="49" charset="0"/>
                <a:cs typeface="Courier New" panose="02070309020205020404" pitchFamily="49" charset="0"/>
              </a:rPr>
              <a:t>Initial </a:t>
            </a:r>
            <a:r>
              <a:rPr lang="en-GB" dirty="0" err="1">
                <a:solidFill>
                  <a:prstClr val="black"/>
                </a:solidFill>
                <a:latin typeface="Courier New" panose="02070309020205020404" pitchFamily="49" charset="0"/>
                <a:cs typeface="Courier New" panose="02070309020205020404" pitchFamily="49" charset="0"/>
              </a:rPr>
              <a:t>dataframe</a:t>
            </a:r>
            <a:r>
              <a:rPr lang="en-GB" dirty="0">
                <a:solidFill>
                  <a:prstClr val="black"/>
                </a:solidFill>
                <a:latin typeface="Courier New" panose="02070309020205020404" pitchFamily="49" charset="0"/>
                <a:cs typeface="Courier New" panose="02070309020205020404" pitchFamily="49" charset="0"/>
              </a:rPr>
              <a:t> with incorrect values: </a:t>
            </a:r>
            <a:r>
              <a:rPr lang="en-GB" dirty="0" err="1">
                <a:solidFill>
                  <a:prstClr val="black"/>
                </a:solidFill>
                <a:cs typeface="Courier New" panose="02070309020205020404" pitchFamily="49" charset="0"/>
              </a:rPr>
              <a:t>rosso</a:t>
            </a:r>
            <a:r>
              <a:rPr lang="en-GB" dirty="0">
                <a:solidFill>
                  <a:prstClr val="black"/>
                </a:solidFill>
                <a:cs typeface="Courier New" panose="02070309020205020404" pitchFamily="49" charset="0"/>
              </a:rPr>
              <a:t> </a:t>
            </a:r>
            <a:r>
              <a:rPr lang="en-GB" dirty="0">
                <a:solidFill>
                  <a:prstClr val="black"/>
                </a:solidFill>
                <a:latin typeface="Courier New" panose="02070309020205020404" pitchFamily="49" charset="0"/>
                <a:cs typeface="Courier New" panose="02070309020205020404" pitchFamily="49" charset="0"/>
              </a:rPr>
              <a:t>and </a:t>
            </a:r>
            <a:r>
              <a:rPr lang="en-GB" dirty="0" err="1">
                <a:solidFill>
                  <a:prstClr val="black"/>
                </a:solidFill>
                <a:cs typeface="Courier New" panose="02070309020205020404" pitchFamily="49" charset="0"/>
              </a:rPr>
              <a:t>verde</a:t>
            </a:r>
            <a:endParaRPr lang="en-GB" dirty="0">
              <a:solidFill>
                <a:prstClr val="black"/>
              </a:solidFill>
              <a:cs typeface="Courier New" panose="02070309020205020404" pitchFamily="49" charset="0"/>
            </a:endParaRPr>
          </a:p>
        </p:txBody>
      </p:sp>
      <p:sp>
        <p:nvSpPr>
          <p:cNvPr id="10" name="TextBox 9"/>
          <p:cNvSpPr txBox="1"/>
          <p:nvPr/>
        </p:nvSpPr>
        <p:spPr>
          <a:xfrm>
            <a:off x="6450262" y="4672207"/>
            <a:ext cx="2514225" cy="1754326"/>
          </a:xfrm>
          <a:prstGeom prst="rect">
            <a:avLst/>
          </a:prstGeom>
          <a:noFill/>
          <a:ln>
            <a:solidFill>
              <a:srgbClr val="7030A0"/>
            </a:solidFill>
            <a:prstDash val="lgDash"/>
          </a:ln>
        </p:spPr>
        <p:txBody>
          <a:bodyPr wrap="square" rtlCol="0">
            <a:spAutoFit/>
          </a:bodyPr>
          <a:lstStyle/>
          <a:p>
            <a:r>
              <a:rPr lang="en-GB" dirty="0">
                <a:solidFill>
                  <a:prstClr val="black"/>
                </a:solidFill>
                <a:latin typeface="Courier New" panose="02070309020205020404" pitchFamily="49" charset="0"/>
                <a:cs typeface="Courier New" panose="02070309020205020404" pitchFamily="49" charset="0"/>
              </a:rPr>
              <a:t>Use the </a:t>
            </a:r>
            <a:r>
              <a:rPr lang="en-GB" i="1" dirty="0">
                <a:solidFill>
                  <a:prstClr val="black"/>
                </a:solidFill>
                <a:latin typeface="Courier New" panose="02070309020205020404" pitchFamily="49" charset="0"/>
                <a:cs typeface="Courier New" panose="02070309020205020404" pitchFamily="49" charset="0"/>
              </a:rPr>
              <a:t>replace() </a:t>
            </a:r>
            <a:r>
              <a:rPr lang="en-GB" dirty="0">
                <a:solidFill>
                  <a:prstClr val="black"/>
                </a:solidFill>
                <a:latin typeface="Courier New" panose="02070309020205020404" pitchFamily="49" charset="0"/>
                <a:cs typeface="Courier New" panose="02070309020205020404" pitchFamily="49" charset="0"/>
              </a:rPr>
              <a:t>function with the mapping as argument to replace the incorrect values</a:t>
            </a:r>
          </a:p>
        </p:txBody>
      </p:sp>
      <p:cxnSp>
        <p:nvCxnSpPr>
          <p:cNvPr id="6" name="Straight Arrow Connector 5"/>
          <p:cNvCxnSpPr/>
          <p:nvPr/>
        </p:nvCxnSpPr>
        <p:spPr>
          <a:xfrm flipV="1">
            <a:off x="1691680" y="4797152"/>
            <a:ext cx="0" cy="3600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7707374" y="4005064"/>
            <a:ext cx="0" cy="5760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4139952" y="3861048"/>
            <a:ext cx="0" cy="43204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2070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67544" y="116632"/>
            <a:ext cx="8229600" cy="418058"/>
          </a:xfrm>
        </p:spPr>
        <p:txBody>
          <a:bodyPr>
            <a:normAutofit fontScale="90000"/>
          </a:bodyPr>
          <a:lstStyle/>
          <a:p>
            <a:r>
              <a:rPr lang="en-GB" dirty="0"/>
              <a:t>Replacing values via mapping</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132856"/>
            <a:ext cx="3838575" cy="223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176" y="1916832"/>
            <a:ext cx="2219325" cy="2028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Arrow Connector 5"/>
          <p:cNvCxnSpPr/>
          <p:nvPr/>
        </p:nvCxnSpPr>
        <p:spPr>
          <a:xfrm>
            <a:off x="4355976" y="2492896"/>
            <a:ext cx="108012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5322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4624"/>
            <a:ext cx="8229600" cy="346050"/>
          </a:xfrm>
        </p:spPr>
        <p:txBody>
          <a:bodyPr>
            <a:normAutofit fontScale="90000"/>
          </a:bodyPr>
          <a:lstStyle/>
          <a:p>
            <a:r>
              <a:rPr lang="en-GB" dirty="0"/>
              <a:t>Adding Values via Mapping</a:t>
            </a:r>
          </a:p>
        </p:txBody>
      </p:sp>
      <p:sp>
        <p:nvSpPr>
          <p:cNvPr id="3" name="Content Placeholder 2"/>
          <p:cNvSpPr>
            <a:spLocks noGrp="1"/>
          </p:cNvSpPr>
          <p:nvPr>
            <p:ph idx="1"/>
          </p:nvPr>
        </p:nvSpPr>
        <p:spPr>
          <a:xfrm>
            <a:off x="107504" y="764705"/>
            <a:ext cx="8589640" cy="648071"/>
          </a:xfrm>
        </p:spPr>
        <p:txBody>
          <a:bodyPr>
            <a:normAutofit fontScale="70000" lnSpcReduction="20000"/>
          </a:bodyPr>
          <a:lstStyle/>
          <a:p>
            <a:r>
              <a:rPr lang="en-GB" dirty="0"/>
              <a:t>The </a:t>
            </a:r>
            <a:r>
              <a:rPr lang="en-GB" dirty="0">
                <a:latin typeface="Courier New" panose="02070309020205020404" pitchFamily="49" charset="0"/>
                <a:cs typeface="Courier New" panose="02070309020205020404" pitchFamily="49" charset="0"/>
              </a:rPr>
              <a:t>map() </a:t>
            </a:r>
            <a:r>
              <a:rPr lang="en-GB" dirty="0"/>
              <a:t>function applied to a series or to a column of a </a:t>
            </a:r>
            <a:r>
              <a:rPr lang="en-GB" dirty="0" err="1"/>
              <a:t>dataframe</a:t>
            </a:r>
            <a:r>
              <a:rPr lang="en-GB" dirty="0"/>
              <a:t> accepts a function or an object containing a </a:t>
            </a:r>
            <a:r>
              <a:rPr lang="en-GB" dirty="0" err="1">
                <a:latin typeface="Courier New" panose="02070309020205020404" pitchFamily="49" charset="0"/>
                <a:cs typeface="Courier New" panose="02070309020205020404" pitchFamily="49" charset="0"/>
              </a:rPr>
              <a:t>dict</a:t>
            </a:r>
            <a:r>
              <a:rPr lang="en-GB" dirty="0">
                <a:latin typeface="Courier New" panose="02070309020205020404" pitchFamily="49" charset="0"/>
                <a:cs typeface="Courier New" panose="02070309020205020404" pitchFamily="49" charset="0"/>
              </a:rPr>
              <a:t> </a:t>
            </a:r>
            <a:r>
              <a:rPr lang="en-GB" dirty="0"/>
              <a:t>with mapping.</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556792"/>
            <a:ext cx="4824536" cy="2733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0" y="5250574"/>
            <a:ext cx="2377630" cy="1200329"/>
          </a:xfrm>
          <a:prstGeom prst="rect">
            <a:avLst/>
          </a:prstGeom>
          <a:noFill/>
          <a:ln>
            <a:solidFill>
              <a:srgbClr val="7030A0"/>
            </a:solidFill>
            <a:prstDash val="lgDash"/>
          </a:ln>
        </p:spPr>
        <p:txBody>
          <a:bodyPr wrap="square" rtlCol="0">
            <a:spAutoFit/>
          </a:bodyPr>
          <a:lstStyle/>
          <a:p>
            <a:r>
              <a:rPr lang="en-GB" dirty="0">
                <a:solidFill>
                  <a:prstClr val="black"/>
                </a:solidFill>
                <a:latin typeface="Courier New" panose="02070309020205020404" pitchFamily="49" charset="0"/>
                <a:cs typeface="Courier New" panose="02070309020205020404" pitchFamily="49" charset="0"/>
              </a:rPr>
              <a:t>Initial </a:t>
            </a:r>
            <a:r>
              <a:rPr lang="en-GB" dirty="0" err="1">
                <a:solidFill>
                  <a:prstClr val="black"/>
                </a:solidFill>
                <a:latin typeface="Courier New" panose="02070309020205020404" pitchFamily="49" charset="0"/>
                <a:cs typeface="Courier New" panose="02070309020205020404" pitchFamily="49" charset="0"/>
              </a:rPr>
              <a:t>dataframe</a:t>
            </a:r>
            <a:r>
              <a:rPr lang="en-GB" dirty="0">
                <a:solidFill>
                  <a:prstClr val="black"/>
                </a:solidFill>
                <a:latin typeface="Courier New" panose="02070309020205020404" pitchFamily="49" charset="0"/>
                <a:cs typeface="Courier New" panose="02070309020205020404" pitchFamily="49" charset="0"/>
              </a:rPr>
              <a:t> without the price column</a:t>
            </a:r>
          </a:p>
        </p:txBody>
      </p:sp>
      <p:sp>
        <p:nvSpPr>
          <p:cNvPr id="8" name="TextBox 7"/>
          <p:cNvSpPr txBox="1"/>
          <p:nvPr/>
        </p:nvSpPr>
        <p:spPr>
          <a:xfrm>
            <a:off x="2897814" y="2420888"/>
            <a:ext cx="2701665" cy="1477328"/>
          </a:xfrm>
          <a:prstGeom prst="rect">
            <a:avLst/>
          </a:prstGeom>
          <a:noFill/>
          <a:ln>
            <a:solidFill>
              <a:srgbClr val="7030A0"/>
            </a:solidFill>
            <a:prstDash val="lgDash"/>
          </a:ln>
        </p:spPr>
        <p:txBody>
          <a:bodyPr wrap="square" rtlCol="0">
            <a:spAutoFit/>
          </a:bodyPr>
          <a:lstStyle/>
          <a:p>
            <a:r>
              <a:rPr lang="en-GB" dirty="0">
                <a:solidFill>
                  <a:prstClr val="black"/>
                </a:solidFill>
                <a:latin typeface="Courier New" panose="02070309020205020404" pitchFamily="49" charset="0"/>
                <a:cs typeface="Courier New" panose="02070309020205020404" pitchFamily="49" charset="0"/>
              </a:rPr>
              <a:t>Define a dictionary object that contains a list of prices for each type of item.</a:t>
            </a:r>
          </a:p>
        </p:txBody>
      </p:sp>
      <p:sp>
        <p:nvSpPr>
          <p:cNvPr id="9" name="TextBox 8"/>
          <p:cNvSpPr txBox="1"/>
          <p:nvPr/>
        </p:nvSpPr>
        <p:spPr>
          <a:xfrm>
            <a:off x="3162192" y="4233075"/>
            <a:ext cx="2377630" cy="1200329"/>
          </a:xfrm>
          <a:prstGeom prst="rect">
            <a:avLst/>
          </a:prstGeom>
          <a:noFill/>
          <a:ln>
            <a:solidFill>
              <a:srgbClr val="7030A0"/>
            </a:solidFill>
            <a:prstDash val="lgDash"/>
          </a:ln>
        </p:spPr>
        <p:txBody>
          <a:bodyPr wrap="square" rtlCol="0">
            <a:spAutoFit/>
          </a:bodyPr>
          <a:lstStyle/>
          <a:p>
            <a:r>
              <a:rPr lang="en-GB" dirty="0">
                <a:solidFill>
                  <a:prstClr val="black"/>
                </a:solidFill>
                <a:latin typeface="Courier New" panose="02070309020205020404" pitchFamily="49" charset="0"/>
                <a:cs typeface="Courier New" panose="02070309020205020404" pitchFamily="49" charset="0"/>
              </a:rPr>
              <a:t>Add the price column to the frame using </a:t>
            </a:r>
            <a:r>
              <a:rPr lang="en-GB" i="1" dirty="0">
                <a:solidFill>
                  <a:prstClr val="black"/>
                </a:solidFill>
                <a:latin typeface="Courier New" panose="02070309020205020404" pitchFamily="49" charset="0"/>
                <a:cs typeface="Courier New" panose="02070309020205020404" pitchFamily="49" charset="0"/>
              </a:rPr>
              <a:t>map()</a:t>
            </a:r>
          </a:p>
        </p:txBody>
      </p:sp>
      <p:cxnSp>
        <p:nvCxnSpPr>
          <p:cNvPr id="5" name="Straight Arrow Connector 4"/>
          <p:cNvCxnSpPr/>
          <p:nvPr/>
        </p:nvCxnSpPr>
        <p:spPr>
          <a:xfrm flipV="1">
            <a:off x="827584" y="4797152"/>
            <a:ext cx="0" cy="3600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819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8184" y="2060849"/>
            <a:ext cx="2808312" cy="41789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4" name="Straight Arrow Connector 13"/>
          <p:cNvCxnSpPr/>
          <p:nvPr/>
        </p:nvCxnSpPr>
        <p:spPr>
          <a:xfrm>
            <a:off x="5733986" y="3068960"/>
            <a:ext cx="48468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571969" y="4365104"/>
            <a:ext cx="64670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572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GB" dirty="0"/>
              <a:t>Data Aggregation</a:t>
            </a:r>
          </a:p>
        </p:txBody>
      </p:sp>
      <p:sp>
        <p:nvSpPr>
          <p:cNvPr id="3" name="Content Placeholder 2"/>
          <p:cNvSpPr>
            <a:spLocks noGrp="1"/>
          </p:cNvSpPr>
          <p:nvPr>
            <p:ph idx="1"/>
          </p:nvPr>
        </p:nvSpPr>
        <p:spPr>
          <a:xfrm>
            <a:off x="467544" y="1124745"/>
            <a:ext cx="8229600" cy="2880319"/>
          </a:xfrm>
        </p:spPr>
        <p:txBody>
          <a:bodyPr>
            <a:normAutofit fontScale="62500" lnSpcReduction="20000"/>
          </a:bodyPr>
          <a:lstStyle/>
          <a:p>
            <a:r>
              <a:rPr lang="en-GB" dirty="0"/>
              <a:t>Last stage of data manipulation.</a:t>
            </a:r>
          </a:p>
          <a:p>
            <a:r>
              <a:rPr lang="en-US" dirty="0"/>
              <a:t>Aggregation </a:t>
            </a:r>
            <a:r>
              <a:rPr lang="en-US" dirty="0" err="1"/>
              <a:t>summarises</a:t>
            </a:r>
            <a:r>
              <a:rPr lang="en-US" dirty="0"/>
              <a:t> groups of values using functions such as </a:t>
            </a:r>
            <a:r>
              <a:rPr lang="en-US" dirty="0">
                <a:latin typeface="Courier New" panose="02070309020205020404" pitchFamily="49" charset="0"/>
                <a:cs typeface="Courier New" panose="02070309020205020404" pitchFamily="49" charset="0"/>
              </a:rPr>
              <a:t>sum()</a:t>
            </a:r>
            <a:r>
              <a:rPr lang="en-US" dirty="0"/>
              <a:t>, </a:t>
            </a:r>
            <a:r>
              <a:rPr lang="en-US" dirty="0">
                <a:latin typeface="Courier New" panose="02070309020205020404" pitchFamily="49" charset="0"/>
                <a:cs typeface="Courier New" panose="02070309020205020404" pitchFamily="49" charset="0"/>
              </a:rPr>
              <a:t>mean(), min(), max()</a:t>
            </a:r>
            <a:r>
              <a:rPr lang="en-US" dirty="0"/>
              <a:t> or </a:t>
            </a:r>
            <a:r>
              <a:rPr lang="en-US" dirty="0">
                <a:latin typeface="Courier New" panose="02070309020205020404" pitchFamily="49" charset="0"/>
                <a:cs typeface="Courier New" panose="02070309020205020404" pitchFamily="49" charset="0"/>
              </a:rPr>
              <a:t>count()</a:t>
            </a:r>
            <a:r>
              <a:rPr lang="en-GB" dirty="0"/>
              <a:t>.</a:t>
            </a:r>
          </a:p>
          <a:p>
            <a:r>
              <a:rPr lang="en-GB" dirty="0"/>
              <a:t>Pandas provides a flexible tool for data aggregation: </a:t>
            </a:r>
            <a:r>
              <a:rPr lang="en-GB" dirty="0" err="1">
                <a:solidFill>
                  <a:srgbClr val="FF0000"/>
                </a:solidFill>
                <a:latin typeface="Courier New" panose="02070309020205020404" pitchFamily="49" charset="0"/>
                <a:cs typeface="Courier New" panose="02070309020205020404" pitchFamily="49" charset="0"/>
              </a:rPr>
              <a:t>GroupBy</a:t>
            </a:r>
            <a:endParaRPr lang="en-GB" dirty="0">
              <a:solidFill>
                <a:srgbClr val="FF0000"/>
              </a:solidFill>
              <a:latin typeface="Courier New" panose="02070309020205020404" pitchFamily="49" charset="0"/>
              <a:cs typeface="Courier New" panose="02070309020205020404" pitchFamily="49" charset="0"/>
            </a:endParaRPr>
          </a:p>
          <a:p>
            <a:r>
              <a:rPr lang="en-GB" dirty="0">
                <a:cs typeface="Courier New" panose="02070309020205020404" pitchFamily="49" charset="0"/>
              </a:rPr>
              <a:t>The process of </a:t>
            </a:r>
            <a:r>
              <a:rPr lang="en-GB" dirty="0" err="1">
                <a:cs typeface="Courier New" panose="02070309020205020404" pitchFamily="49" charset="0"/>
              </a:rPr>
              <a:t>GroupBy</a:t>
            </a:r>
            <a:r>
              <a:rPr lang="en-GB" dirty="0">
                <a:cs typeface="Courier New" panose="02070309020205020404" pitchFamily="49" charset="0"/>
              </a:rPr>
              <a:t> is divided into various phases:</a:t>
            </a:r>
          </a:p>
          <a:p>
            <a:pPr marL="0" indent="0">
              <a:buNone/>
            </a:pPr>
            <a:endParaRPr lang="en-GB" dirty="0">
              <a:cs typeface="Courier New" panose="02070309020205020404" pitchFamily="49" charset="0"/>
            </a:endParaRPr>
          </a:p>
          <a:p>
            <a:pPr lvl="1">
              <a:buFont typeface="Wingdings" panose="05000000000000000000" pitchFamily="2" charset="2"/>
              <a:buChar char="v"/>
            </a:pPr>
            <a:r>
              <a:rPr lang="en-GB" dirty="0">
                <a:latin typeface="Courier New" panose="02070309020205020404" pitchFamily="49" charset="0"/>
                <a:cs typeface="Courier New" panose="02070309020205020404" pitchFamily="49" charset="0"/>
              </a:rPr>
              <a:t>Splitting</a:t>
            </a:r>
            <a:r>
              <a:rPr lang="en-GB" dirty="0">
                <a:cs typeface="Courier New" panose="02070309020205020404" pitchFamily="49" charset="0"/>
              </a:rPr>
              <a:t> – Division into groups</a:t>
            </a:r>
          </a:p>
          <a:p>
            <a:pPr lvl="1">
              <a:buFont typeface="Wingdings" panose="05000000000000000000" pitchFamily="2" charset="2"/>
              <a:buChar char="v"/>
            </a:pPr>
            <a:r>
              <a:rPr lang="en-GB" dirty="0">
                <a:latin typeface="Courier New" panose="02070309020205020404" pitchFamily="49" charset="0"/>
                <a:cs typeface="Courier New" panose="02070309020205020404" pitchFamily="49" charset="0"/>
              </a:rPr>
              <a:t>Applying</a:t>
            </a:r>
            <a:r>
              <a:rPr lang="en-GB" dirty="0">
                <a:cs typeface="Courier New" panose="02070309020205020404" pitchFamily="49" charset="0"/>
              </a:rPr>
              <a:t> – Application of a function on each group</a:t>
            </a:r>
          </a:p>
          <a:p>
            <a:pPr lvl="1">
              <a:buFont typeface="Wingdings" panose="05000000000000000000" pitchFamily="2" charset="2"/>
              <a:buChar char="v"/>
            </a:pPr>
            <a:r>
              <a:rPr lang="en-GB" dirty="0">
                <a:latin typeface="Courier New" panose="02070309020205020404" pitchFamily="49" charset="0"/>
                <a:cs typeface="Courier New" panose="02070309020205020404" pitchFamily="49" charset="0"/>
              </a:rPr>
              <a:t>Combining</a:t>
            </a:r>
            <a:r>
              <a:rPr lang="en-GB" dirty="0">
                <a:cs typeface="Courier New" panose="02070309020205020404" pitchFamily="49" charset="0"/>
              </a:rPr>
              <a:t> – Combination of all the results obtained by different groups.</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912" y="3861048"/>
            <a:ext cx="7524750" cy="23766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88417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32"/>
            <a:ext cx="9088342" cy="562074"/>
          </a:xfrm>
        </p:spPr>
        <p:txBody>
          <a:bodyPr>
            <a:noAutofit/>
          </a:bodyPr>
          <a:lstStyle/>
          <a:p>
            <a:r>
              <a:rPr lang="en-GB" sz="3200" dirty="0"/>
              <a:t>Data Aggregation – Grouping to a single column of data</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060848"/>
            <a:ext cx="6457950" cy="4230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274" y="1052736"/>
            <a:ext cx="6448425" cy="933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6876256" y="980728"/>
            <a:ext cx="2267744" cy="738664"/>
          </a:xfrm>
          <a:prstGeom prst="rect">
            <a:avLst/>
          </a:prstGeom>
          <a:noFill/>
        </p:spPr>
        <p:txBody>
          <a:bodyPr wrap="square" rtlCol="0">
            <a:spAutoFit/>
          </a:bodyPr>
          <a:lstStyle/>
          <a:p>
            <a:r>
              <a:rPr lang="en-GB" sz="1400" dirty="0">
                <a:solidFill>
                  <a:prstClr val="black"/>
                </a:solidFill>
                <a:latin typeface="Courier New" panose="02070309020205020404" pitchFamily="49" charset="0"/>
                <a:cs typeface="Courier New" panose="02070309020205020404" pitchFamily="49" charset="0"/>
              </a:rPr>
              <a:t>Define a </a:t>
            </a:r>
            <a:r>
              <a:rPr lang="en-GB" sz="1400" dirty="0" err="1">
                <a:solidFill>
                  <a:prstClr val="black"/>
                </a:solidFill>
                <a:latin typeface="Courier New" panose="02070309020205020404" pitchFamily="49" charset="0"/>
                <a:cs typeface="Courier New" panose="02070309020205020404" pitchFamily="49" charset="0"/>
              </a:rPr>
              <a:t>dataframe</a:t>
            </a:r>
            <a:r>
              <a:rPr lang="en-GB" sz="1400" dirty="0">
                <a:solidFill>
                  <a:prstClr val="black"/>
                </a:solidFill>
                <a:latin typeface="Courier New" panose="02070309020205020404" pitchFamily="49" charset="0"/>
                <a:cs typeface="Courier New" panose="02070309020205020404" pitchFamily="49" charset="0"/>
              </a:rPr>
              <a:t> containing numeric and string values</a:t>
            </a:r>
          </a:p>
        </p:txBody>
      </p:sp>
      <p:sp>
        <p:nvSpPr>
          <p:cNvPr id="9" name="TextBox 8"/>
          <p:cNvSpPr txBox="1"/>
          <p:nvPr/>
        </p:nvSpPr>
        <p:spPr>
          <a:xfrm>
            <a:off x="6860558" y="1916832"/>
            <a:ext cx="2267744" cy="954107"/>
          </a:xfrm>
          <a:prstGeom prst="rect">
            <a:avLst/>
          </a:prstGeom>
          <a:noFill/>
          <a:ln>
            <a:solidFill>
              <a:srgbClr val="7030A0"/>
            </a:solidFill>
            <a:prstDash val="dash"/>
          </a:ln>
        </p:spPr>
        <p:txBody>
          <a:bodyPr wrap="square" rtlCol="0">
            <a:spAutoFit/>
          </a:bodyPr>
          <a:lstStyle/>
          <a:p>
            <a:r>
              <a:rPr lang="en-GB" sz="1400" dirty="0">
                <a:solidFill>
                  <a:prstClr val="black"/>
                </a:solidFill>
                <a:latin typeface="Courier New" panose="02070309020205020404" pitchFamily="49" charset="0"/>
                <a:cs typeface="Courier New" panose="02070309020205020404" pitchFamily="49" charset="0"/>
              </a:rPr>
              <a:t>Access the price1 column and call the </a:t>
            </a:r>
            <a:r>
              <a:rPr lang="en-GB" sz="1400" dirty="0" err="1">
                <a:solidFill>
                  <a:prstClr val="black"/>
                </a:solidFill>
                <a:latin typeface="Courier New" panose="02070309020205020404" pitchFamily="49" charset="0"/>
                <a:cs typeface="Courier New" panose="02070309020205020404" pitchFamily="49" charset="0"/>
              </a:rPr>
              <a:t>groupby</a:t>
            </a:r>
            <a:r>
              <a:rPr lang="en-GB" sz="1400" dirty="0">
                <a:solidFill>
                  <a:prstClr val="black"/>
                </a:solidFill>
                <a:latin typeface="Courier New" panose="02070309020205020404" pitchFamily="49" charset="0"/>
                <a:cs typeface="Courier New" panose="02070309020205020404" pitchFamily="49" charset="0"/>
              </a:rPr>
              <a:t>() function with the </a:t>
            </a:r>
            <a:r>
              <a:rPr lang="en-GB" sz="1400" dirty="0" err="1">
                <a:solidFill>
                  <a:prstClr val="black"/>
                </a:solidFill>
                <a:latin typeface="Courier New" panose="02070309020205020404" pitchFamily="49" charset="0"/>
                <a:cs typeface="Courier New" panose="02070309020205020404" pitchFamily="49" charset="0"/>
              </a:rPr>
              <a:t>color</a:t>
            </a:r>
            <a:endParaRPr lang="en-GB" sz="1400" dirty="0">
              <a:solidFill>
                <a:prstClr val="black"/>
              </a:solidFill>
              <a:latin typeface="Courier New" panose="02070309020205020404" pitchFamily="49" charset="0"/>
              <a:cs typeface="Courier New" panose="02070309020205020404" pitchFamily="49" charset="0"/>
            </a:endParaRPr>
          </a:p>
        </p:txBody>
      </p:sp>
      <p:sp>
        <p:nvSpPr>
          <p:cNvPr id="10" name="TextBox 9"/>
          <p:cNvSpPr txBox="1"/>
          <p:nvPr/>
        </p:nvSpPr>
        <p:spPr>
          <a:xfrm>
            <a:off x="6820598" y="3140968"/>
            <a:ext cx="2267744" cy="523220"/>
          </a:xfrm>
          <a:prstGeom prst="rect">
            <a:avLst/>
          </a:prstGeom>
          <a:noFill/>
          <a:ln>
            <a:solidFill>
              <a:schemeClr val="accent2">
                <a:lumMod val="60000"/>
                <a:lumOff val="40000"/>
              </a:schemeClr>
            </a:solidFill>
          </a:ln>
        </p:spPr>
        <p:txBody>
          <a:bodyPr wrap="square" rtlCol="0">
            <a:spAutoFit/>
          </a:bodyPr>
          <a:lstStyle/>
          <a:p>
            <a:r>
              <a:rPr lang="en-GB" sz="1400" dirty="0" err="1">
                <a:solidFill>
                  <a:prstClr val="black"/>
                </a:solidFill>
                <a:latin typeface="Courier New" panose="02070309020205020404" pitchFamily="49" charset="0"/>
                <a:cs typeface="Courier New" panose="02070309020205020404" pitchFamily="49" charset="0"/>
              </a:rPr>
              <a:t>Dataframe</a:t>
            </a:r>
            <a:r>
              <a:rPr lang="en-GB" sz="1400" dirty="0">
                <a:solidFill>
                  <a:prstClr val="black"/>
                </a:solidFill>
                <a:latin typeface="Courier New" panose="02070309020205020404" pitchFamily="49" charset="0"/>
                <a:cs typeface="Courier New" panose="02070309020205020404" pitchFamily="49" charset="0"/>
              </a:rPr>
              <a:t> divided into groups of rows</a:t>
            </a:r>
          </a:p>
        </p:txBody>
      </p:sp>
      <p:sp>
        <p:nvSpPr>
          <p:cNvPr id="11" name="TextBox 10"/>
          <p:cNvSpPr txBox="1"/>
          <p:nvPr/>
        </p:nvSpPr>
        <p:spPr>
          <a:xfrm>
            <a:off x="6516216" y="4005064"/>
            <a:ext cx="2267744" cy="523220"/>
          </a:xfrm>
          <a:prstGeom prst="rect">
            <a:avLst/>
          </a:prstGeom>
          <a:noFill/>
          <a:ln>
            <a:solidFill>
              <a:srgbClr val="FF0000"/>
            </a:solidFill>
            <a:prstDash val="dash"/>
          </a:ln>
        </p:spPr>
        <p:txBody>
          <a:bodyPr wrap="square" rtlCol="0">
            <a:spAutoFit/>
          </a:bodyPr>
          <a:lstStyle/>
          <a:p>
            <a:r>
              <a:rPr lang="en-GB" sz="1400" dirty="0">
                <a:solidFill>
                  <a:prstClr val="black"/>
                </a:solidFill>
                <a:latin typeface="Courier New" panose="02070309020205020404" pitchFamily="49" charset="0"/>
                <a:cs typeface="Courier New" panose="02070309020205020404" pitchFamily="49" charset="0"/>
              </a:rPr>
              <a:t>mean of groups in price1</a:t>
            </a:r>
          </a:p>
        </p:txBody>
      </p:sp>
      <p:sp>
        <p:nvSpPr>
          <p:cNvPr id="12" name="TextBox 11"/>
          <p:cNvSpPr txBox="1"/>
          <p:nvPr/>
        </p:nvSpPr>
        <p:spPr>
          <a:xfrm>
            <a:off x="6637462" y="5373216"/>
            <a:ext cx="2267744" cy="523220"/>
          </a:xfrm>
          <a:prstGeom prst="rect">
            <a:avLst/>
          </a:prstGeom>
          <a:noFill/>
          <a:ln>
            <a:solidFill>
              <a:srgbClr val="FF0000"/>
            </a:solidFill>
            <a:prstDash val="dash"/>
          </a:ln>
        </p:spPr>
        <p:txBody>
          <a:bodyPr wrap="square" rtlCol="0">
            <a:spAutoFit/>
          </a:bodyPr>
          <a:lstStyle/>
          <a:p>
            <a:r>
              <a:rPr lang="en-GB" sz="1400" dirty="0">
                <a:solidFill>
                  <a:prstClr val="black"/>
                </a:solidFill>
                <a:latin typeface="Courier New" panose="02070309020205020404" pitchFamily="49" charset="0"/>
                <a:cs typeface="Courier New" panose="02070309020205020404" pitchFamily="49" charset="0"/>
              </a:rPr>
              <a:t>Sum of groups in price1</a:t>
            </a:r>
          </a:p>
        </p:txBody>
      </p:sp>
    </p:spTree>
    <p:extLst>
      <p:ext uri="{BB962C8B-B14F-4D97-AF65-F5344CB8AC3E}">
        <p14:creationId xmlns:p14="http://schemas.microsoft.com/office/powerpoint/2010/main" val="2747311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p:cNvSpPr>
            <a:spLocks noGrp="1"/>
          </p:cNvSpPr>
          <p:nvPr>
            <p:ph type="title"/>
          </p:nvPr>
        </p:nvSpPr>
        <p:spPr>
          <a:xfrm>
            <a:off x="5940152" y="908720"/>
            <a:ext cx="2880320" cy="2376264"/>
          </a:xfrm>
        </p:spPr>
        <p:txBody>
          <a:bodyPr>
            <a:noAutofit/>
          </a:bodyPr>
          <a:lstStyle/>
          <a:p>
            <a:r>
              <a:rPr lang="en-GB" sz="3200" dirty="0"/>
              <a:t>Data Aggregation – Hierarchical Grouping – using various columns</a:t>
            </a:r>
          </a:p>
        </p:txBody>
      </p:sp>
      <p:pic>
        <p:nvPicPr>
          <p:cNvPr id="10251"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332656"/>
            <a:ext cx="5169377" cy="536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52"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751" y="5229200"/>
            <a:ext cx="2468147" cy="1538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234965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2685</TotalTime>
  <Words>1109</Words>
  <Application>Microsoft Office PowerPoint</Application>
  <PresentationFormat>On-screen Show (4:3)</PresentationFormat>
  <Paragraphs>112</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Courier New</vt:lpstr>
      <vt:lpstr>Wingdings</vt:lpstr>
      <vt:lpstr>Office Theme</vt:lpstr>
      <vt:lpstr>Pandas - Data Manipulation</vt:lpstr>
      <vt:lpstr>Data Manipulation - Merging</vt:lpstr>
      <vt:lpstr>Data Manipulation - Merging</vt:lpstr>
      <vt:lpstr>Data Manipulation - Merging</vt:lpstr>
      <vt:lpstr>Data Manapulation - Concatenating</vt:lpstr>
      <vt:lpstr>Data Manipulation - Concatenating Series</vt:lpstr>
      <vt:lpstr>Data Manipulation - Concatenating Series</vt:lpstr>
      <vt:lpstr>Data manipulation - Concatenating Dataframes</vt:lpstr>
      <vt:lpstr>Combining</vt:lpstr>
      <vt:lpstr>Data Manipulation - Pivoting</vt:lpstr>
      <vt:lpstr>Data Preparation - Pivoting</vt:lpstr>
      <vt:lpstr>Pivoting from ‘Long’ to ‘Wide’ format</vt:lpstr>
      <vt:lpstr>Data preparation - Removing</vt:lpstr>
      <vt:lpstr>Data Transformation – Removing Duplicates</vt:lpstr>
      <vt:lpstr>Data Transformation - Mapping</vt:lpstr>
      <vt:lpstr>Replacing values via mapping</vt:lpstr>
      <vt:lpstr>Replacing values via mapping</vt:lpstr>
      <vt:lpstr>Adding Values via Mapping</vt:lpstr>
      <vt:lpstr>Data Aggregation</vt:lpstr>
      <vt:lpstr>Data Aggregation – Grouping to a single column of data</vt:lpstr>
      <vt:lpstr>Data Aggregation – Hierarchical Grouping – using various columns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Manipulation - Merging</dc:title>
  <dc:creator>Mireilla Bikanga</dc:creator>
  <cp:lastModifiedBy>Mireilla Bikanga Ada</cp:lastModifiedBy>
  <cp:revision>5</cp:revision>
  <dcterms:created xsi:type="dcterms:W3CDTF">2019-09-16T14:28:05Z</dcterms:created>
  <dcterms:modified xsi:type="dcterms:W3CDTF">2026-09-18T11:13:53Z</dcterms:modified>
</cp:coreProperties>
</file>
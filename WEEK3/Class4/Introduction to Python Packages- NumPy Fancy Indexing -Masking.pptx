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62" r:id="rId5"/>
    <p:sldId id="266" r:id="rId6"/>
    <p:sldId id="264" r:id="rId7"/>
    <p:sldId id="267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36564C-2350-46D2-94EA-136337F9F86A}" v="2" dt="2026-09-18T11:28:16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83" autoAdjust="0"/>
  </p:normalViewPr>
  <p:slideViewPr>
    <p:cSldViewPr snapToGrid="0" snapToObjects="1">
      <p:cViewPr varScale="1">
        <p:scale>
          <a:sx n="106" d="100"/>
          <a:sy n="106" d="100"/>
        </p:scale>
        <p:origin x="10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illa Bikanga Ada" userId="b964f4d4-5927-4a33-a1eb-35030e652755" providerId="ADAL" clId="{A46988CF-BACF-4872-8EC1-69BC73F08BCA}"/>
    <pc:docChg chg="custSel modSld">
      <pc:chgData name="Mireilla Bikanga Ada" userId="b964f4d4-5927-4a33-a1eb-35030e652755" providerId="ADAL" clId="{A46988CF-BACF-4872-8EC1-69BC73F08BCA}" dt="2026-09-18T11:30:03.827" v="98" actId="20577"/>
      <pc:docMkLst>
        <pc:docMk/>
      </pc:docMkLst>
      <pc:sldChg chg="modSp mod">
        <pc:chgData name="Mireilla Bikanga Ada" userId="b964f4d4-5927-4a33-a1eb-35030e652755" providerId="ADAL" clId="{A46988CF-BACF-4872-8EC1-69BC73F08BCA}" dt="2026-09-18T11:30:03.827" v="98" actId="20577"/>
        <pc:sldMkLst>
          <pc:docMk/>
          <pc:sldMk cId="0" sldId="256"/>
        </pc:sldMkLst>
        <pc:spChg chg="mod">
          <ac:chgData name="Mireilla Bikanga Ada" userId="b964f4d4-5927-4a33-a1eb-35030e652755" providerId="ADAL" clId="{A46988CF-BACF-4872-8EC1-69BC73F08BCA}" dt="2026-09-18T11:30:03.827" v="9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ireilla Bikanga Ada" userId="b964f4d4-5927-4a33-a1eb-35030e652755" providerId="ADAL" clId="{A46988CF-BACF-4872-8EC1-69BC73F08BCA}" dt="2026-09-18T11:29:45.700" v="63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Mireilla Bikanga Ada" userId="b964f4d4-5927-4a33-a1eb-35030e652755" providerId="ADAL" clId="{A46988CF-BACF-4872-8EC1-69BC73F08BCA}" dt="2026-09-18T11:28:23.190" v="59" actId="1076"/>
        <pc:sldMkLst>
          <pc:docMk/>
          <pc:sldMk cId="1581759922" sldId="262"/>
        </pc:sldMkLst>
        <pc:spChg chg="mod">
          <ac:chgData name="Mireilla Bikanga Ada" userId="b964f4d4-5927-4a33-a1eb-35030e652755" providerId="ADAL" clId="{A46988CF-BACF-4872-8EC1-69BC73F08BCA}" dt="2026-09-18T11:23:30.257" v="37" actId="27636"/>
          <ac:spMkLst>
            <pc:docMk/>
            <pc:sldMk cId="1581759922" sldId="262"/>
            <ac:spMk id="2" creationId="{00000000-0000-0000-0000-000000000000}"/>
          </ac:spMkLst>
        </pc:spChg>
        <pc:spChg chg="add mod">
          <ac:chgData name="Mireilla Bikanga Ada" userId="b964f4d4-5927-4a33-a1eb-35030e652755" providerId="ADAL" clId="{A46988CF-BACF-4872-8EC1-69BC73F08BCA}" dt="2026-09-18T11:24:38.741" v="52" actId="14100"/>
          <ac:spMkLst>
            <pc:docMk/>
            <pc:sldMk cId="1581759922" sldId="262"/>
            <ac:spMk id="4" creationId="{763C3307-C1BF-0F39-09AD-B410A784A293}"/>
          </ac:spMkLst>
        </pc:spChg>
        <pc:spChg chg="mod">
          <ac:chgData name="Mireilla Bikanga Ada" userId="b964f4d4-5927-4a33-a1eb-35030e652755" providerId="ADAL" clId="{A46988CF-BACF-4872-8EC1-69BC73F08BCA}" dt="2026-09-18T11:23:39.429" v="40" actId="1076"/>
          <ac:spMkLst>
            <pc:docMk/>
            <pc:sldMk cId="1581759922" sldId="262"/>
            <ac:spMk id="5" creationId="{00D567A8-CCFA-E48A-B3DD-65CD324FF252}"/>
          </ac:spMkLst>
        </pc:spChg>
        <pc:spChg chg="mod">
          <ac:chgData name="Mireilla Bikanga Ada" userId="b964f4d4-5927-4a33-a1eb-35030e652755" providerId="ADAL" clId="{A46988CF-BACF-4872-8EC1-69BC73F08BCA}" dt="2026-09-18T11:23:42.236" v="41" actId="1076"/>
          <ac:spMkLst>
            <pc:docMk/>
            <pc:sldMk cId="1581759922" sldId="262"/>
            <ac:spMk id="7" creationId="{509667F8-4CF5-DFCE-3E5E-B2CD5A5BBB09}"/>
          </ac:spMkLst>
        </pc:spChg>
        <pc:picChg chg="add mod">
          <ac:chgData name="Mireilla Bikanga Ada" userId="b964f4d4-5927-4a33-a1eb-35030e652755" providerId="ADAL" clId="{A46988CF-BACF-4872-8EC1-69BC73F08BCA}" dt="2026-09-18T11:25:21.759" v="54" actId="1076"/>
          <ac:picMkLst>
            <pc:docMk/>
            <pc:sldMk cId="1581759922" sldId="262"/>
            <ac:picMk id="8" creationId="{7C6A4344-2E4C-AF93-970D-06BDC9E7B035}"/>
          </ac:picMkLst>
        </pc:picChg>
        <pc:picChg chg="add mod">
          <ac:chgData name="Mireilla Bikanga Ada" userId="b964f4d4-5927-4a33-a1eb-35030e652755" providerId="ADAL" clId="{A46988CF-BACF-4872-8EC1-69BC73F08BCA}" dt="2026-09-18T11:27:15.924" v="56" actId="1076"/>
          <ac:picMkLst>
            <pc:docMk/>
            <pc:sldMk cId="1581759922" sldId="262"/>
            <ac:picMk id="10" creationId="{FD4D4917-EBDD-02A5-2C1D-CB8CF7A047EA}"/>
          </ac:picMkLst>
        </pc:picChg>
        <pc:cxnChg chg="add">
          <ac:chgData name="Mireilla Bikanga Ada" userId="b964f4d4-5927-4a33-a1eb-35030e652755" providerId="ADAL" clId="{A46988CF-BACF-4872-8EC1-69BC73F08BCA}" dt="2026-09-18T11:28:11.423" v="57" actId="11529"/>
          <ac:cxnSpMkLst>
            <pc:docMk/>
            <pc:sldMk cId="1581759922" sldId="262"/>
            <ac:cxnSpMk id="12" creationId="{DBB6BA35-3DF9-D939-FDE2-FBF1557CAB0B}"/>
          </ac:cxnSpMkLst>
        </pc:cxnChg>
        <pc:cxnChg chg="add mod">
          <ac:chgData name="Mireilla Bikanga Ada" userId="b964f4d4-5927-4a33-a1eb-35030e652755" providerId="ADAL" clId="{A46988CF-BACF-4872-8EC1-69BC73F08BCA}" dt="2026-09-18T11:28:23.190" v="59" actId="1076"/>
          <ac:cxnSpMkLst>
            <pc:docMk/>
            <pc:sldMk cId="1581759922" sldId="262"/>
            <ac:cxnSpMk id="13" creationId="{09F4332D-A7D5-B6C1-65DE-8710DBB059C1}"/>
          </ac:cxnSpMkLst>
        </pc:cxnChg>
      </pc:sldChg>
      <pc:sldChg chg="modSp mod">
        <pc:chgData name="Mireilla Bikanga Ada" userId="b964f4d4-5927-4a33-a1eb-35030e652755" providerId="ADAL" clId="{A46988CF-BACF-4872-8EC1-69BC73F08BCA}" dt="2026-09-18T11:18:50.371" v="15" actId="113"/>
        <pc:sldMkLst>
          <pc:docMk/>
          <pc:sldMk cId="1005686415" sldId="265"/>
        </pc:sldMkLst>
        <pc:spChg chg="mod">
          <ac:chgData name="Mireilla Bikanga Ada" userId="b964f4d4-5927-4a33-a1eb-35030e652755" providerId="ADAL" clId="{A46988CF-BACF-4872-8EC1-69BC73F08BCA}" dt="2026-09-18T11:18:50.371" v="15" actId="113"/>
          <ac:spMkLst>
            <pc:docMk/>
            <pc:sldMk cId="1005686415" sldId="265"/>
            <ac:spMk id="3" creationId="{C33F780D-C40A-B8A2-1B0F-306CA6A215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Python Packages, NumPy Fancy Indexing &amp; Masking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9A41D-9E71-353E-D7E4-840F06D8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Package?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F780D-C40A-B8A2-1B0F-306CA6A2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US" dirty="0"/>
              <a:t>is usually a single Python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file containing reusable code. A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  <a:r>
              <a:rPr lang="en-US" dirty="0"/>
              <a:t> groups related modules so that they can be </a:t>
            </a:r>
            <a:r>
              <a:rPr lang="en-US" dirty="0" err="1"/>
              <a:t>organised</a:t>
            </a:r>
            <a:r>
              <a:rPr lang="en-US" dirty="0"/>
              <a:t> and imported together.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Standard Library and Third-Party Packages: </a:t>
            </a:r>
            <a:r>
              <a:rPr lang="en-US" dirty="0"/>
              <a:t>Python includes a large standard library of modules and packages. Third-party packages can be installed using tools such as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en-U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568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194"/>
            <a:ext cx="8229600" cy="991048"/>
          </a:xfrm>
        </p:spPr>
        <p:txBody>
          <a:bodyPr>
            <a:noAutofit/>
          </a:bodyPr>
          <a:lstStyle/>
          <a:p>
            <a:r>
              <a:rPr lang="en-US" sz="3200" dirty="0"/>
              <a:t>Why Use Packages?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20E6FE-3B9A-DA05-9098-EEAB76C33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8166"/>
            <a:ext cx="8229600" cy="4897998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Modularity: </a:t>
            </a:r>
            <a:r>
              <a:rPr lang="en-GB" dirty="0"/>
              <a:t>Packages help break down large programs into smaller, manageable modules.</a:t>
            </a:r>
          </a:p>
          <a:p>
            <a:endParaRPr lang="en-GB" dirty="0"/>
          </a:p>
          <a:p>
            <a:r>
              <a:rPr lang="en-GB" b="1" dirty="0">
                <a:solidFill>
                  <a:srgbClr val="FF0000"/>
                </a:solidFill>
              </a:rPr>
              <a:t>Reusability: </a:t>
            </a:r>
            <a:r>
              <a:rPr lang="en-GB" dirty="0"/>
              <a:t>Code can be reused across different programs by importing modules from packages.</a:t>
            </a:r>
          </a:p>
          <a:p>
            <a:endParaRPr lang="en-GB" dirty="0"/>
          </a:p>
          <a:p>
            <a:r>
              <a:rPr lang="en-GB" b="1" dirty="0">
                <a:solidFill>
                  <a:srgbClr val="FF0000"/>
                </a:solidFill>
              </a:rPr>
              <a:t>Namespace Management: </a:t>
            </a:r>
            <a:r>
              <a:rPr lang="en-GB" dirty="0"/>
              <a:t>Packages help avoid naming conflicts by organising code into separate namespaces.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193"/>
            <a:ext cx="8229600" cy="641147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a Custom Python Package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9667F8-4CF5-DFCE-3E5E-B2CD5A5BBB09}"/>
              </a:ext>
            </a:extLst>
          </p:cNvPr>
          <p:cNvSpPr txBox="1"/>
          <p:nvPr/>
        </p:nvSpPr>
        <p:spPr>
          <a:xfrm>
            <a:off x="4648821" y="720647"/>
            <a:ext cx="4495179" cy="4708981"/>
          </a:xfrm>
          <a:custGeom>
            <a:avLst/>
            <a:gdLst>
              <a:gd name="csX0" fmla="*/ 0 w 4495179"/>
              <a:gd name="csY0" fmla="*/ 0 h 4708981"/>
              <a:gd name="csX1" fmla="*/ 516946 w 4495179"/>
              <a:gd name="csY1" fmla="*/ 0 h 4708981"/>
              <a:gd name="csX2" fmla="*/ 943988 w 4495179"/>
              <a:gd name="csY2" fmla="*/ 0 h 4708981"/>
              <a:gd name="csX3" fmla="*/ 1595789 w 4495179"/>
              <a:gd name="csY3" fmla="*/ 0 h 4708981"/>
              <a:gd name="csX4" fmla="*/ 2112734 w 4495179"/>
              <a:gd name="csY4" fmla="*/ 0 h 4708981"/>
              <a:gd name="csX5" fmla="*/ 2629680 w 4495179"/>
              <a:gd name="csY5" fmla="*/ 0 h 4708981"/>
              <a:gd name="csX6" fmla="*/ 3281481 w 4495179"/>
              <a:gd name="csY6" fmla="*/ 0 h 4708981"/>
              <a:gd name="csX7" fmla="*/ 3753474 w 4495179"/>
              <a:gd name="csY7" fmla="*/ 0 h 4708981"/>
              <a:gd name="csX8" fmla="*/ 4495179 w 4495179"/>
              <a:gd name="csY8" fmla="*/ 0 h 4708981"/>
              <a:gd name="csX9" fmla="*/ 4495179 w 4495179"/>
              <a:gd name="csY9" fmla="*/ 682802 h 4708981"/>
              <a:gd name="csX10" fmla="*/ 4495179 w 4495179"/>
              <a:gd name="csY10" fmla="*/ 1177245 h 4708981"/>
              <a:gd name="csX11" fmla="*/ 4495179 w 4495179"/>
              <a:gd name="csY11" fmla="*/ 1765868 h 4708981"/>
              <a:gd name="csX12" fmla="*/ 4495179 w 4495179"/>
              <a:gd name="csY12" fmla="*/ 2401580 h 4708981"/>
              <a:gd name="csX13" fmla="*/ 4495179 w 4495179"/>
              <a:gd name="csY13" fmla="*/ 2848934 h 4708981"/>
              <a:gd name="csX14" fmla="*/ 4495179 w 4495179"/>
              <a:gd name="csY14" fmla="*/ 3437556 h 4708981"/>
              <a:gd name="csX15" fmla="*/ 4495179 w 4495179"/>
              <a:gd name="csY15" fmla="*/ 4026179 h 4708981"/>
              <a:gd name="csX16" fmla="*/ 4495179 w 4495179"/>
              <a:gd name="csY16" fmla="*/ 4708981 h 4708981"/>
              <a:gd name="csX17" fmla="*/ 3888330 w 4495179"/>
              <a:gd name="csY17" fmla="*/ 4708981 h 4708981"/>
              <a:gd name="csX18" fmla="*/ 3326432 w 4495179"/>
              <a:gd name="csY18" fmla="*/ 4708981 h 4708981"/>
              <a:gd name="csX19" fmla="*/ 2899390 w 4495179"/>
              <a:gd name="csY19" fmla="*/ 4708981 h 4708981"/>
              <a:gd name="csX20" fmla="*/ 2427397 w 4495179"/>
              <a:gd name="csY20" fmla="*/ 4708981 h 4708981"/>
              <a:gd name="csX21" fmla="*/ 1775596 w 4495179"/>
              <a:gd name="csY21" fmla="*/ 4708981 h 4708981"/>
              <a:gd name="csX22" fmla="*/ 1213698 w 4495179"/>
              <a:gd name="csY22" fmla="*/ 4708981 h 4708981"/>
              <a:gd name="csX23" fmla="*/ 741705 w 4495179"/>
              <a:gd name="csY23" fmla="*/ 4708981 h 4708981"/>
              <a:gd name="csX24" fmla="*/ 0 w 4495179"/>
              <a:gd name="csY24" fmla="*/ 4708981 h 4708981"/>
              <a:gd name="csX25" fmla="*/ 0 w 4495179"/>
              <a:gd name="csY25" fmla="*/ 4261628 h 4708981"/>
              <a:gd name="csX26" fmla="*/ 0 w 4495179"/>
              <a:gd name="csY26" fmla="*/ 3814275 h 4708981"/>
              <a:gd name="csX27" fmla="*/ 0 w 4495179"/>
              <a:gd name="csY27" fmla="*/ 3178562 h 4708981"/>
              <a:gd name="csX28" fmla="*/ 0 w 4495179"/>
              <a:gd name="csY28" fmla="*/ 2684119 h 4708981"/>
              <a:gd name="csX29" fmla="*/ 0 w 4495179"/>
              <a:gd name="csY29" fmla="*/ 2001317 h 4708981"/>
              <a:gd name="csX30" fmla="*/ 0 w 4495179"/>
              <a:gd name="csY30" fmla="*/ 1459784 h 4708981"/>
              <a:gd name="csX31" fmla="*/ 0 w 4495179"/>
              <a:gd name="csY31" fmla="*/ 1012431 h 4708981"/>
              <a:gd name="csX32" fmla="*/ 0 w 4495179"/>
              <a:gd name="csY32" fmla="*/ 0 h 47089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4495179" h="4708981" extrusionOk="0">
                <a:moveTo>
                  <a:pt x="0" y="0"/>
                </a:moveTo>
                <a:cubicBezTo>
                  <a:pt x="194818" y="-9930"/>
                  <a:pt x="294597" y="52482"/>
                  <a:pt x="516946" y="0"/>
                </a:cubicBezTo>
                <a:cubicBezTo>
                  <a:pt x="739295" y="-52482"/>
                  <a:pt x="803828" y="10076"/>
                  <a:pt x="943988" y="0"/>
                </a:cubicBezTo>
                <a:cubicBezTo>
                  <a:pt x="1084148" y="-10076"/>
                  <a:pt x="1287992" y="67949"/>
                  <a:pt x="1595789" y="0"/>
                </a:cubicBezTo>
                <a:cubicBezTo>
                  <a:pt x="1903586" y="-67949"/>
                  <a:pt x="1920046" y="20068"/>
                  <a:pt x="2112734" y="0"/>
                </a:cubicBezTo>
                <a:cubicBezTo>
                  <a:pt x="2305422" y="-20068"/>
                  <a:pt x="2515319" y="20952"/>
                  <a:pt x="2629680" y="0"/>
                </a:cubicBezTo>
                <a:cubicBezTo>
                  <a:pt x="2744041" y="-20952"/>
                  <a:pt x="3085918" y="4036"/>
                  <a:pt x="3281481" y="0"/>
                </a:cubicBezTo>
                <a:cubicBezTo>
                  <a:pt x="3477044" y="-4036"/>
                  <a:pt x="3595384" y="43828"/>
                  <a:pt x="3753474" y="0"/>
                </a:cubicBezTo>
                <a:cubicBezTo>
                  <a:pt x="3911564" y="-43828"/>
                  <a:pt x="4135671" y="74308"/>
                  <a:pt x="4495179" y="0"/>
                </a:cubicBezTo>
                <a:cubicBezTo>
                  <a:pt x="4554242" y="189350"/>
                  <a:pt x="4420333" y="357098"/>
                  <a:pt x="4495179" y="682802"/>
                </a:cubicBezTo>
                <a:cubicBezTo>
                  <a:pt x="4570025" y="1008506"/>
                  <a:pt x="4481873" y="1021980"/>
                  <a:pt x="4495179" y="1177245"/>
                </a:cubicBezTo>
                <a:cubicBezTo>
                  <a:pt x="4508485" y="1332510"/>
                  <a:pt x="4427736" y="1505954"/>
                  <a:pt x="4495179" y="1765868"/>
                </a:cubicBezTo>
                <a:cubicBezTo>
                  <a:pt x="4562622" y="2025782"/>
                  <a:pt x="4437476" y="2132835"/>
                  <a:pt x="4495179" y="2401580"/>
                </a:cubicBezTo>
                <a:cubicBezTo>
                  <a:pt x="4552882" y="2670325"/>
                  <a:pt x="4443245" y="2629764"/>
                  <a:pt x="4495179" y="2848934"/>
                </a:cubicBezTo>
                <a:cubicBezTo>
                  <a:pt x="4547113" y="3068104"/>
                  <a:pt x="4430432" y="3313157"/>
                  <a:pt x="4495179" y="3437556"/>
                </a:cubicBezTo>
                <a:cubicBezTo>
                  <a:pt x="4559926" y="3561955"/>
                  <a:pt x="4494414" y="3777913"/>
                  <a:pt x="4495179" y="4026179"/>
                </a:cubicBezTo>
                <a:cubicBezTo>
                  <a:pt x="4495944" y="4274445"/>
                  <a:pt x="4490935" y="4545189"/>
                  <a:pt x="4495179" y="4708981"/>
                </a:cubicBezTo>
                <a:cubicBezTo>
                  <a:pt x="4218652" y="4753152"/>
                  <a:pt x="4143098" y="4702052"/>
                  <a:pt x="3888330" y="4708981"/>
                </a:cubicBezTo>
                <a:cubicBezTo>
                  <a:pt x="3633562" y="4715910"/>
                  <a:pt x="3593086" y="4648845"/>
                  <a:pt x="3326432" y="4708981"/>
                </a:cubicBezTo>
                <a:cubicBezTo>
                  <a:pt x="3059778" y="4769117"/>
                  <a:pt x="3039681" y="4691162"/>
                  <a:pt x="2899390" y="4708981"/>
                </a:cubicBezTo>
                <a:cubicBezTo>
                  <a:pt x="2759099" y="4726800"/>
                  <a:pt x="2658879" y="4676867"/>
                  <a:pt x="2427397" y="4708981"/>
                </a:cubicBezTo>
                <a:cubicBezTo>
                  <a:pt x="2195915" y="4741095"/>
                  <a:pt x="2052408" y="4639940"/>
                  <a:pt x="1775596" y="4708981"/>
                </a:cubicBezTo>
                <a:cubicBezTo>
                  <a:pt x="1498784" y="4778022"/>
                  <a:pt x="1408624" y="4676582"/>
                  <a:pt x="1213698" y="4708981"/>
                </a:cubicBezTo>
                <a:cubicBezTo>
                  <a:pt x="1018772" y="4741380"/>
                  <a:pt x="861184" y="4661861"/>
                  <a:pt x="741705" y="4708981"/>
                </a:cubicBezTo>
                <a:cubicBezTo>
                  <a:pt x="622226" y="4756101"/>
                  <a:pt x="207406" y="4646566"/>
                  <a:pt x="0" y="4708981"/>
                </a:cubicBezTo>
                <a:cubicBezTo>
                  <a:pt x="-32160" y="4541734"/>
                  <a:pt x="30997" y="4366183"/>
                  <a:pt x="0" y="4261628"/>
                </a:cubicBezTo>
                <a:cubicBezTo>
                  <a:pt x="-30997" y="4157073"/>
                  <a:pt x="47443" y="3923286"/>
                  <a:pt x="0" y="3814275"/>
                </a:cubicBezTo>
                <a:cubicBezTo>
                  <a:pt x="-47443" y="3705264"/>
                  <a:pt x="75062" y="3454686"/>
                  <a:pt x="0" y="3178562"/>
                </a:cubicBezTo>
                <a:cubicBezTo>
                  <a:pt x="-75062" y="2902438"/>
                  <a:pt x="31589" y="2796867"/>
                  <a:pt x="0" y="2684119"/>
                </a:cubicBezTo>
                <a:cubicBezTo>
                  <a:pt x="-31589" y="2571371"/>
                  <a:pt x="79666" y="2288315"/>
                  <a:pt x="0" y="2001317"/>
                </a:cubicBezTo>
                <a:cubicBezTo>
                  <a:pt x="-79666" y="1714319"/>
                  <a:pt x="48380" y="1596858"/>
                  <a:pt x="0" y="1459784"/>
                </a:cubicBezTo>
                <a:cubicBezTo>
                  <a:pt x="-48380" y="1322710"/>
                  <a:pt x="19706" y="1103037"/>
                  <a:pt x="0" y="1012431"/>
                </a:cubicBezTo>
                <a:cubicBezTo>
                  <a:pt x="-19706" y="921825"/>
                  <a:pt x="97214" y="255132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Create a Directory: </a:t>
            </a:r>
            <a:r>
              <a:rPr lang="en-US" sz="2000" dirty="0"/>
              <a:t>Create a directory that will contain your package modules.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Add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 __init__.py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File: </a:t>
            </a:r>
            <a:r>
              <a:rPr lang="en-US" sz="2000" dirty="0"/>
              <a:t>For a conventional Python package, add an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__init__.py </a:t>
            </a:r>
            <a:r>
              <a:rPr lang="en-US" sz="2000" dirty="0"/>
              <a:t>file to the package directory. The file may be empty or may contain package </a:t>
            </a:r>
            <a:r>
              <a:rPr lang="en-US" sz="2000" dirty="0" err="1"/>
              <a:t>initialisation</a:t>
            </a:r>
            <a:r>
              <a:rPr lang="en-US" sz="2000" dirty="0"/>
              <a:t> code.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Add Modules: </a:t>
            </a:r>
            <a:r>
              <a:rPr lang="en-US" sz="2000" dirty="0"/>
              <a:t>Create Python files (modules) inside the directory. Each file can contain related functions and classes.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Use the Package: </a:t>
            </a:r>
            <a:r>
              <a:rPr lang="en-US" sz="2000" dirty="0"/>
              <a:t>Import the package or specific modules in your Python script and use the functionality provided.</a:t>
            </a:r>
            <a:endParaRPr lang="en-GB"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D567A8-CCFA-E48A-B3DD-65CD324FF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2" y="844540"/>
            <a:ext cx="3738282" cy="440120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Open the Word document </a:t>
            </a:r>
            <a:r>
              <a:rPr lang="en-US" b="1" dirty="0"/>
              <a:t>“</a:t>
            </a:r>
            <a:r>
              <a:rPr lang="en-US" b="1" i="1" dirty="0">
                <a:solidFill>
                  <a:srgbClr val="7030A0"/>
                </a:solidFill>
              </a:rPr>
              <a:t>Creating custom package</a:t>
            </a:r>
            <a:r>
              <a:rPr lang="en-US" b="1" dirty="0"/>
              <a:t>”. </a:t>
            </a:r>
            <a:r>
              <a:rPr lang="en-US" dirty="0"/>
              <a:t>It provides a step-by-step approach to creating a custom package on a Windows computer. It assumes you have already installed Windows Subsystem for Linux (WSL). (If you already have Linux, you can skip its installation)</a:t>
            </a:r>
          </a:p>
          <a:p>
            <a:endParaRPr lang="en-US" dirty="0"/>
          </a:p>
          <a:p>
            <a:r>
              <a:rPr lang="en-GB" dirty="0"/>
              <a:t>Note: In modern Python </a:t>
            </a:r>
            <a:r>
              <a:rPr lang="en-GB" b="1" dirty="0"/>
              <a:t>__init__.py is not strictly required for every package</a:t>
            </a:r>
            <a:r>
              <a:rPr lang="en-GB" dirty="0"/>
              <a:t>, because namespace packages exist.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C3307-C1BF-0F39-09AD-B410A784A293}"/>
              </a:ext>
            </a:extLst>
          </p:cNvPr>
          <p:cNvSpPr txBox="1"/>
          <p:nvPr/>
        </p:nvSpPr>
        <p:spPr>
          <a:xfrm>
            <a:off x="296501" y="5309919"/>
            <a:ext cx="2057400" cy="923330"/>
          </a:xfrm>
          <a:prstGeom prst="rect">
            <a:avLst/>
          </a:prstGeom>
          <a:noFill/>
          <a:ln w="25400">
            <a:solidFill>
              <a:schemeClr val="accent1"/>
            </a:solidFill>
            <a:prstDash val="dashDot"/>
          </a:ln>
        </p:spPr>
        <p:txBody>
          <a:bodyPr wrap="square">
            <a:spAutoFit/>
          </a:bodyPr>
          <a:lstStyle/>
          <a:p>
            <a:r>
              <a:rPr lang="en-US" dirty="0" err="1"/>
              <a:t>my_package</a:t>
            </a:r>
            <a:r>
              <a:rPr lang="en-US" dirty="0"/>
              <a:t>/</a:t>
            </a:r>
          </a:p>
          <a:p>
            <a:r>
              <a:rPr lang="en-US" dirty="0"/>
              <a:t>    __init__.py</a:t>
            </a:r>
          </a:p>
          <a:p>
            <a:r>
              <a:rPr lang="en-US" dirty="0"/>
              <a:t>    calculations.py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6A4344-2E4C-AF93-970D-06BDC9E7B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418" y="5461616"/>
            <a:ext cx="1657581" cy="7716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4D4917-EBDD-02A5-2C1D-CB8CF7A04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516" y="5594985"/>
            <a:ext cx="3458058" cy="63826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B6BA35-3DF9-D939-FDE2-FBF1557CAB0B}"/>
              </a:ext>
            </a:extLst>
          </p:cNvPr>
          <p:cNvCxnSpPr/>
          <p:nvPr/>
        </p:nvCxnSpPr>
        <p:spPr>
          <a:xfrm>
            <a:off x="2460813" y="5847432"/>
            <a:ext cx="327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F4332D-A7D5-B6C1-65DE-8710DBB059C1}"/>
              </a:ext>
            </a:extLst>
          </p:cNvPr>
          <p:cNvCxnSpPr/>
          <p:nvPr/>
        </p:nvCxnSpPr>
        <p:spPr>
          <a:xfrm>
            <a:off x="4648821" y="5914117"/>
            <a:ext cx="327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75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97C7-0BA1-15F1-DF3C-A2E6B0CA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66" y="98694"/>
            <a:ext cx="8229600" cy="574207"/>
          </a:xfrm>
        </p:spPr>
        <p:txBody>
          <a:bodyPr>
            <a:normAutofit fontScale="90000"/>
          </a:bodyPr>
          <a:lstStyle/>
          <a:p>
            <a:r>
              <a:rPr lang="en-US" dirty="0"/>
              <a:t>Fancy Indexing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9552F-9AC7-2894-B5F2-97FE9C4DB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61379"/>
            <a:ext cx="4030266" cy="5696857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Fancy indexing involves using arrays (or lists) of integers to index another array (</a:t>
            </a:r>
            <a:r>
              <a:rPr lang="en-US" i="1" dirty="0"/>
              <a:t>passing an array of indices to access multiple array elements at once.) </a:t>
            </a:r>
            <a:r>
              <a:rPr lang="en-US" dirty="0"/>
              <a:t>This can be very useful when you need to access multiple non-contiguous elements or specific patterns within an array. </a:t>
            </a:r>
          </a:p>
          <a:p>
            <a:endParaRPr lang="en-US" dirty="0"/>
          </a:p>
          <a:p>
            <a:r>
              <a:rPr lang="en-US" dirty="0"/>
              <a:t>Allows you to create new arrays by specifying the exact indices of the elements you want to extract.</a:t>
            </a:r>
          </a:p>
          <a:p>
            <a:endParaRPr lang="en-US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Fancy indexing allows you to access and manipulate elements based on complex criteria that would be difficult to achieve with regular slicing.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 can select multiple, non-contiguous elements from an array, which is useful for various advanced operations.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E1E15-4663-2B1F-5B1C-5E182A2D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85" y="1765487"/>
            <a:ext cx="2752725" cy="163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18077E-DFAD-A3CE-751D-DA0F66CFA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576" y="3932705"/>
            <a:ext cx="4067175" cy="2076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010384-7379-B93E-8934-BC9EC2EDAF83}"/>
              </a:ext>
            </a:extLst>
          </p:cNvPr>
          <p:cNvSpPr txBox="1"/>
          <p:nvPr/>
        </p:nvSpPr>
        <p:spPr>
          <a:xfrm>
            <a:off x="6517341" y="961379"/>
            <a:ext cx="2411506" cy="646331"/>
          </a:xfrm>
          <a:custGeom>
            <a:avLst/>
            <a:gdLst>
              <a:gd name="csX0" fmla="*/ 0 w 2411506"/>
              <a:gd name="csY0" fmla="*/ 0 h 646331"/>
              <a:gd name="csX1" fmla="*/ 458186 w 2411506"/>
              <a:gd name="csY1" fmla="*/ 0 h 646331"/>
              <a:gd name="csX2" fmla="*/ 868142 w 2411506"/>
              <a:gd name="csY2" fmla="*/ 0 h 646331"/>
              <a:gd name="csX3" fmla="*/ 1398673 w 2411506"/>
              <a:gd name="csY3" fmla="*/ 0 h 646331"/>
              <a:gd name="csX4" fmla="*/ 1856860 w 2411506"/>
              <a:gd name="csY4" fmla="*/ 0 h 646331"/>
              <a:gd name="csX5" fmla="*/ 2411506 w 2411506"/>
              <a:gd name="csY5" fmla="*/ 0 h 646331"/>
              <a:gd name="csX6" fmla="*/ 2411506 w 2411506"/>
              <a:gd name="csY6" fmla="*/ 336092 h 646331"/>
              <a:gd name="csX7" fmla="*/ 2411506 w 2411506"/>
              <a:gd name="csY7" fmla="*/ 646331 h 646331"/>
              <a:gd name="csX8" fmla="*/ 1929205 w 2411506"/>
              <a:gd name="csY8" fmla="*/ 646331 h 646331"/>
              <a:gd name="csX9" fmla="*/ 1519249 w 2411506"/>
              <a:gd name="csY9" fmla="*/ 646331 h 646331"/>
              <a:gd name="csX10" fmla="*/ 1036948 w 2411506"/>
              <a:gd name="csY10" fmla="*/ 646331 h 646331"/>
              <a:gd name="csX11" fmla="*/ 554646 w 2411506"/>
              <a:gd name="csY11" fmla="*/ 646331 h 646331"/>
              <a:gd name="csX12" fmla="*/ 0 w 2411506"/>
              <a:gd name="csY12" fmla="*/ 646331 h 646331"/>
              <a:gd name="csX13" fmla="*/ 0 w 2411506"/>
              <a:gd name="csY13" fmla="*/ 310239 h 646331"/>
              <a:gd name="csX14" fmla="*/ 0 w 2411506"/>
              <a:gd name="csY1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411506" h="646331" extrusionOk="0">
                <a:moveTo>
                  <a:pt x="0" y="0"/>
                </a:moveTo>
                <a:cubicBezTo>
                  <a:pt x="144909" y="-45256"/>
                  <a:pt x="296199" y="11058"/>
                  <a:pt x="458186" y="0"/>
                </a:cubicBezTo>
                <a:cubicBezTo>
                  <a:pt x="620173" y="-11058"/>
                  <a:pt x="769212" y="34549"/>
                  <a:pt x="868142" y="0"/>
                </a:cubicBezTo>
                <a:cubicBezTo>
                  <a:pt x="967072" y="-34549"/>
                  <a:pt x="1204202" y="28888"/>
                  <a:pt x="1398673" y="0"/>
                </a:cubicBezTo>
                <a:cubicBezTo>
                  <a:pt x="1593144" y="-28888"/>
                  <a:pt x="1708815" y="23220"/>
                  <a:pt x="1856860" y="0"/>
                </a:cubicBezTo>
                <a:cubicBezTo>
                  <a:pt x="2004905" y="-23220"/>
                  <a:pt x="2180421" y="29662"/>
                  <a:pt x="2411506" y="0"/>
                </a:cubicBezTo>
                <a:cubicBezTo>
                  <a:pt x="2446178" y="99397"/>
                  <a:pt x="2373445" y="207528"/>
                  <a:pt x="2411506" y="336092"/>
                </a:cubicBezTo>
                <a:cubicBezTo>
                  <a:pt x="2449567" y="464656"/>
                  <a:pt x="2404260" y="558683"/>
                  <a:pt x="2411506" y="646331"/>
                </a:cubicBezTo>
                <a:cubicBezTo>
                  <a:pt x="2275738" y="682870"/>
                  <a:pt x="2145639" y="589166"/>
                  <a:pt x="1929205" y="646331"/>
                </a:cubicBezTo>
                <a:cubicBezTo>
                  <a:pt x="1712771" y="703496"/>
                  <a:pt x="1604044" y="610456"/>
                  <a:pt x="1519249" y="646331"/>
                </a:cubicBezTo>
                <a:cubicBezTo>
                  <a:pt x="1434454" y="682206"/>
                  <a:pt x="1167227" y="618756"/>
                  <a:pt x="1036948" y="646331"/>
                </a:cubicBezTo>
                <a:cubicBezTo>
                  <a:pt x="906669" y="673906"/>
                  <a:pt x="688625" y="613976"/>
                  <a:pt x="554646" y="646331"/>
                </a:cubicBezTo>
                <a:cubicBezTo>
                  <a:pt x="420667" y="678686"/>
                  <a:pt x="145787" y="611695"/>
                  <a:pt x="0" y="646331"/>
                </a:cubicBezTo>
                <a:cubicBezTo>
                  <a:pt x="-33616" y="483157"/>
                  <a:pt x="27355" y="419635"/>
                  <a:pt x="0" y="310239"/>
                </a:cubicBezTo>
                <a:cubicBezTo>
                  <a:pt x="-27355" y="200843"/>
                  <a:pt x="264" y="72993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One-dimensional output: [10, 30, 50]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F4608-4F68-803C-5E59-109B20CB8C51}"/>
              </a:ext>
            </a:extLst>
          </p:cNvPr>
          <p:cNvSpPr txBox="1"/>
          <p:nvPr/>
        </p:nvSpPr>
        <p:spPr>
          <a:xfrm>
            <a:off x="5179709" y="6011905"/>
            <a:ext cx="2675264" cy="646331"/>
          </a:xfrm>
          <a:custGeom>
            <a:avLst/>
            <a:gdLst>
              <a:gd name="csX0" fmla="*/ 0 w 2675264"/>
              <a:gd name="csY0" fmla="*/ 0 h 646331"/>
              <a:gd name="csX1" fmla="*/ 508300 w 2675264"/>
              <a:gd name="csY1" fmla="*/ 0 h 646331"/>
              <a:gd name="csX2" fmla="*/ 963095 w 2675264"/>
              <a:gd name="csY2" fmla="*/ 0 h 646331"/>
              <a:gd name="csX3" fmla="*/ 1551653 w 2675264"/>
              <a:gd name="csY3" fmla="*/ 0 h 646331"/>
              <a:gd name="csX4" fmla="*/ 2059953 w 2675264"/>
              <a:gd name="csY4" fmla="*/ 0 h 646331"/>
              <a:gd name="csX5" fmla="*/ 2675264 w 2675264"/>
              <a:gd name="csY5" fmla="*/ 0 h 646331"/>
              <a:gd name="csX6" fmla="*/ 2675264 w 2675264"/>
              <a:gd name="csY6" fmla="*/ 336092 h 646331"/>
              <a:gd name="csX7" fmla="*/ 2675264 w 2675264"/>
              <a:gd name="csY7" fmla="*/ 646331 h 646331"/>
              <a:gd name="csX8" fmla="*/ 2140211 w 2675264"/>
              <a:gd name="csY8" fmla="*/ 646331 h 646331"/>
              <a:gd name="csX9" fmla="*/ 1685416 w 2675264"/>
              <a:gd name="csY9" fmla="*/ 646331 h 646331"/>
              <a:gd name="csX10" fmla="*/ 1150364 w 2675264"/>
              <a:gd name="csY10" fmla="*/ 646331 h 646331"/>
              <a:gd name="csX11" fmla="*/ 615311 w 2675264"/>
              <a:gd name="csY11" fmla="*/ 646331 h 646331"/>
              <a:gd name="csX12" fmla="*/ 0 w 2675264"/>
              <a:gd name="csY12" fmla="*/ 646331 h 646331"/>
              <a:gd name="csX13" fmla="*/ 0 w 2675264"/>
              <a:gd name="csY13" fmla="*/ 310239 h 646331"/>
              <a:gd name="csX14" fmla="*/ 0 w 2675264"/>
              <a:gd name="csY14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75264" h="646331" extrusionOk="0">
                <a:moveTo>
                  <a:pt x="0" y="0"/>
                </a:moveTo>
                <a:cubicBezTo>
                  <a:pt x="168943" y="-39829"/>
                  <a:pt x="365670" y="6395"/>
                  <a:pt x="508300" y="0"/>
                </a:cubicBezTo>
                <a:cubicBezTo>
                  <a:pt x="650930" y="-6395"/>
                  <a:pt x="865010" y="34150"/>
                  <a:pt x="963095" y="0"/>
                </a:cubicBezTo>
                <a:cubicBezTo>
                  <a:pt x="1061180" y="-34150"/>
                  <a:pt x="1301314" y="63708"/>
                  <a:pt x="1551653" y="0"/>
                </a:cubicBezTo>
                <a:cubicBezTo>
                  <a:pt x="1801992" y="-63708"/>
                  <a:pt x="1938530" y="15513"/>
                  <a:pt x="2059953" y="0"/>
                </a:cubicBezTo>
                <a:cubicBezTo>
                  <a:pt x="2181376" y="-15513"/>
                  <a:pt x="2384867" y="47904"/>
                  <a:pt x="2675264" y="0"/>
                </a:cubicBezTo>
                <a:cubicBezTo>
                  <a:pt x="2709936" y="99397"/>
                  <a:pt x="2637203" y="207528"/>
                  <a:pt x="2675264" y="336092"/>
                </a:cubicBezTo>
                <a:cubicBezTo>
                  <a:pt x="2713325" y="464656"/>
                  <a:pt x="2668018" y="558683"/>
                  <a:pt x="2675264" y="646331"/>
                </a:cubicBezTo>
                <a:cubicBezTo>
                  <a:pt x="2553745" y="689102"/>
                  <a:pt x="2380705" y="585341"/>
                  <a:pt x="2140211" y="646331"/>
                </a:cubicBezTo>
                <a:cubicBezTo>
                  <a:pt x="1899717" y="707321"/>
                  <a:pt x="1805749" y="637495"/>
                  <a:pt x="1685416" y="646331"/>
                </a:cubicBezTo>
                <a:cubicBezTo>
                  <a:pt x="1565084" y="655167"/>
                  <a:pt x="1379927" y="601476"/>
                  <a:pt x="1150364" y="646331"/>
                </a:cubicBezTo>
                <a:cubicBezTo>
                  <a:pt x="920801" y="691186"/>
                  <a:pt x="776719" y="633318"/>
                  <a:pt x="615311" y="646331"/>
                </a:cubicBezTo>
                <a:cubicBezTo>
                  <a:pt x="453903" y="659344"/>
                  <a:pt x="298938" y="598727"/>
                  <a:pt x="0" y="646331"/>
                </a:cubicBezTo>
                <a:cubicBezTo>
                  <a:pt x="-33616" y="483157"/>
                  <a:pt x="27355" y="419635"/>
                  <a:pt x="0" y="310239"/>
                </a:cubicBezTo>
                <a:cubicBezTo>
                  <a:pt x="-27355" y="200843"/>
                  <a:pt x="264" y="72993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GB" dirty="0"/>
              <a:t>Multi-dimensional arrays. Output: [2, 6, 7]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F1A1A5-EF80-6900-4224-6B2CCC9F6BD0}"/>
              </a:ext>
            </a:extLst>
          </p:cNvPr>
          <p:cNvCxnSpPr/>
          <p:nvPr/>
        </p:nvCxnSpPr>
        <p:spPr>
          <a:xfrm flipH="1">
            <a:off x="7628965" y="1515035"/>
            <a:ext cx="591670" cy="5558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935B98-4CD1-315F-6D8C-3BA7FB6EA36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7854973" y="6011905"/>
            <a:ext cx="569959" cy="32316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40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194"/>
            <a:ext cx="8229600" cy="437866"/>
          </a:xfrm>
        </p:spPr>
        <p:txBody>
          <a:bodyPr>
            <a:noAutofit/>
          </a:bodyPr>
          <a:lstStyle/>
          <a:p>
            <a:r>
              <a:rPr lang="en-US" sz="3200" dirty="0"/>
              <a:t>Fancy Indexing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C3CA09-2582-260C-D623-351979928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6" y="723340"/>
            <a:ext cx="8740589" cy="522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2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46B9-72DC-F37B-9E75-C4013DB98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60048"/>
            <a:ext cx="8471647" cy="370821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Practical Uses of Fancy Indexing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69D6A-3A7A-AA16-D897-DCAE4AC5D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8872"/>
            <a:ext cx="4329953" cy="5077292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Selecting elements based on certain conditions.</a:t>
            </a:r>
          </a:p>
          <a:p>
            <a:endParaRPr lang="en-US" dirty="0"/>
          </a:p>
          <a:p>
            <a:r>
              <a:rPr lang="en-US" dirty="0"/>
              <a:t>Reordering or reshaping data.</a:t>
            </a:r>
          </a:p>
          <a:p>
            <a:endParaRPr lang="en-US" dirty="0"/>
          </a:p>
          <a:p>
            <a:r>
              <a:rPr lang="en-US" dirty="0"/>
              <a:t>Creating </a:t>
            </a:r>
            <a:r>
              <a:rPr lang="en-US" b="1" dirty="0"/>
              <a:t>masks</a:t>
            </a:r>
            <a:r>
              <a:rPr lang="en-US" dirty="0"/>
              <a:t> or filters to process specific parts of an array.</a:t>
            </a:r>
          </a:p>
          <a:p>
            <a:endParaRPr lang="en-US" dirty="0"/>
          </a:p>
          <a:p>
            <a:r>
              <a:rPr lang="en-US" dirty="0"/>
              <a:t>Fancy indexing is often used in conjunction with </a:t>
            </a:r>
            <a:r>
              <a:rPr lang="en-US" dirty="0" err="1"/>
              <a:t>boolean</a:t>
            </a:r>
            <a:r>
              <a:rPr lang="en-US" dirty="0"/>
              <a:t> arrays (</a:t>
            </a:r>
            <a:r>
              <a:rPr lang="en-US" b="1" dirty="0"/>
              <a:t>masks</a:t>
            </a:r>
            <a:r>
              <a:rPr lang="en-US" dirty="0"/>
              <a:t>) to select elements that meet specific conditions.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6353C-3872-B582-9287-4471F1BDA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848" y="1657571"/>
            <a:ext cx="3580952" cy="1771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0B8992-B6F7-3A3E-F947-E2D6A6B05FF7}"/>
              </a:ext>
            </a:extLst>
          </p:cNvPr>
          <p:cNvSpPr txBox="1"/>
          <p:nvPr/>
        </p:nvSpPr>
        <p:spPr>
          <a:xfrm>
            <a:off x="5710518" y="4025153"/>
            <a:ext cx="2617694" cy="2031325"/>
          </a:xfrm>
          <a:custGeom>
            <a:avLst/>
            <a:gdLst>
              <a:gd name="csX0" fmla="*/ 0 w 2617694"/>
              <a:gd name="csY0" fmla="*/ 0 h 2031325"/>
              <a:gd name="csX1" fmla="*/ 497362 w 2617694"/>
              <a:gd name="csY1" fmla="*/ 0 h 2031325"/>
              <a:gd name="csX2" fmla="*/ 942370 w 2617694"/>
              <a:gd name="csY2" fmla="*/ 0 h 2031325"/>
              <a:gd name="csX3" fmla="*/ 1518263 w 2617694"/>
              <a:gd name="csY3" fmla="*/ 0 h 2031325"/>
              <a:gd name="csX4" fmla="*/ 2015624 w 2617694"/>
              <a:gd name="csY4" fmla="*/ 0 h 2031325"/>
              <a:gd name="csX5" fmla="*/ 2617694 w 2617694"/>
              <a:gd name="csY5" fmla="*/ 0 h 2031325"/>
              <a:gd name="csX6" fmla="*/ 2617694 w 2617694"/>
              <a:gd name="csY6" fmla="*/ 548458 h 2031325"/>
              <a:gd name="csX7" fmla="*/ 2617694 w 2617694"/>
              <a:gd name="csY7" fmla="*/ 1056289 h 2031325"/>
              <a:gd name="csX8" fmla="*/ 2617694 w 2617694"/>
              <a:gd name="csY8" fmla="*/ 1564120 h 2031325"/>
              <a:gd name="csX9" fmla="*/ 2617694 w 2617694"/>
              <a:gd name="csY9" fmla="*/ 2031325 h 2031325"/>
              <a:gd name="csX10" fmla="*/ 2146509 w 2617694"/>
              <a:gd name="csY10" fmla="*/ 2031325 h 2031325"/>
              <a:gd name="csX11" fmla="*/ 1622970 w 2617694"/>
              <a:gd name="csY11" fmla="*/ 2031325 h 2031325"/>
              <a:gd name="csX12" fmla="*/ 1125608 w 2617694"/>
              <a:gd name="csY12" fmla="*/ 2031325 h 2031325"/>
              <a:gd name="csX13" fmla="*/ 549716 w 2617694"/>
              <a:gd name="csY13" fmla="*/ 2031325 h 2031325"/>
              <a:gd name="csX14" fmla="*/ 0 w 2617694"/>
              <a:gd name="csY14" fmla="*/ 2031325 h 2031325"/>
              <a:gd name="csX15" fmla="*/ 0 w 2617694"/>
              <a:gd name="csY15" fmla="*/ 1564120 h 2031325"/>
              <a:gd name="csX16" fmla="*/ 0 w 2617694"/>
              <a:gd name="csY16" fmla="*/ 1056289 h 2031325"/>
              <a:gd name="csX17" fmla="*/ 0 w 2617694"/>
              <a:gd name="csY17" fmla="*/ 568771 h 2031325"/>
              <a:gd name="csX18" fmla="*/ 0 w 2617694"/>
              <a:gd name="csY18" fmla="*/ 0 h 203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617694" h="2031325" extrusionOk="0">
                <a:moveTo>
                  <a:pt x="0" y="0"/>
                </a:moveTo>
                <a:cubicBezTo>
                  <a:pt x="157442" y="-26773"/>
                  <a:pt x="267371" y="38357"/>
                  <a:pt x="497362" y="0"/>
                </a:cubicBezTo>
                <a:cubicBezTo>
                  <a:pt x="727353" y="-38357"/>
                  <a:pt x="839394" y="38207"/>
                  <a:pt x="942370" y="0"/>
                </a:cubicBezTo>
                <a:cubicBezTo>
                  <a:pt x="1045346" y="-38207"/>
                  <a:pt x="1386031" y="2079"/>
                  <a:pt x="1518263" y="0"/>
                </a:cubicBezTo>
                <a:cubicBezTo>
                  <a:pt x="1650495" y="-2079"/>
                  <a:pt x="1907269" y="6499"/>
                  <a:pt x="2015624" y="0"/>
                </a:cubicBezTo>
                <a:cubicBezTo>
                  <a:pt x="2123979" y="-6499"/>
                  <a:pt x="2457391" y="1184"/>
                  <a:pt x="2617694" y="0"/>
                </a:cubicBezTo>
                <a:cubicBezTo>
                  <a:pt x="2643554" y="272633"/>
                  <a:pt x="2609172" y="319518"/>
                  <a:pt x="2617694" y="548458"/>
                </a:cubicBezTo>
                <a:cubicBezTo>
                  <a:pt x="2626216" y="777398"/>
                  <a:pt x="2609442" y="857436"/>
                  <a:pt x="2617694" y="1056289"/>
                </a:cubicBezTo>
                <a:cubicBezTo>
                  <a:pt x="2625946" y="1255142"/>
                  <a:pt x="2577885" y="1440408"/>
                  <a:pt x="2617694" y="1564120"/>
                </a:cubicBezTo>
                <a:cubicBezTo>
                  <a:pt x="2657503" y="1687832"/>
                  <a:pt x="2597660" y="1890942"/>
                  <a:pt x="2617694" y="2031325"/>
                </a:cubicBezTo>
                <a:cubicBezTo>
                  <a:pt x="2478643" y="2036415"/>
                  <a:pt x="2276322" y="1992982"/>
                  <a:pt x="2146509" y="2031325"/>
                </a:cubicBezTo>
                <a:cubicBezTo>
                  <a:pt x="2016696" y="2069668"/>
                  <a:pt x="1744753" y="2015902"/>
                  <a:pt x="1622970" y="2031325"/>
                </a:cubicBezTo>
                <a:cubicBezTo>
                  <a:pt x="1501187" y="2046748"/>
                  <a:pt x="1373223" y="1977414"/>
                  <a:pt x="1125608" y="2031325"/>
                </a:cubicBezTo>
                <a:cubicBezTo>
                  <a:pt x="877993" y="2085236"/>
                  <a:pt x="684466" y="2009783"/>
                  <a:pt x="549716" y="2031325"/>
                </a:cubicBezTo>
                <a:cubicBezTo>
                  <a:pt x="414966" y="2052867"/>
                  <a:pt x="187977" y="2021675"/>
                  <a:pt x="0" y="2031325"/>
                </a:cubicBezTo>
                <a:cubicBezTo>
                  <a:pt x="-29156" y="1821537"/>
                  <a:pt x="27134" y="1659726"/>
                  <a:pt x="0" y="1564120"/>
                </a:cubicBezTo>
                <a:cubicBezTo>
                  <a:pt x="-27134" y="1468514"/>
                  <a:pt x="45951" y="1159593"/>
                  <a:pt x="0" y="1056289"/>
                </a:cubicBezTo>
                <a:cubicBezTo>
                  <a:pt x="-45951" y="952985"/>
                  <a:pt x="39534" y="749356"/>
                  <a:pt x="0" y="568771"/>
                </a:cubicBezTo>
                <a:cubicBezTo>
                  <a:pt x="-39534" y="388186"/>
                  <a:pt x="17956" y="137037"/>
                  <a:pt x="0" y="0"/>
                </a:cubicBezTo>
                <a:close/>
              </a:path>
            </a:pathLst>
          </a:custGeom>
          <a:noFill/>
          <a:ln w="317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example, mask is a </a:t>
            </a:r>
            <a:r>
              <a:rPr lang="en-US" dirty="0" err="1"/>
              <a:t>boolean</a:t>
            </a:r>
            <a:r>
              <a:rPr lang="en-US" dirty="0"/>
              <a:t> array that is used to filter the elements of array that are greater than 20. </a:t>
            </a:r>
          </a:p>
          <a:p>
            <a:endParaRPr lang="en-US" dirty="0"/>
          </a:p>
          <a:p>
            <a:r>
              <a:rPr lang="en-US" dirty="0"/>
              <a:t>Output = [25, 30]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442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DF7D-CB13-CDFA-8D35-73E78C41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3927"/>
          </a:xfrm>
        </p:spPr>
        <p:txBody>
          <a:bodyPr>
            <a:normAutofit fontScale="90000"/>
          </a:bodyPr>
          <a:lstStyle/>
          <a:p>
            <a:r>
              <a:rPr lang="en-GB" dirty="0"/>
              <a:t>Masking in </a:t>
            </a:r>
            <a:r>
              <a:rPr lang="en-GB" dirty="0" err="1"/>
              <a:t>numpy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00A1E-6B1C-E475-1045-4C86A520C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83" y="830449"/>
            <a:ext cx="8229600" cy="543588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practice of using </a:t>
            </a:r>
            <a:r>
              <a:rPr lang="en-US" dirty="0" err="1"/>
              <a:t>boolean</a:t>
            </a:r>
            <a:r>
              <a:rPr lang="en-US" dirty="0"/>
              <a:t> arrays to select elements of another array.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It is a </a:t>
            </a:r>
            <a:r>
              <a:rPr lang="en-US" dirty="0" err="1"/>
              <a:t>boolean</a:t>
            </a:r>
            <a:r>
              <a:rPr lang="en-US" dirty="0"/>
              <a:t> array that is the same shape as the original array, where each element is either </a:t>
            </a:r>
            <a:r>
              <a:rPr lang="en-US" b="1" dirty="0">
                <a:solidFill>
                  <a:srgbClr val="FF0000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When you apply this mask to the original array, you retrieve elements that correspond to </a:t>
            </a:r>
            <a:r>
              <a:rPr lang="en-US" b="1" dirty="0">
                <a:solidFill>
                  <a:srgbClr val="FF0000"/>
                </a:solidFill>
              </a:rPr>
              <a:t>True </a:t>
            </a:r>
            <a:r>
              <a:rPr lang="en-US" dirty="0"/>
              <a:t>values in the mask.</a:t>
            </a:r>
          </a:p>
          <a:p>
            <a:r>
              <a:rPr lang="en-US" dirty="0"/>
              <a:t>In brief, it allows to:</a:t>
            </a:r>
          </a:p>
          <a:p>
            <a:pPr lvl="1"/>
            <a:r>
              <a:rPr lang="en-US" dirty="0"/>
              <a:t>Select elements of an array based on conditions. </a:t>
            </a:r>
          </a:p>
          <a:p>
            <a:pPr lvl="1"/>
            <a:r>
              <a:rPr lang="en-US" dirty="0"/>
              <a:t>Modify elements that meet certain criteria.</a:t>
            </a:r>
          </a:p>
          <a:p>
            <a:pPr lvl="1"/>
            <a:r>
              <a:rPr lang="en-US" dirty="0"/>
              <a:t>Combine multiple conditions to create complex masks.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Masking is commonly used in data analysis for: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Filtering data based on conditions.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Cleaning or modifying specific parts of a dataset.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Performing computations on subsets of data.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Visualizing specific data points in plots.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427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DF7D-CB13-CDFA-8D35-73E78C41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203"/>
            <a:ext cx="8229600" cy="418082"/>
          </a:xfrm>
        </p:spPr>
        <p:txBody>
          <a:bodyPr>
            <a:normAutofit fontScale="90000"/>
          </a:bodyPr>
          <a:lstStyle/>
          <a:p>
            <a:r>
              <a:rPr lang="en-GB" dirty="0"/>
              <a:t>Masking in </a:t>
            </a:r>
            <a:r>
              <a:rPr lang="en-GB" dirty="0" err="1"/>
              <a:t>numpy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A502D-6483-C014-E26E-2FA89E500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84" y="796499"/>
            <a:ext cx="3619048" cy="2142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138E8-F993-1C07-BBBE-F12521DDA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786" y="800708"/>
            <a:ext cx="3891357" cy="711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5B05CD-667D-6611-C193-D04DA58E8047}"/>
              </a:ext>
            </a:extLst>
          </p:cNvPr>
          <p:cNvSpPr txBox="1"/>
          <p:nvPr/>
        </p:nvSpPr>
        <p:spPr>
          <a:xfrm>
            <a:off x="4245398" y="1633323"/>
            <a:ext cx="4500283" cy="1200329"/>
          </a:xfrm>
          <a:custGeom>
            <a:avLst/>
            <a:gdLst>
              <a:gd name="csX0" fmla="*/ 0 w 4500283"/>
              <a:gd name="csY0" fmla="*/ 0 h 1200329"/>
              <a:gd name="csX1" fmla="*/ 517533 w 4500283"/>
              <a:gd name="csY1" fmla="*/ 0 h 1200329"/>
              <a:gd name="csX2" fmla="*/ 945059 w 4500283"/>
              <a:gd name="csY2" fmla="*/ 0 h 1200329"/>
              <a:gd name="csX3" fmla="*/ 1597600 w 4500283"/>
              <a:gd name="csY3" fmla="*/ 0 h 1200329"/>
              <a:gd name="csX4" fmla="*/ 2115133 w 4500283"/>
              <a:gd name="csY4" fmla="*/ 0 h 1200329"/>
              <a:gd name="csX5" fmla="*/ 2632666 w 4500283"/>
              <a:gd name="csY5" fmla="*/ 0 h 1200329"/>
              <a:gd name="csX6" fmla="*/ 3285207 w 4500283"/>
              <a:gd name="csY6" fmla="*/ 0 h 1200329"/>
              <a:gd name="csX7" fmla="*/ 3757736 w 4500283"/>
              <a:gd name="csY7" fmla="*/ 0 h 1200329"/>
              <a:gd name="csX8" fmla="*/ 4500283 w 4500283"/>
              <a:gd name="csY8" fmla="*/ 0 h 1200329"/>
              <a:gd name="csX9" fmla="*/ 4500283 w 4500283"/>
              <a:gd name="csY9" fmla="*/ 424116 h 1200329"/>
              <a:gd name="csX10" fmla="*/ 4500283 w 4500283"/>
              <a:gd name="csY10" fmla="*/ 800219 h 1200329"/>
              <a:gd name="csX11" fmla="*/ 4500283 w 4500283"/>
              <a:gd name="csY11" fmla="*/ 1200329 h 1200329"/>
              <a:gd name="csX12" fmla="*/ 3892745 w 4500283"/>
              <a:gd name="csY12" fmla="*/ 1200329 h 1200329"/>
              <a:gd name="csX13" fmla="*/ 3240204 w 4500283"/>
              <a:gd name="csY13" fmla="*/ 1200329 h 1200329"/>
              <a:gd name="csX14" fmla="*/ 2587663 w 4500283"/>
              <a:gd name="csY14" fmla="*/ 1200329 h 1200329"/>
              <a:gd name="csX15" fmla="*/ 2115133 w 4500283"/>
              <a:gd name="csY15" fmla="*/ 1200329 h 1200329"/>
              <a:gd name="csX16" fmla="*/ 1552598 w 4500283"/>
              <a:gd name="csY16" fmla="*/ 1200329 h 1200329"/>
              <a:gd name="csX17" fmla="*/ 900057 w 4500283"/>
              <a:gd name="csY17" fmla="*/ 1200329 h 1200329"/>
              <a:gd name="csX18" fmla="*/ 0 w 4500283"/>
              <a:gd name="csY18" fmla="*/ 1200329 h 1200329"/>
              <a:gd name="csX19" fmla="*/ 0 w 4500283"/>
              <a:gd name="csY19" fmla="*/ 836229 h 1200329"/>
              <a:gd name="csX20" fmla="*/ 0 w 4500283"/>
              <a:gd name="csY20" fmla="*/ 460126 h 1200329"/>
              <a:gd name="csX21" fmla="*/ 0 w 4500283"/>
              <a:gd name="csY21" fmla="*/ 0 h 1200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500283" h="1200329" extrusionOk="0">
                <a:moveTo>
                  <a:pt x="0" y="0"/>
                </a:moveTo>
                <a:cubicBezTo>
                  <a:pt x="175559" y="-12412"/>
                  <a:pt x="320418" y="5257"/>
                  <a:pt x="517533" y="0"/>
                </a:cubicBezTo>
                <a:cubicBezTo>
                  <a:pt x="714648" y="-5257"/>
                  <a:pt x="768226" y="51120"/>
                  <a:pt x="945059" y="0"/>
                </a:cubicBezTo>
                <a:cubicBezTo>
                  <a:pt x="1121892" y="-51120"/>
                  <a:pt x="1313487" y="50614"/>
                  <a:pt x="1597600" y="0"/>
                </a:cubicBezTo>
                <a:cubicBezTo>
                  <a:pt x="1881713" y="-50614"/>
                  <a:pt x="1997086" y="7932"/>
                  <a:pt x="2115133" y="0"/>
                </a:cubicBezTo>
                <a:cubicBezTo>
                  <a:pt x="2233180" y="-7932"/>
                  <a:pt x="2445219" y="54708"/>
                  <a:pt x="2632666" y="0"/>
                </a:cubicBezTo>
                <a:cubicBezTo>
                  <a:pt x="2820113" y="-54708"/>
                  <a:pt x="3050095" y="47452"/>
                  <a:pt x="3285207" y="0"/>
                </a:cubicBezTo>
                <a:cubicBezTo>
                  <a:pt x="3520319" y="-47452"/>
                  <a:pt x="3637595" y="53927"/>
                  <a:pt x="3757736" y="0"/>
                </a:cubicBezTo>
                <a:cubicBezTo>
                  <a:pt x="3877877" y="-53927"/>
                  <a:pt x="4264211" y="32073"/>
                  <a:pt x="4500283" y="0"/>
                </a:cubicBezTo>
                <a:cubicBezTo>
                  <a:pt x="4543908" y="139432"/>
                  <a:pt x="4459331" y="324368"/>
                  <a:pt x="4500283" y="424116"/>
                </a:cubicBezTo>
                <a:cubicBezTo>
                  <a:pt x="4541235" y="523864"/>
                  <a:pt x="4479691" y="627513"/>
                  <a:pt x="4500283" y="800219"/>
                </a:cubicBezTo>
                <a:cubicBezTo>
                  <a:pt x="4520875" y="972925"/>
                  <a:pt x="4458578" y="1039944"/>
                  <a:pt x="4500283" y="1200329"/>
                </a:cubicBezTo>
                <a:cubicBezTo>
                  <a:pt x="4275679" y="1207519"/>
                  <a:pt x="4046610" y="1185091"/>
                  <a:pt x="3892745" y="1200329"/>
                </a:cubicBezTo>
                <a:cubicBezTo>
                  <a:pt x="3738880" y="1215567"/>
                  <a:pt x="3473638" y="1177120"/>
                  <a:pt x="3240204" y="1200329"/>
                </a:cubicBezTo>
                <a:cubicBezTo>
                  <a:pt x="3006770" y="1223538"/>
                  <a:pt x="2766487" y="1185836"/>
                  <a:pt x="2587663" y="1200329"/>
                </a:cubicBezTo>
                <a:cubicBezTo>
                  <a:pt x="2408839" y="1214822"/>
                  <a:pt x="2327193" y="1193842"/>
                  <a:pt x="2115133" y="1200329"/>
                </a:cubicBezTo>
                <a:cubicBezTo>
                  <a:pt x="1903073" y="1206816"/>
                  <a:pt x="1823677" y="1137866"/>
                  <a:pt x="1552598" y="1200329"/>
                </a:cubicBezTo>
                <a:cubicBezTo>
                  <a:pt x="1281520" y="1262792"/>
                  <a:pt x="1171360" y="1149201"/>
                  <a:pt x="900057" y="1200329"/>
                </a:cubicBezTo>
                <a:cubicBezTo>
                  <a:pt x="628754" y="1251457"/>
                  <a:pt x="278253" y="1109891"/>
                  <a:pt x="0" y="1200329"/>
                </a:cubicBezTo>
                <a:cubicBezTo>
                  <a:pt x="-24197" y="1036806"/>
                  <a:pt x="30541" y="985070"/>
                  <a:pt x="0" y="836229"/>
                </a:cubicBezTo>
                <a:cubicBezTo>
                  <a:pt x="-30541" y="687388"/>
                  <a:pt x="27653" y="622722"/>
                  <a:pt x="0" y="460126"/>
                </a:cubicBezTo>
                <a:cubicBezTo>
                  <a:pt x="-27653" y="297530"/>
                  <a:pt x="31170" y="12896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accent1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array &gt; 20 </a:t>
            </a:r>
            <a:r>
              <a:rPr lang="en-US" dirty="0"/>
              <a:t>creates a </a:t>
            </a:r>
            <a:r>
              <a:rPr lang="en-US" dirty="0" err="1"/>
              <a:t>boolean</a:t>
            </a:r>
            <a:r>
              <a:rPr lang="en-US" dirty="0"/>
              <a:t> mask where elements greater than 20 are marked as True.</a:t>
            </a:r>
          </a:p>
          <a:p>
            <a:r>
              <a:rPr lang="en-US" dirty="0"/>
              <a:t>Applying the mask </a:t>
            </a:r>
            <a:r>
              <a:rPr lang="en-US" b="1" dirty="0">
                <a:solidFill>
                  <a:srgbClr val="FF0000"/>
                </a:solidFill>
              </a:rPr>
              <a:t>array[mask] </a:t>
            </a:r>
            <a:r>
              <a:rPr lang="en-US" dirty="0"/>
              <a:t>returns only the elements of </a:t>
            </a:r>
            <a:r>
              <a:rPr lang="en-US" b="1" dirty="0">
                <a:solidFill>
                  <a:srgbClr val="FF0000"/>
                </a:solidFill>
              </a:rPr>
              <a:t>array</a:t>
            </a:r>
            <a:r>
              <a:rPr lang="en-US" dirty="0"/>
              <a:t> where the mask is </a:t>
            </a:r>
            <a:r>
              <a:rPr lang="en-US" b="1" dirty="0">
                <a:solidFill>
                  <a:srgbClr val="FF0000"/>
                </a:solidFill>
              </a:rPr>
              <a:t>True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AF6FD1-9EEC-49D1-6880-C0D20AADF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18645"/>
            <a:ext cx="3685714" cy="23047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116F8B-5D01-5AB3-6E4A-DCC6C1A74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732" y="3985312"/>
            <a:ext cx="2609524" cy="22380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253993-6EB4-8986-2829-811D627156B2}"/>
              </a:ext>
            </a:extLst>
          </p:cNvPr>
          <p:cNvSpPr txBox="1"/>
          <p:nvPr/>
        </p:nvSpPr>
        <p:spPr>
          <a:xfrm>
            <a:off x="6905468" y="3086083"/>
            <a:ext cx="1876031" cy="3416320"/>
          </a:xfrm>
          <a:custGeom>
            <a:avLst/>
            <a:gdLst>
              <a:gd name="csX0" fmla="*/ 0 w 1876031"/>
              <a:gd name="csY0" fmla="*/ 0 h 3416320"/>
              <a:gd name="csX1" fmla="*/ 450247 w 1876031"/>
              <a:gd name="csY1" fmla="*/ 0 h 3416320"/>
              <a:gd name="csX2" fmla="*/ 862974 w 1876031"/>
              <a:gd name="csY2" fmla="*/ 0 h 3416320"/>
              <a:gd name="csX3" fmla="*/ 1369503 w 1876031"/>
              <a:gd name="csY3" fmla="*/ 0 h 3416320"/>
              <a:gd name="csX4" fmla="*/ 1876031 w 1876031"/>
              <a:gd name="csY4" fmla="*/ 0 h 3416320"/>
              <a:gd name="csX5" fmla="*/ 1876031 w 1876031"/>
              <a:gd name="csY5" fmla="*/ 535223 h 3416320"/>
              <a:gd name="csX6" fmla="*/ 1876031 w 1876031"/>
              <a:gd name="csY6" fmla="*/ 1036284 h 3416320"/>
              <a:gd name="csX7" fmla="*/ 1876031 w 1876031"/>
              <a:gd name="csY7" fmla="*/ 1605670 h 3416320"/>
              <a:gd name="csX8" fmla="*/ 1876031 w 1876031"/>
              <a:gd name="csY8" fmla="*/ 2175057 h 3416320"/>
              <a:gd name="csX9" fmla="*/ 1876031 w 1876031"/>
              <a:gd name="csY9" fmla="*/ 2676117 h 3416320"/>
              <a:gd name="csX10" fmla="*/ 1876031 w 1876031"/>
              <a:gd name="csY10" fmla="*/ 3416320 h 3416320"/>
              <a:gd name="csX11" fmla="*/ 1407023 w 1876031"/>
              <a:gd name="csY11" fmla="*/ 3416320 h 3416320"/>
              <a:gd name="csX12" fmla="*/ 956776 w 1876031"/>
              <a:gd name="csY12" fmla="*/ 3416320 h 3416320"/>
              <a:gd name="csX13" fmla="*/ 450247 w 1876031"/>
              <a:gd name="csY13" fmla="*/ 3416320 h 3416320"/>
              <a:gd name="csX14" fmla="*/ 0 w 1876031"/>
              <a:gd name="csY14" fmla="*/ 3416320 h 3416320"/>
              <a:gd name="csX15" fmla="*/ 0 w 1876031"/>
              <a:gd name="csY15" fmla="*/ 2915260 h 3416320"/>
              <a:gd name="csX16" fmla="*/ 0 w 1876031"/>
              <a:gd name="csY16" fmla="*/ 2345873 h 3416320"/>
              <a:gd name="csX17" fmla="*/ 0 w 1876031"/>
              <a:gd name="csY17" fmla="*/ 1810650 h 3416320"/>
              <a:gd name="csX18" fmla="*/ 0 w 1876031"/>
              <a:gd name="csY18" fmla="*/ 1343753 h 3416320"/>
              <a:gd name="csX19" fmla="*/ 0 w 1876031"/>
              <a:gd name="csY19" fmla="*/ 842692 h 3416320"/>
              <a:gd name="csX20" fmla="*/ 0 w 1876031"/>
              <a:gd name="csY20" fmla="*/ 0 h 3416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876031" h="3416320" extrusionOk="0">
                <a:moveTo>
                  <a:pt x="0" y="0"/>
                </a:moveTo>
                <a:cubicBezTo>
                  <a:pt x="149996" y="-30119"/>
                  <a:pt x="236362" y="24506"/>
                  <a:pt x="450247" y="0"/>
                </a:cubicBezTo>
                <a:cubicBezTo>
                  <a:pt x="664132" y="-24506"/>
                  <a:pt x="672599" y="4715"/>
                  <a:pt x="862974" y="0"/>
                </a:cubicBezTo>
                <a:cubicBezTo>
                  <a:pt x="1053349" y="-4715"/>
                  <a:pt x="1141580" y="20713"/>
                  <a:pt x="1369503" y="0"/>
                </a:cubicBezTo>
                <a:cubicBezTo>
                  <a:pt x="1597426" y="-20713"/>
                  <a:pt x="1745316" y="52725"/>
                  <a:pt x="1876031" y="0"/>
                </a:cubicBezTo>
                <a:cubicBezTo>
                  <a:pt x="1912063" y="112153"/>
                  <a:pt x="1861194" y="369889"/>
                  <a:pt x="1876031" y="535223"/>
                </a:cubicBezTo>
                <a:cubicBezTo>
                  <a:pt x="1890868" y="700557"/>
                  <a:pt x="1858865" y="883296"/>
                  <a:pt x="1876031" y="1036284"/>
                </a:cubicBezTo>
                <a:cubicBezTo>
                  <a:pt x="1893197" y="1189272"/>
                  <a:pt x="1812868" y="1379550"/>
                  <a:pt x="1876031" y="1605670"/>
                </a:cubicBezTo>
                <a:cubicBezTo>
                  <a:pt x="1939194" y="1831790"/>
                  <a:pt x="1819435" y="1913809"/>
                  <a:pt x="1876031" y="2175057"/>
                </a:cubicBezTo>
                <a:cubicBezTo>
                  <a:pt x="1932627" y="2436305"/>
                  <a:pt x="1850572" y="2504090"/>
                  <a:pt x="1876031" y="2676117"/>
                </a:cubicBezTo>
                <a:cubicBezTo>
                  <a:pt x="1901490" y="2848144"/>
                  <a:pt x="1864597" y="3076266"/>
                  <a:pt x="1876031" y="3416320"/>
                </a:cubicBezTo>
                <a:cubicBezTo>
                  <a:pt x="1656893" y="3442551"/>
                  <a:pt x="1618393" y="3375195"/>
                  <a:pt x="1407023" y="3416320"/>
                </a:cubicBezTo>
                <a:cubicBezTo>
                  <a:pt x="1195653" y="3457445"/>
                  <a:pt x="1118048" y="3387411"/>
                  <a:pt x="956776" y="3416320"/>
                </a:cubicBezTo>
                <a:cubicBezTo>
                  <a:pt x="795504" y="3445229"/>
                  <a:pt x="687453" y="3373413"/>
                  <a:pt x="450247" y="3416320"/>
                </a:cubicBezTo>
                <a:cubicBezTo>
                  <a:pt x="213041" y="3459227"/>
                  <a:pt x="149516" y="3370236"/>
                  <a:pt x="0" y="3416320"/>
                </a:cubicBezTo>
                <a:cubicBezTo>
                  <a:pt x="-22309" y="3239923"/>
                  <a:pt x="22223" y="3042340"/>
                  <a:pt x="0" y="2915260"/>
                </a:cubicBezTo>
                <a:cubicBezTo>
                  <a:pt x="-22223" y="2788180"/>
                  <a:pt x="24134" y="2572657"/>
                  <a:pt x="0" y="2345873"/>
                </a:cubicBezTo>
                <a:cubicBezTo>
                  <a:pt x="-24134" y="2119089"/>
                  <a:pt x="51793" y="2014408"/>
                  <a:pt x="0" y="1810650"/>
                </a:cubicBezTo>
                <a:cubicBezTo>
                  <a:pt x="-51793" y="1606892"/>
                  <a:pt x="10800" y="1469458"/>
                  <a:pt x="0" y="1343753"/>
                </a:cubicBezTo>
                <a:cubicBezTo>
                  <a:pt x="-10800" y="1218048"/>
                  <a:pt x="8782" y="1036278"/>
                  <a:pt x="0" y="842692"/>
                </a:cubicBezTo>
                <a:cubicBezTo>
                  <a:pt x="-8782" y="649106"/>
                  <a:pt x="92519" y="182618"/>
                  <a:pt x="0" y="0"/>
                </a:cubicBezTo>
                <a:close/>
              </a:path>
            </a:pathLst>
          </a:custGeom>
          <a:noFill/>
          <a:ln w="25400">
            <a:solidFill>
              <a:srgbClr val="00B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array_2d &gt; 4 </a:t>
            </a:r>
            <a:r>
              <a:rPr lang="en-US" dirty="0"/>
              <a:t>creates a </a:t>
            </a:r>
            <a:r>
              <a:rPr lang="en-US" dirty="0" err="1"/>
              <a:t>boolean</a:t>
            </a:r>
            <a:r>
              <a:rPr lang="en-US" dirty="0"/>
              <a:t> mask for the 2D array.</a:t>
            </a:r>
          </a:p>
          <a:p>
            <a:r>
              <a:rPr lang="en-US" dirty="0"/>
              <a:t>Applying the mask </a:t>
            </a:r>
            <a:r>
              <a:rPr lang="en-US" b="1" dirty="0">
                <a:solidFill>
                  <a:srgbClr val="FF0000"/>
                </a:solidFill>
              </a:rPr>
              <a:t>array_2d[mask_2d] </a:t>
            </a:r>
            <a:r>
              <a:rPr lang="en-US" dirty="0"/>
              <a:t>returns a 1D array containing elements of </a:t>
            </a:r>
            <a:r>
              <a:rPr lang="en-US" b="1" dirty="0">
                <a:solidFill>
                  <a:srgbClr val="FF0000"/>
                </a:solidFill>
              </a:rPr>
              <a:t>array_2d </a:t>
            </a:r>
            <a:r>
              <a:rPr lang="en-US" dirty="0"/>
              <a:t>where the mask is </a:t>
            </a:r>
            <a:r>
              <a:rPr lang="en-US" b="1" dirty="0">
                <a:solidFill>
                  <a:srgbClr val="FF0000"/>
                </a:solidFill>
              </a:rPr>
              <a:t>True</a:t>
            </a:r>
            <a:r>
              <a:rPr lang="en-US" dirty="0"/>
              <a:t>.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010D86-4D4D-D723-1324-EBB182702541}"/>
              </a:ext>
            </a:extLst>
          </p:cNvPr>
          <p:cNvCxnSpPr/>
          <p:nvPr/>
        </p:nvCxnSpPr>
        <p:spPr>
          <a:xfrm flipH="1">
            <a:off x="3648635" y="3281082"/>
            <a:ext cx="3256833" cy="48409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16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DF7D-CB13-CDFA-8D35-73E78C41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1480"/>
          </a:xfrm>
        </p:spPr>
        <p:txBody>
          <a:bodyPr>
            <a:normAutofit fontScale="90000"/>
          </a:bodyPr>
          <a:lstStyle/>
          <a:p>
            <a:r>
              <a:rPr lang="en-GB" dirty="0"/>
              <a:t>Modifying Arrays Using Masks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36436-1667-39FC-45AF-0968D81A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95" y="1245796"/>
            <a:ext cx="4590476" cy="21159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1F3B7C-277E-5D76-3326-3673425AE937}"/>
              </a:ext>
            </a:extLst>
          </p:cNvPr>
          <p:cNvSpPr txBox="1"/>
          <p:nvPr/>
        </p:nvSpPr>
        <p:spPr>
          <a:xfrm>
            <a:off x="770965" y="1426998"/>
            <a:ext cx="3021106" cy="1477328"/>
          </a:xfrm>
          <a:custGeom>
            <a:avLst/>
            <a:gdLst>
              <a:gd name="csX0" fmla="*/ 0 w 3021106"/>
              <a:gd name="csY0" fmla="*/ 0 h 1477328"/>
              <a:gd name="csX1" fmla="*/ 473307 w 3021106"/>
              <a:gd name="csY1" fmla="*/ 0 h 1477328"/>
              <a:gd name="csX2" fmla="*/ 886191 w 3021106"/>
              <a:gd name="csY2" fmla="*/ 0 h 1477328"/>
              <a:gd name="csX3" fmla="*/ 1450131 w 3021106"/>
              <a:gd name="csY3" fmla="*/ 0 h 1477328"/>
              <a:gd name="csX4" fmla="*/ 1923437 w 3021106"/>
              <a:gd name="csY4" fmla="*/ 0 h 1477328"/>
              <a:gd name="csX5" fmla="*/ 2396744 w 3021106"/>
              <a:gd name="csY5" fmla="*/ 0 h 1477328"/>
              <a:gd name="csX6" fmla="*/ 3021106 w 3021106"/>
              <a:gd name="csY6" fmla="*/ 0 h 1477328"/>
              <a:gd name="csX7" fmla="*/ 3021106 w 3021106"/>
              <a:gd name="csY7" fmla="*/ 462896 h 1477328"/>
              <a:gd name="csX8" fmla="*/ 3021106 w 3021106"/>
              <a:gd name="csY8" fmla="*/ 955339 h 1477328"/>
              <a:gd name="csX9" fmla="*/ 3021106 w 3021106"/>
              <a:gd name="csY9" fmla="*/ 1477328 h 1477328"/>
              <a:gd name="csX10" fmla="*/ 2578010 w 3021106"/>
              <a:gd name="csY10" fmla="*/ 1477328 h 1477328"/>
              <a:gd name="csX11" fmla="*/ 2074493 w 3021106"/>
              <a:gd name="csY11" fmla="*/ 1477328 h 1477328"/>
              <a:gd name="csX12" fmla="*/ 1601186 w 3021106"/>
              <a:gd name="csY12" fmla="*/ 1477328 h 1477328"/>
              <a:gd name="csX13" fmla="*/ 1037246 w 3021106"/>
              <a:gd name="csY13" fmla="*/ 1477328 h 1477328"/>
              <a:gd name="csX14" fmla="*/ 473307 w 3021106"/>
              <a:gd name="csY14" fmla="*/ 1477328 h 1477328"/>
              <a:gd name="csX15" fmla="*/ 0 w 3021106"/>
              <a:gd name="csY15" fmla="*/ 1477328 h 1477328"/>
              <a:gd name="csX16" fmla="*/ 0 w 3021106"/>
              <a:gd name="csY16" fmla="*/ 984885 h 1477328"/>
              <a:gd name="csX17" fmla="*/ 0 w 3021106"/>
              <a:gd name="csY17" fmla="*/ 507216 h 1477328"/>
              <a:gd name="csX18" fmla="*/ 0 w 3021106"/>
              <a:gd name="csY18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21106" h="1477328" extrusionOk="0">
                <a:moveTo>
                  <a:pt x="0" y="0"/>
                </a:moveTo>
                <a:cubicBezTo>
                  <a:pt x="149937" y="-6933"/>
                  <a:pt x="287305" y="34682"/>
                  <a:pt x="473307" y="0"/>
                </a:cubicBezTo>
                <a:cubicBezTo>
                  <a:pt x="659309" y="-34682"/>
                  <a:pt x="716818" y="38819"/>
                  <a:pt x="886191" y="0"/>
                </a:cubicBezTo>
                <a:cubicBezTo>
                  <a:pt x="1055564" y="-38819"/>
                  <a:pt x="1284960" y="19063"/>
                  <a:pt x="1450131" y="0"/>
                </a:cubicBezTo>
                <a:cubicBezTo>
                  <a:pt x="1615302" y="-19063"/>
                  <a:pt x="1822577" y="12030"/>
                  <a:pt x="1923437" y="0"/>
                </a:cubicBezTo>
                <a:cubicBezTo>
                  <a:pt x="2024297" y="-12030"/>
                  <a:pt x="2181242" y="19642"/>
                  <a:pt x="2396744" y="0"/>
                </a:cubicBezTo>
                <a:cubicBezTo>
                  <a:pt x="2612246" y="-19642"/>
                  <a:pt x="2851833" y="71620"/>
                  <a:pt x="3021106" y="0"/>
                </a:cubicBezTo>
                <a:cubicBezTo>
                  <a:pt x="3048420" y="108949"/>
                  <a:pt x="3013293" y="293481"/>
                  <a:pt x="3021106" y="462896"/>
                </a:cubicBezTo>
                <a:cubicBezTo>
                  <a:pt x="3028919" y="632311"/>
                  <a:pt x="3007489" y="754333"/>
                  <a:pt x="3021106" y="955339"/>
                </a:cubicBezTo>
                <a:cubicBezTo>
                  <a:pt x="3034723" y="1156345"/>
                  <a:pt x="2964864" y="1251853"/>
                  <a:pt x="3021106" y="1477328"/>
                </a:cubicBezTo>
                <a:cubicBezTo>
                  <a:pt x="2853353" y="1506627"/>
                  <a:pt x="2797300" y="1460921"/>
                  <a:pt x="2578010" y="1477328"/>
                </a:cubicBezTo>
                <a:cubicBezTo>
                  <a:pt x="2358720" y="1493735"/>
                  <a:pt x="2235607" y="1475705"/>
                  <a:pt x="2074493" y="1477328"/>
                </a:cubicBezTo>
                <a:cubicBezTo>
                  <a:pt x="1913379" y="1478951"/>
                  <a:pt x="1700137" y="1462176"/>
                  <a:pt x="1601186" y="1477328"/>
                </a:cubicBezTo>
                <a:cubicBezTo>
                  <a:pt x="1502235" y="1492480"/>
                  <a:pt x="1254580" y="1410655"/>
                  <a:pt x="1037246" y="1477328"/>
                </a:cubicBezTo>
                <a:cubicBezTo>
                  <a:pt x="819912" y="1544001"/>
                  <a:pt x="702672" y="1445057"/>
                  <a:pt x="473307" y="1477328"/>
                </a:cubicBezTo>
                <a:cubicBezTo>
                  <a:pt x="243942" y="1509599"/>
                  <a:pt x="128924" y="1446714"/>
                  <a:pt x="0" y="1477328"/>
                </a:cubicBezTo>
                <a:cubicBezTo>
                  <a:pt x="-11745" y="1249424"/>
                  <a:pt x="40301" y="1210974"/>
                  <a:pt x="0" y="984885"/>
                </a:cubicBezTo>
                <a:cubicBezTo>
                  <a:pt x="-40301" y="758796"/>
                  <a:pt x="29732" y="637841"/>
                  <a:pt x="0" y="507216"/>
                </a:cubicBezTo>
                <a:cubicBezTo>
                  <a:pt x="-29732" y="376591"/>
                  <a:pt x="34410" y="149112"/>
                  <a:pt x="0" y="0"/>
                </a:cubicBezTo>
                <a:close/>
              </a:path>
            </a:pathLst>
          </a:custGeom>
          <a:noFill/>
          <a:ln w="22225">
            <a:solidFill>
              <a:schemeClr val="accent4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The mask </a:t>
            </a:r>
            <a:r>
              <a:rPr lang="en-US" b="1" dirty="0">
                <a:solidFill>
                  <a:srgbClr val="FF0000"/>
                </a:solidFill>
              </a:rPr>
              <a:t>array &lt;= 20 </a:t>
            </a:r>
            <a:r>
              <a:rPr lang="en-US" dirty="0"/>
              <a:t>identifies elements less than or equal to 20.</a:t>
            </a:r>
          </a:p>
          <a:p>
            <a:r>
              <a:rPr lang="en-US" b="1" dirty="0">
                <a:solidFill>
                  <a:srgbClr val="FF0000"/>
                </a:solidFill>
              </a:rPr>
              <a:t>array[mask] = 0 </a:t>
            </a:r>
            <a:r>
              <a:rPr lang="en-US" dirty="0"/>
              <a:t>sets those elements to 0.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88466A-50A3-1C2F-AD55-7EFB3D850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461" y="3739117"/>
            <a:ext cx="4857143" cy="29428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936F9E-F8CC-40D4-F8D8-4E814801CC16}"/>
              </a:ext>
            </a:extLst>
          </p:cNvPr>
          <p:cNvSpPr txBox="1"/>
          <p:nvPr/>
        </p:nvSpPr>
        <p:spPr>
          <a:xfrm>
            <a:off x="457200" y="4110789"/>
            <a:ext cx="3514164" cy="1754326"/>
          </a:xfrm>
          <a:custGeom>
            <a:avLst/>
            <a:gdLst>
              <a:gd name="csX0" fmla="*/ 0 w 3514164"/>
              <a:gd name="csY0" fmla="*/ 0 h 1754326"/>
              <a:gd name="csX1" fmla="*/ 3514164 w 3514164"/>
              <a:gd name="csY1" fmla="*/ 0 h 1754326"/>
              <a:gd name="csX2" fmla="*/ 3514164 w 3514164"/>
              <a:gd name="csY2" fmla="*/ 1754326 h 1754326"/>
              <a:gd name="csX3" fmla="*/ 0 w 3514164"/>
              <a:gd name="csY3" fmla="*/ 1754326 h 1754326"/>
              <a:gd name="csX4" fmla="*/ 0 w 3514164"/>
              <a:gd name="csY4" fmla="*/ 0 h 17543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14164" h="1754326" extrusionOk="0">
                <a:moveTo>
                  <a:pt x="0" y="0"/>
                </a:moveTo>
                <a:cubicBezTo>
                  <a:pt x="458427" y="118645"/>
                  <a:pt x="1865006" y="116012"/>
                  <a:pt x="3514164" y="0"/>
                </a:cubicBezTo>
                <a:cubicBezTo>
                  <a:pt x="3531438" y="469620"/>
                  <a:pt x="3402418" y="1143791"/>
                  <a:pt x="3514164" y="1754326"/>
                </a:cubicBezTo>
                <a:cubicBezTo>
                  <a:pt x="2058232" y="1888926"/>
                  <a:pt x="1481500" y="1597130"/>
                  <a:pt x="0" y="1754326"/>
                </a:cubicBezTo>
                <a:cubicBezTo>
                  <a:pt x="111227" y="936605"/>
                  <a:pt x="-8620" y="293506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dirty="0"/>
              <a:t>The combined </a:t>
            </a:r>
            <a:r>
              <a:rPr lang="en-US" b="1" dirty="0">
                <a:solidFill>
                  <a:srgbClr val="FF0000"/>
                </a:solidFill>
              </a:rPr>
              <a:t>mask (array &gt; 15) &amp; (array &lt; 30) </a:t>
            </a:r>
            <a:r>
              <a:rPr lang="en-US" dirty="0"/>
              <a:t>selects elements that are greater than 15 and less than 30.</a:t>
            </a:r>
          </a:p>
          <a:p>
            <a:r>
              <a:rPr lang="en-US" dirty="0"/>
              <a:t>Applying the mask returns the elements </a:t>
            </a:r>
            <a:r>
              <a:rPr lang="en-US" b="1" dirty="0">
                <a:solidFill>
                  <a:srgbClr val="FF0000"/>
                </a:solidFill>
              </a:rPr>
              <a:t>[20, 25].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84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800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Wingdings</vt:lpstr>
      <vt:lpstr>Office Theme</vt:lpstr>
      <vt:lpstr>Introduction to Python Packages, NumPy Fancy Indexing &amp; Masking</vt:lpstr>
      <vt:lpstr>What is a Package?</vt:lpstr>
      <vt:lpstr>Why Use Packages?</vt:lpstr>
      <vt:lpstr>Creating a Custom Python Package</vt:lpstr>
      <vt:lpstr>Fancy Indexing</vt:lpstr>
      <vt:lpstr>Fancy Indexing</vt:lpstr>
      <vt:lpstr>Practical Uses of Fancy Indexing </vt:lpstr>
      <vt:lpstr>Masking in numpy</vt:lpstr>
      <vt:lpstr>Masking in numpy</vt:lpstr>
      <vt:lpstr>Modifying Arrays Using Masks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Mireilla Bikanga</dc:creator>
  <cp:keywords/>
  <dc:description>generated using python-pptx</dc:description>
  <cp:lastModifiedBy>Mireilla Bikanga Ada</cp:lastModifiedBy>
  <cp:revision>3</cp:revision>
  <dcterms:created xsi:type="dcterms:W3CDTF">2013-01-27T09:14:16Z</dcterms:created>
  <dcterms:modified xsi:type="dcterms:W3CDTF">2026-09-18T11:30:10Z</dcterms:modified>
  <cp:category/>
</cp:coreProperties>
</file>
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74" r:id="rId5"/>
    <p:sldId id="259" r:id="rId6"/>
    <p:sldId id="271" r:id="rId7"/>
    <p:sldId id="269" r:id="rId8"/>
    <p:sldId id="260" r:id="rId9"/>
    <p:sldId id="262" r:id="rId10"/>
    <p:sldId id="267" r:id="rId11"/>
    <p:sldId id="268" r:id="rId12"/>
    <p:sldId id="257" r:id="rId13"/>
    <p:sldId id="263" r:id="rId14"/>
    <p:sldId id="264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5D91E-1F9F-4328-9997-39F87FDAB52E}" v="1" dt="2021-01-05T14:52:59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7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illa Bikanga Ada" userId="b964f4d4-5927-4a33-a1eb-35030e652755" providerId="ADAL" clId="{BEB5D91E-1F9F-4328-9997-39F87FDAB52E}"/>
    <pc:docChg chg="custSel modSld">
      <pc:chgData name="Mireilla Bikanga Ada" userId="b964f4d4-5927-4a33-a1eb-35030e652755" providerId="ADAL" clId="{BEB5D91E-1F9F-4328-9997-39F87FDAB52E}" dt="2021-01-14T09:08:54.918" v="8" actId="1076"/>
      <pc:docMkLst>
        <pc:docMk/>
      </pc:docMkLst>
      <pc:sldChg chg="addSp delSp modSp mod">
        <pc:chgData name="Mireilla Bikanga Ada" userId="b964f4d4-5927-4a33-a1eb-35030e652755" providerId="ADAL" clId="{BEB5D91E-1F9F-4328-9997-39F87FDAB52E}" dt="2021-01-14T09:08:54.918" v="8" actId="1076"/>
        <pc:sldMkLst>
          <pc:docMk/>
          <pc:sldMk cId="1549909205" sldId="263"/>
        </pc:sldMkLst>
        <pc:picChg chg="add mod">
          <ac:chgData name="Mireilla Bikanga Ada" userId="b964f4d4-5927-4a33-a1eb-35030e652755" providerId="ADAL" clId="{BEB5D91E-1F9F-4328-9997-39F87FDAB52E}" dt="2021-01-14T09:08:54.918" v="8" actId="1076"/>
          <ac:picMkLst>
            <pc:docMk/>
            <pc:sldMk cId="1549909205" sldId="263"/>
            <ac:picMk id="6" creationId="{8410AE07-D9D6-4302-B774-EAACDAA71FB5}"/>
          </ac:picMkLst>
        </pc:picChg>
        <pc:picChg chg="add del mod">
          <ac:chgData name="Mireilla Bikanga Ada" userId="b964f4d4-5927-4a33-a1eb-35030e652755" providerId="ADAL" clId="{BEB5D91E-1F9F-4328-9997-39F87FDAB52E}" dt="2021-01-05T14:56:50.431" v="3" actId="478"/>
          <ac:picMkLst>
            <pc:docMk/>
            <pc:sldMk cId="1549909205" sldId="263"/>
            <ac:picMk id="6" creationId="{E32F48C0-ECF0-47DA-985F-5ACE4EE53AB6}"/>
          </ac:picMkLst>
        </pc:picChg>
        <pc:picChg chg="add del mod">
          <ac:chgData name="Mireilla Bikanga Ada" userId="b964f4d4-5927-4a33-a1eb-35030e652755" providerId="ADAL" clId="{BEB5D91E-1F9F-4328-9997-39F87FDAB52E}" dt="2021-01-14T09:08:44.730" v="6" actId="478"/>
          <ac:picMkLst>
            <pc:docMk/>
            <pc:sldMk cId="1549909205" sldId="263"/>
            <ac:picMk id="8" creationId="{B90700DA-D39B-40D4-94A4-53A3675E32F2}"/>
          </ac:picMkLst>
        </pc:picChg>
        <pc:picChg chg="del">
          <ac:chgData name="Mireilla Bikanga Ada" userId="b964f4d4-5927-4a33-a1eb-35030e652755" providerId="ADAL" clId="{BEB5D91E-1F9F-4328-9997-39F87FDAB52E}" dt="2021-01-05T14:52:59.925" v="0" actId="478"/>
          <ac:picMkLst>
            <pc:docMk/>
            <pc:sldMk cId="1549909205" sldId="263"/>
            <ac:picMk id="307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13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82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21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49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87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92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19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69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21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85229-B192-471B-A9A0-A94146647856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6D78-FC6F-4C21-A69F-513123C2B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7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hyperlink" Target="https://www.w3schools.com/python/python_regex.asp#search" TargetMode="External"/><Relationship Id="rId7" Type="http://schemas.openxmlformats.org/officeDocument/2006/relationships/image" Target="../media/image28.png"/><Relationship Id="rId2" Type="http://schemas.openxmlformats.org/officeDocument/2006/relationships/hyperlink" Target="https://www.w3schools.com/python/python_regex.asp#findal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python_regex.asp#sub" TargetMode="External"/><Relationship Id="rId5" Type="http://schemas.openxmlformats.org/officeDocument/2006/relationships/hyperlink" Target="https://www.w3schools.com/python/python_regex.asp#split" TargetMode="External"/><Relationship Id="rId4" Type="http://schemas.openxmlformats.org/officeDocument/2006/relationships/hyperlink" Target="https://www.w3schools.com/python/python_regex.asp#matchobjec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Python -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93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Storing and Manipulating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7571184" cy="3168352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GB" sz="3400" b="1" dirty="0">
                <a:solidFill>
                  <a:srgbClr val="FF0000"/>
                </a:solidFill>
              </a:rPr>
              <a:t>Variable</a:t>
            </a:r>
            <a:r>
              <a:rPr lang="en-GB" sz="3400" dirty="0">
                <a:solidFill>
                  <a:prstClr val="black"/>
                </a:solidFill>
              </a:rPr>
              <a:t>: A container for a value.</a:t>
            </a:r>
          </a:p>
          <a:p>
            <a:pPr lvl="0"/>
            <a:r>
              <a:rPr lang="en-GB" sz="3400" dirty="0">
                <a:solidFill>
                  <a:prstClr val="black"/>
                </a:solidFill>
              </a:rPr>
              <a:t>Variables are created using assignment statement. </a:t>
            </a:r>
          </a:p>
          <a:p>
            <a:pPr lvl="0"/>
            <a:r>
              <a:rPr lang="en-GB" sz="3400" dirty="0">
                <a:solidFill>
                  <a:prstClr val="black"/>
                </a:solidFill>
              </a:rPr>
              <a:t>The variable can be called whatever you want except Python </a:t>
            </a:r>
            <a:r>
              <a:rPr lang="en-GB" sz="3400" u="sng" dirty="0"/>
              <a:t>dedicated word</a:t>
            </a:r>
            <a:r>
              <a:rPr lang="en-GB" sz="3400" dirty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endParaRPr lang="en-GB" sz="3400" dirty="0">
              <a:solidFill>
                <a:prstClr val="black"/>
              </a:solidFill>
            </a:endParaRPr>
          </a:p>
          <a:p>
            <a:pPr lvl="0"/>
            <a:r>
              <a:rPr lang="en-GB" sz="3400" dirty="0">
                <a:solidFill>
                  <a:prstClr val="black"/>
                </a:solidFill>
              </a:rPr>
              <a:t>The following statement creates a variable named </a:t>
            </a:r>
            <a:r>
              <a:rPr lang="en-GB" sz="3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GB" sz="3400" dirty="0">
                <a:solidFill>
                  <a:prstClr val="black"/>
                </a:solidFill>
              </a:rPr>
              <a:t> and stores </a:t>
            </a:r>
            <a:r>
              <a:rPr lang="en-GB" sz="3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GB" sz="3400" dirty="0">
                <a:solidFill>
                  <a:prstClr val="black"/>
                </a:solidFill>
              </a:rPr>
              <a:t> in it. </a:t>
            </a:r>
          </a:p>
          <a:p>
            <a:pPr lvl="0"/>
            <a:endParaRPr lang="en-GB" sz="3400" dirty="0">
              <a:solidFill>
                <a:prstClr val="black"/>
              </a:solidFill>
            </a:endParaRPr>
          </a:p>
          <a:p>
            <a:pPr lvl="0"/>
            <a:r>
              <a:rPr lang="en-GB" sz="3400" dirty="0">
                <a:solidFill>
                  <a:prstClr val="black"/>
                </a:solidFill>
              </a:rPr>
              <a:t>Other examples are seen below.</a:t>
            </a:r>
          </a:p>
          <a:p>
            <a:pPr lvl="0"/>
            <a:endParaRPr lang="en-GB" sz="2400" dirty="0">
              <a:solidFill>
                <a:prstClr val="black"/>
              </a:solidFill>
            </a:endParaRP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358948" y="5024450"/>
            <a:ext cx="4574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number2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answer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 + number2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Print 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answer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2962" y="5551073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Variable names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227797" y="5168466"/>
            <a:ext cx="1169381" cy="7057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173042" y="5474573"/>
            <a:ext cx="1241113" cy="40395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27797" y="5751572"/>
            <a:ext cx="1169381" cy="12695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57229" y="4691835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Values stored in variables</a:t>
            </a: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>
            <a:off x="5285009" y="5015001"/>
            <a:ext cx="1472220" cy="21224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5179223" y="5015001"/>
            <a:ext cx="1578006" cy="50028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773442" y="5015000"/>
            <a:ext cx="983787" cy="540364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5829" y="6113563"/>
            <a:ext cx="936104" cy="5084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3580" y="6460098"/>
            <a:ext cx="2609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 dedicated 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3888" y="357301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20</a:t>
            </a:r>
          </a:p>
        </p:txBody>
      </p:sp>
    </p:spTree>
    <p:extLst>
      <p:ext uri="{BB962C8B-B14F-4D97-AF65-F5344CB8AC3E}">
        <p14:creationId xmlns:p14="http://schemas.microsoft.com/office/powerpoint/2010/main" val="162914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3"/>
            <a:ext cx="4248472" cy="3478817"/>
          </a:xfrm>
        </p:spPr>
        <p:txBody>
          <a:bodyPr>
            <a:normAutofit lnSpcReduction="10000"/>
          </a:bodyPr>
          <a:lstStyle/>
          <a:p>
            <a:pPr lvl="0"/>
            <a:r>
              <a:rPr lang="en-GB" sz="2200" b="1" dirty="0">
                <a:solidFill>
                  <a:srgbClr val="FF0000"/>
                </a:solidFill>
              </a:rPr>
              <a:t>String</a:t>
            </a:r>
            <a:r>
              <a:rPr lang="en-GB" sz="2200" dirty="0">
                <a:solidFill>
                  <a:prstClr val="black"/>
                </a:solidFill>
              </a:rPr>
              <a:t>: technical name for text. Text values need to be in speech marks (‘’) or (“”) but numbers do not.</a:t>
            </a:r>
          </a:p>
          <a:p>
            <a:pPr lvl="0"/>
            <a:r>
              <a:rPr lang="en-GB" sz="2200" dirty="0">
                <a:solidFill>
                  <a:prstClr val="black"/>
                </a:solidFill>
              </a:rPr>
              <a:t>Be careful when inputting the following characters into strings as they have special meaning in Python and Python can get confuse if you use them in a string: “ ‘ \</a:t>
            </a:r>
          </a:p>
          <a:p>
            <a:pPr lvl="0"/>
            <a:endParaRPr lang="en-GB" sz="24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GB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63056"/>
              </p:ext>
            </p:extLst>
          </p:nvPr>
        </p:nvGraphicFramePr>
        <p:xfrm>
          <a:off x="323528" y="4869403"/>
          <a:ext cx="352839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633">
                <a:tc>
                  <a:txBody>
                    <a:bodyPr/>
                    <a:lstStyle/>
                    <a:p>
                      <a:r>
                        <a:rPr lang="en-GB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to type this into a Python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\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\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\\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95536" y="1856"/>
            <a:ext cx="8229600" cy="762848"/>
          </a:xfrm>
        </p:spPr>
        <p:txBody>
          <a:bodyPr/>
          <a:lstStyle/>
          <a:p>
            <a:r>
              <a:rPr lang="en-GB" dirty="0"/>
              <a:t>Working with strings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716016" y="1052736"/>
            <a:ext cx="4248472" cy="2664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b="1" dirty="0">
                <a:solidFill>
                  <a:srgbClr val="FF0000"/>
                </a:solidFill>
              </a:rPr>
              <a:t>Multiple-Line String</a:t>
            </a:r>
            <a:r>
              <a:rPr lang="en-GB" sz="2200" dirty="0">
                <a:solidFill>
                  <a:prstClr val="black"/>
                </a:solidFill>
              </a:rPr>
              <a:t>: If you want to put a string across multiple lines, you can either use the line break (</a:t>
            </a:r>
            <a:r>
              <a:rPr lang="en-GB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GB" sz="2200" dirty="0">
                <a:solidFill>
                  <a:prstClr val="black"/>
                </a:solidFill>
              </a:rPr>
              <a:t>) or you can enclose the entire thing in triple quotes. This will ensure that the formatting of the text remains the same.</a:t>
            </a:r>
          </a:p>
          <a:p>
            <a:endParaRPr lang="en-GB" sz="24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501008"/>
            <a:ext cx="396044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145" y="5517232"/>
            <a:ext cx="298132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40" y="4840828"/>
            <a:ext cx="18002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471566" y="3789040"/>
            <a:ext cx="1595348" cy="73866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Same result for both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3512" y="5234558"/>
            <a:ext cx="751633" cy="3077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Codes</a:t>
            </a:r>
          </a:p>
        </p:txBody>
      </p:sp>
      <p:cxnSp>
        <p:nvCxnSpPr>
          <p:cNvPr id="20" name="Straight Arrow Connector 19"/>
          <p:cNvCxnSpPr>
            <a:endCxn id="16" idx="0"/>
          </p:cNvCxnSpPr>
          <p:nvPr/>
        </p:nvCxnSpPr>
        <p:spPr>
          <a:xfrm flipH="1">
            <a:off x="4529329" y="4037565"/>
            <a:ext cx="329699" cy="11969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840252" y="4367784"/>
            <a:ext cx="559218" cy="2357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7524328" y="4603560"/>
            <a:ext cx="72008" cy="237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6" idx="3"/>
          </p:cNvCxnSpPr>
          <p:nvPr/>
        </p:nvCxnSpPr>
        <p:spPr>
          <a:xfrm flipH="1" flipV="1">
            <a:off x="4905145" y="5388447"/>
            <a:ext cx="1003662" cy="1612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66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4968552" cy="518457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In Python, strings are an immutable </a:t>
            </a:r>
            <a:r>
              <a:rPr lang="en-GB" dirty="0" err="1"/>
              <a:t>iterable</a:t>
            </a:r>
            <a:r>
              <a:rPr lang="en-GB" dirty="0"/>
              <a:t> data type. </a:t>
            </a:r>
          </a:p>
          <a:p>
            <a:r>
              <a:rPr lang="en-GB" b="1" dirty="0">
                <a:solidFill>
                  <a:srgbClr val="FF0000"/>
                </a:solidFill>
              </a:rPr>
              <a:t>Immutable</a:t>
            </a:r>
            <a:r>
              <a:rPr lang="en-GB" dirty="0"/>
              <a:t>: This means you cannot change an existing string (their state or content). Cannot be changed after it is created.</a:t>
            </a:r>
          </a:p>
          <a:p>
            <a:pPr lvl="1"/>
            <a:r>
              <a:rPr lang="en-GB" dirty="0"/>
              <a:t>If you want to make a change you create a new string that is a variation on the original.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Calling the same method with the same variable or value will guarantee the same output.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r>
              <a:rPr lang="en-GB" b="1" dirty="0" err="1">
                <a:solidFill>
                  <a:srgbClr val="FF0000"/>
                </a:solidFill>
              </a:rPr>
              <a:t>Iterable</a:t>
            </a:r>
            <a:r>
              <a:rPr lang="en-GB" b="1" dirty="0">
                <a:solidFill>
                  <a:srgbClr val="FF0000"/>
                </a:solidFill>
              </a:rPr>
              <a:t>:</a:t>
            </a:r>
            <a:r>
              <a:rPr lang="en-GB" b="1" dirty="0"/>
              <a:t> </a:t>
            </a:r>
            <a:r>
              <a:rPr lang="en-GB" dirty="0"/>
              <a:t>Anything that can be looped over, that appear on the right-side of the loop.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strings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84168" y="2060848"/>
            <a:ext cx="2808312" cy="3384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Other Python objects that are immutable: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float, bool,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unicode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tuple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Other Python objects that are </a:t>
            </a:r>
            <a:r>
              <a:rPr lang="en-GB" dirty="0" err="1"/>
              <a:t>iterable</a:t>
            </a:r>
            <a:r>
              <a:rPr lang="en-GB" dirty="0"/>
              <a:t>: 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Lists, tuples, dictionaries</a:t>
            </a:r>
            <a:r>
              <a:rPr lang="en-GB" dirty="0"/>
              <a:t>,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09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3684817"/>
            <a:ext cx="3605662" cy="1736358"/>
          </a:xfrm>
          <a:ln>
            <a:solidFill>
              <a:srgbClr val="7030A0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Concatenation</a:t>
            </a:r>
          </a:p>
          <a:p>
            <a:pPr marL="0" indent="0">
              <a:buNone/>
            </a:pPr>
            <a:r>
              <a:rPr lang="en-GB" dirty="0"/>
              <a:t>Operator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dirty="0"/>
              <a:t>can be used to concatenate the strings. Concatenation means joining together.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84984"/>
            <a:ext cx="4130030" cy="21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7" y="5464597"/>
            <a:ext cx="3986014" cy="867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Content Placeholder 2"/>
          <p:cNvSpPr txBox="1">
            <a:spLocks/>
          </p:cNvSpPr>
          <p:nvPr/>
        </p:nvSpPr>
        <p:spPr>
          <a:xfrm>
            <a:off x="323528" y="1124744"/>
            <a:ext cx="7902298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prstClr val="black"/>
                </a:solidFill>
              </a:rPr>
              <a:t>Strings can be manipulated with operators and passed to functions. Operations include</a:t>
            </a:r>
          </a:p>
          <a:p>
            <a:pPr lvl="1"/>
            <a:r>
              <a:rPr lang="en-GB" sz="2400" dirty="0">
                <a:solidFill>
                  <a:prstClr val="black"/>
                </a:solidFill>
              </a:rPr>
              <a:t>Concatenation</a:t>
            </a:r>
          </a:p>
          <a:p>
            <a:pPr lvl="1"/>
            <a:r>
              <a:rPr lang="en-GB" sz="2400" dirty="0">
                <a:solidFill>
                  <a:prstClr val="black"/>
                </a:solidFill>
              </a:rPr>
              <a:t>Computing the length of a string</a:t>
            </a:r>
          </a:p>
          <a:p>
            <a:pPr lvl="1"/>
            <a:r>
              <a:rPr lang="en-GB" sz="2400" dirty="0">
                <a:solidFill>
                  <a:prstClr val="black"/>
                </a:solidFill>
              </a:rPr>
              <a:t>Extracting individual characters from a string.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40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strings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3528" y="1052736"/>
            <a:ext cx="8311161" cy="1872208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rgbClr val="FF0000"/>
                </a:solidFill>
              </a:rPr>
              <a:t>!! String or integer as variable !!</a:t>
            </a:r>
          </a:p>
          <a:p>
            <a:pPr marL="0" indent="0">
              <a:buNone/>
            </a:pPr>
            <a:r>
              <a:rPr lang="en-GB" sz="2400" dirty="0">
                <a:solidFill>
                  <a:prstClr val="black"/>
                </a:solidFill>
              </a:rPr>
              <a:t>If you define a variable as a string, even if it only contains numbers, you cannot later use that string as part of a calculation unless you convert it to a number. Same applies to defining a variable as integer or floating-point number. You will have to convert it as a string for concatenation to work.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3503983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" y="4962040"/>
            <a:ext cx="5037359" cy="1275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835900" y="3284984"/>
            <a:ext cx="5056580" cy="1169551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example on the left throws an error. For this to work, convert the 2</a:t>
            </a:r>
            <a:r>
              <a:rPr lang="en-GB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line into this:         </a:t>
            </a:r>
            <a:r>
              <a:rPr lang="en-GB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= 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GB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(input("Enter your age: ")))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or add this line after the 2</a:t>
            </a:r>
            <a:r>
              <a:rPr lang="en-GB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line:          </a:t>
            </a:r>
            <a:r>
              <a:rPr lang="en-GB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 = str(age)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then you get the result below.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817" y="4797152"/>
            <a:ext cx="3643778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7092280" y="4365104"/>
            <a:ext cx="36004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347864" y="3429000"/>
            <a:ext cx="576064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19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GB" dirty="0"/>
              <a:t>Working with strings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9552" y="1419446"/>
            <a:ext cx="7488832" cy="158417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FF0000"/>
                </a:solidFill>
              </a:rPr>
              <a:t>Finding the string’s length</a:t>
            </a:r>
          </a:p>
          <a:p>
            <a:pPr marL="0" indent="0">
              <a:buNone/>
            </a:pPr>
            <a:r>
              <a:rPr lang="en-GB" dirty="0"/>
              <a:t>The number of characters in a string is referred to as a string’s length and is computed by calling the </a:t>
            </a:r>
            <a:r>
              <a:rPr lang="en-GB" dirty="0" err="1"/>
              <a:t>len</a:t>
            </a:r>
            <a:r>
              <a:rPr lang="en-GB" dirty="0"/>
              <a:t>() function. 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140968"/>
            <a:ext cx="46958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589240"/>
            <a:ext cx="6332831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072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850106"/>
          </a:xfrm>
        </p:spPr>
        <p:txBody>
          <a:bodyPr/>
          <a:lstStyle/>
          <a:p>
            <a:r>
              <a:rPr lang="en-GB" dirty="0"/>
              <a:t>Working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3960440" cy="4968552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Each character in a string has a unique integer index. The first character in a string has index 0.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last character in a string has an index which is equal to the length of the string, minus one.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 single character in a string is accessed by placing its index inside square brackets after the name of the variable containing the string.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Consecutive characters can be accessed by including two indices, separated by a colon, inside the square bracket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700808"/>
            <a:ext cx="4212995" cy="213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187624" y="908720"/>
            <a:ext cx="734481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Slicing: taking a small piece of something bigger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16" y="4581127"/>
            <a:ext cx="4415203" cy="1882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620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strings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7" y="1772816"/>
            <a:ext cx="6547405" cy="330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1187624" y="908720"/>
            <a:ext cx="734481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Slicing: taking a small piece of something bigger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2" y="5321453"/>
            <a:ext cx="7267575" cy="151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784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strings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51520" y="1183173"/>
            <a:ext cx="8767447" cy="1741771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rgbClr val="FF0000"/>
                </a:solidFill>
              </a:rPr>
              <a:t>Strip Strings: </a:t>
            </a:r>
          </a:p>
          <a:p>
            <a:pPr marL="0" indent="0">
              <a:buNone/>
            </a:pPr>
            <a:r>
              <a:rPr lang="en-GB" sz="2400" dirty="0"/>
              <a:t>Python strings have the strip(), </a:t>
            </a:r>
            <a:r>
              <a:rPr lang="en-GB" sz="2400" dirty="0" err="1"/>
              <a:t>lstrip</a:t>
            </a:r>
            <a:r>
              <a:rPr lang="en-GB" sz="2400" dirty="0"/>
              <a:t>(), </a:t>
            </a:r>
            <a:r>
              <a:rPr lang="en-GB" sz="2400" dirty="0" err="1"/>
              <a:t>rstrip</a:t>
            </a:r>
            <a:r>
              <a:rPr lang="en-GB" sz="2400" dirty="0"/>
              <a:t>() methods for removing any character from both end of the string.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If the character to be removed are not specified then white-space will be removed.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104963"/>
            <a:ext cx="7128792" cy="1836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941168"/>
            <a:ext cx="669674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78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strings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796" y="1604964"/>
            <a:ext cx="36195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107504" y="1044298"/>
            <a:ext cx="4680520" cy="1885787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rgbClr val="FF0000"/>
                </a:solidFill>
              </a:rPr>
              <a:t>Split Strings:</a:t>
            </a:r>
          </a:p>
          <a:p>
            <a:pPr marL="0" indent="0">
              <a:buNone/>
            </a:pPr>
            <a:r>
              <a:rPr lang="en-GB" sz="2400" dirty="0"/>
              <a:t> </a:t>
            </a:r>
            <a:r>
              <a:rPr lang="en-US" sz="2400" dirty="0"/>
              <a:t>The split() method breaks a string into multiple strings based</a:t>
            </a:r>
            <a:r>
              <a:rPr lang="en-GB" sz="2400" dirty="0"/>
              <a:t> on the specified separator.</a:t>
            </a:r>
          </a:p>
          <a:p>
            <a:pPr marL="0" indent="0">
              <a:buNone/>
            </a:pPr>
            <a:r>
              <a:rPr lang="en-GB" sz="2400" dirty="0"/>
              <a:t> </a:t>
            </a:r>
          </a:p>
          <a:p>
            <a:r>
              <a:rPr lang="en-GB" sz="2400" dirty="0" err="1"/>
              <a:t>str.split</a:t>
            </a:r>
            <a:r>
              <a:rPr lang="en-GB" sz="2400" dirty="0"/>
              <a:t>(separator, </a:t>
            </a:r>
            <a:r>
              <a:rPr lang="en-GB" sz="2400" dirty="0" err="1"/>
              <a:t>maxsplit</a:t>
            </a:r>
            <a:r>
              <a:rPr lang="en-GB" sz="2400" dirty="0"/>
              <a:t>)</a:t>
            </a:r>
          </a:p>
          <a:p>
            <a:pPr marL="0" indent="0">
              <a:buNone/>
            </a:pP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04248" y="692696"/>
            <a:ext cx="2232248" cy="830997"/>
          </a:xfrm>
          <a:prstGeom prst="rect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Example 1: The  separator is white space ‘ ’. We get four strings.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444914" y="1012350"/>
            <a:ext cx="359334" cy="5926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340" y="3501008"/>
            <a:ext cx="333566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812122" y="2437437"/>
            <a:ext cx="2232248" cy="830997"/>
          </a:xfrm>
          <a:prstGeom prst="rect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Example 2: The  separator is the full stop ‘. ’. We get two strings.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661530" y="3268434"/>
            <a:ext cx="139242" cy="232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00219"/>
            <a:ext cx="53816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611560" y="2976046"/>
            <a:ext cx="2952328" cy="461665"/>
          </a:xfrm>
          <a:prstGeom prst="rect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Example 3: we split after 5 characters. We get 7 strings.</a:t>
            </a:r>
          </a:p>
        </p:txBody>
      </p:sp>
      <p:cxnSp>
        <p:nvCxnSpPr>
          <p:cNvPr id="16" name="Straight Arrow Connector 15"/>
          <p:cNvCxnSpPr>
            <a:stCxn id="20" idx="2"/>
          </p:cNvCxnSpPr>
          <p:nvPr/>
        </p:nvCxnSpPr>
        <p:spPr>
          <a:xfrm flipH="1">
            <a:off x="2051720" y="3437711"/>
            <a:ext cx="36004" cy="369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73216"/>
            <a:ext cx="37338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4211960" y="4941168"/>
            <a:ext cx="4536504" cy="1569660"/>
          </a:xfrm>
          <a:prstGeom prst="rect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 this example,  separator is white space‘ ’. However, we used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maxsplit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(1), which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specifies the maximum number of splits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We get two strings.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If we don’t use a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maxsplit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number, there is no limit to the number of splits performed, as in example 1.</a:t>
            </a:r>
          </a:p>
        </p:txBody>
      </p:sp>
      <p:cxnSp>
        <p:nvCxnSpPr>
          <p:cNvPr id="19" name="Straight Arrow Connector 18"/>
          <p:cNvCxnSpPr>
            <a:stCxn id="25" idx="1"/>
          </p:cNvCxnSpPr>
          <p:nvPr/>
        </p:nvCxnSpPr>
        <p:spPr>
          <a:xfrm flipH="1">
            <a:off x="3131840" y="5725998"/>
            <a:ext cx="1080120" cy="2232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503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276872"/>
            <a:ext cx="6192688" cy="3632057"/>
          </a:xfrm>
        </p:spPr>
        <p:txBody>
          <a:bodyPr>
            <a:normAutofit fontScale="77500" lnSpcReduction="20000"/>
          </a:bodyPr>
          <a:lstStyle/>
          <a:p>
            <a:r>
              <a:rPr lang="en-GB" sz="2400" dirty="0"/>
              <a:t>Python is </a:t>
            </a:r>
            <a:r>
              <a:rPr lang="en-GB" sz="2400" b="1" dirty="0"/>
              <a:t>case sensitive. </a:t>
            </a:r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= </a:t>
            </a:r>
            <a:r>
              <a:rPr lang="en-GB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text.lower</a:t>
            </a:r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solidFill>
                  <a:prstClr val="black"/>
                </a:solidFill>
              </a:rPr>
              <a:t> changes the text to lowercase. As Python is </a:t>
            </a:r>
            <a:r>
              <a:rPr lang="en-US" sz="2400" dirty="0">
                <a:solidFill>
                  <a:prstClr val="black"/>
                </a:solidFill>
              </a:rPr>
              <a:t>case-sensitive, this changes the data input by the user to lowercase</a:t>
            </a:r>
            <a:r>
              <a:rPr lang="en-GB" sz="2400" dirty="0">
                <a:solidFill>
                  <a:prstClr val="black"/>
                </a:solidFill>
              </a:rPr>
              <a:t> so it is easier to check. </a:t>
            </a:r>
          </a:p>
          <a:p>
            <a:endParaRPr lang="en-GB" sz="2400" dirty="0">
              <a:solidFill>
                <a:prstClr val="black"/>
              </a:solidFill>
            </a:endParaRPr>
          </a:p>
          <a:p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= </a:t>
            </a:r>
            <a:r>
              <a:rPr lang="en-GB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text.upper</a:t>
            </a:r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 converts all letters in the string to uppercase</a:t>
            </a:r>
            <a:r>
              <a:rPr lang="en-GB" sz="2400" dirty="0">
                <a:solidFill>
                  <a:prstClr val="black"/>
                </a:solidFill>
                <a:cs typeface="Courier New" panose="02070309020205020404" pitchFamily="49" charset="0"/>
              </a:rPr>
              <a:t>.</a:t>
            </a:r>
          </a:p>
          <a:p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= </a:t>
            </a:r>
            <a:r>
              <a:rPr lang="en-GB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text.title</a:t>
            </a:r>
            <a:r>
              <a:rPr lang="en-GB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solidFill>
                  <a:prstClr val="black"/>
                </a:solidFill>
                <a:cs typeface="Courier New" panose="02070309020205020404" pitchFamily="49" charset="0"/>
              </a:rPr>
              <a:t>transforms the text in a title.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b="1" dirty="0"/>
              <a:t>Indentation</a:t>
            </a:r>
            <a:r>
              <a:rPr lang="en-GB" sz="2400" dirty="0"/>
              <a:t> is important: It shows the lines that are dependent on others.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5" name="Title 1"/>
          <p:cNvSpPr>
            <a:spLocks noGrp="1"/>
          </p:cNvSpPr>
          <p:nvPr>
            <p:ph type="title"/>
          </p:nvPr>
        </p:nvSpPr>
        <p:spPr>
          <a:xfrm>
            <a:off x="323528" y="1412776"/>
            <a:ext cx="8229600" cy="562074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Lower, Upper case, Indentation</a:t>
            </a:r>
          </a:p>
        </p:txBody>
      </p:sp>
      <p:sp>
        <p:nvSpPr>
          <p:cNvPr id="56" name="Title 1"/>
          <p:cNvSpPr txBox="1">
            <a:spLocks/>
          </p:cNvSpPr>
          <p:nvPr/>
        </p:nvSpPr>
        <p:spPr>
          <a:xfrm>
            <a:off x="457200" y="274638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Working with strings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CE20E-E4AC-318D-F2F0-60A0BC32E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882" y="2276872"/>
            <a:ext cx="1838582" cy="590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F9031C-8B5D-A0CA-3724-17BF57E4F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280" y="2936909"/>
            <a:ext cx="1038370" cy="238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7B155-E025-D111-D1E8-18E931F4F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02" y="4437112"/>
            <a:ext cx="3943900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0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3178696" cy="1828800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Testing</a:t>
            </a:r>
          </a:p>
          <a:p>
            <a:pPr marL="0" indent="0">
              <a:buNone/>
            </a:pPr>
            <a:r>
              <a:rPr lang="en-GB" dirty="0"/>
              <a:t>A string can be tested for truth value. The return type will be in Boolean value (True or False)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3528" y="4077072"/>
            <a:ext cx="3178696" cy="266429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FF0000"/>
                </a:solidFill>
              </a:rPr>
              <a:t>Regular Expression (</a:t>
            </a:r>
            <a:r>
              <a:rPr lang="en-GB" b="1" dirty="0" err="1">
                <a:solidFill>
                  <a:srgbClr val="FF0000"/>
                </a:solidFill>
              </a:rPr>
              <a:t>RegEx</a:t>
            </a:r>
            <a:r>
              <a:rPr lang="en-GB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GB" dirty="0"/>
              <a:t>is a sequence of characters that forms a search pattern.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RegEx</a:t>
            </a:r>
            <a:r>
              <a:rPr lang="en-GB" dirty="0"/>
              <a:t> can be used to check if a string contains the specified search pattern.</a:t>
            </a:r>
          </a:p>
          <a:p>
            <a:pPr marL="0" indent="0">
              <a:buNone/>
            </a:pPr>
            <a:r>
              <a:rPr lang="en-GB" dirty="0" err="1"/>
              <a:t>RegEx</a:t>
            </a:r>
            <a:r>
              <a:rPr lang="en-GB" dirty="0"/>
              <a:t> Module in Python is called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192" y="3861048"/>
            <a:ext cx="45910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867" y="5877272"/>
            <a:ext cx="4524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16" y="1556792"/>
            <a:ext cx="50482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10AE07-D9D6-4302-B774-EAACDAA71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734" y="1302291"/>
            <a:ext cx="46672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09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105"/>
            <a:ext cx="8229600" cy="742599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strings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955770"/>
              </p:ext>
            </p:extLst>
          </p:nvPr>
        </p:nvGraphicFramePr>
        <p:xfrm>
          <a:off x="107504" y="3167102"/>
          <a:ext cx="3888432" cy="1981272"/>
        </p:xfrm>
        <a:graphic>
          <a:graphicData uri="http://schemas.openxmlformats.org/drawingml/2006/table">
            <a:tbl>
              <a:tblPr/>
              <a:tblGrid>
                <a:gridCol w="590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7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795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dirty="0">
                          <a:effectLst/>
                        </a:rPr>
                        <a:t>Function</a:t>
                      </a:r>
                    </a:p>
                  </a:txBody>
                  <a:tcPr marL="102790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dirty="0">
                          <a:effectLst/>
                        </a:rPr>
                        <a:t>Description</a:t>
                      </a:r>
                    </a:p>
                  </a:txBody>
                  <a:tcPr marL="51395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  <a:hlinkClick r:id="rId2"/>
                        </a:rPr>
                        <a:t>findall</a:t>
                      </a:r>
                      <a:endParaRPr lang="en-GB" sz="1200">
                        <a:effectLst/>
                      </a:endParaRPr>
                    </a:p>
                  </a:txBody>
                  <a:tcPr marL="102790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</a:rPr>
                        <a:t>Returns a list containing all matches</a:t>
                      </a:r>
                    </a:p>
                  </a:txBody>
                  <a:tcPr marL="51395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  <a:hlinkClick r:id="rId3"/>
                        </a:rPr>
                        <a:t>search</a:t>
                      </a:r>
                      <a:endParaRPr lang="en-GB" sz="1200">
                        <a:effectLst/>
                      </a:endParaRPr>
                    </a:p>
                  </a:txBody>
                  <a:tcPr marL="102790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</a:rPr>
                        <a:t>Returns a </a:t>
                      </a:r>
                      <a:r>
                        <a:rPr lang="en-GB" sz="1200">
                          <a:effectLst/>
                          <a:hlinkClick r:id="rId4"/>
                        </a:rPr>
                        <a:t>Match object</a:t>
                      </a:r>
                      <a:r>
                        <a:rPr lang="en-GB" sz="1200">
                          <a:effectLst/>
                        </a:rPr>
                        <a:t> if there is a match anywhere in the string</a:t>
                      </a:r>
                    </a:p>
                  </a:txBody>
                  <a:tcPr marL="51395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  <a:hlinkClick r:id="rId5"/>
                        </a:rPr>
                        <a:t>split</a:t>
                      </a:r>
                      <a:endParaRPr lang="en-GB" sz="1200">
                        <a:effectLst/>
                      </a:endParaRPr>
                    </a:p>
                  </a:txBody>
                  <a:tcPr marL="102790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</a:rPr>
                        <a:t>Returns a list where the string has been split at each match</a:t>
                      </a:r>
                    </a:p>
                  </a:txBody>
                  <a:tcPr marL="51395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81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>
                          <a:effectLst/>
                          <a:hlinkClick r:id="rId6"/>
                        </a:rPr>
                        <a:t>sub</a:t>
                      </a:r>
                      <a:endParaRPr lang="en-GB" sz="1200">
                        <a:effectLst/>
                      </a:endParaRPr>
                    </a:p>
                  </a:txBody>
                  <a:tcPr marL="102790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dirty="0">
                          <a:effectLst/>
                        </a:rPr>
                        <a:t>Replaces one or many matches with a string</a:t>
                      </a:r>
                    </a:p>
                  </a:txBody>
                  <a:tcPr marL="51395" marR="51395" marT="51395" marB="5139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1412776"/>
            <a:ext cx="2736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RegEx</a:t>
            </a:r>
            <a:r>
              <a:rPr lang="en-GB" dirty="0">
                <a:solidFill>
                  <a:srgbClr val="FF0000"/>
                </a:solidFill>
              </a:rPr>
              <a:t> Functions</a:t>
            </a:r>
          </a:p>
          <a:p>
            <a:endParaRPr lang="en-GB" dirty="0"/>
          </a:p>
          <a:p>
            <a:r>
              <a:rPr lang="en-GB" dirty="0"/>
              <a:t>The re module offers a set of functions that allows us to search a string for a match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764704"/>
            <a:ext cx="4717920" cy="4469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731" y="5373216"/>
            <a:ext cx="50292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6389011"/>
            <a:ext cx="7056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Find more at: https://www.w3schools.com/python/python_regex.asp</a:t>
            </a:r>
          </a:p>
        </p:txBody>
      </p:sp>
    </p:spTree>
    <p:extLst>
      <p:ext uri="{BB962C8B-B14F-4D97-AF65-F5344CB8AC3E}">
        <p14:creationId xmlns:p14="http://schemas.microsoft.com/office/powerpoint/2010/main" val="1389307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7"/>
            <a:ext cx="8229600" cy="5112568"/>
          </a:xfrm>
        </p:spPr>
        <p:txBody>
          <a:bodyPr>
            <a:normAutofit fontScale="55000" lnSpcReduction="20000"/>
          </a:bodyPr>
          <a:lstStyle/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Integers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floating-point</a:t>
            </a:r>
            <a:r>
              <a:rPr lang="en-GB" dirty="0"/>
              <a:t> numbers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  <a:r>
              <a:rPr lang="en-GB" dirty="0"/>
              <a:t> can be formatted so that they occupy at least some minimum width.</a:t>
            </a:r>
          </a:p>
          <a:p>
            <a:r>
              <a:rPr lang="en-GB" dirty="0"/>
              <a:t>Python uses format specifiers, a sequence of characters that describe the formatting.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Floating-point: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.7f </a:t>
            </a:r>
            <a:r>
              <a:rPr lang="en-GB" dirty="0"/>
              <a:t>indicates that 7 digits should appear to the right of the decimal point.</a:t>
            </a:r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%5.2f </a:t>
            </a:r>
            <a:r>
              <a:rPr lang="en-GB" dirty="0"/>
              <a:t>format tells Python that the total of at least 5 spaces should be used to display a number, with 2 digits to the right of the decimal point.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“%d” % x </a:t>
            </a:r>
            <a:r>
              <a:rPr lang="en-GB" dirty="0"/>
              <a:t>(value stored in x is formatted as a decimal (based 10) integer</a:t>
            </a:r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“%f” % y </a:t>
            </a:r>
            <a:r>
              <a:rPr lang="en-GB" dirty="0"/>
              <a:t>(value is stored in y is formatted as a floating point number)</a:t>
            </a:r>
          </a:p>
          <a:p>
            <a:endParaRPr lang="en-GB" dirty="0"/>
          </a:p>
          <a:p>
            <a:r>
              <a:rPr lang="en-US" dirty="0">
                <a:latin typeface="Abadi ExtraLight" panose="020B0204020104020204" pitchFamily="34" charset="0"/>
              </a:rPr>
              <a:t>f-strings</a:t>
            </a:r>
            <a:r>
              <a:rPr lang="en-US" dirty="0"/>
              <a:t> are a convenient way to insert variable values or expressions directly inside a string.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E7133-4F6A-522A-4375-6966439A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5949280"/>
            <a:ext cx="3210373" cy="638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423B0-7887-10EF-773C-B71217D3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6240940"/>
            <a:ext cx="1800476" cy="29531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FE6E98-1047-9BA0-9C81-1BE8E6AD5043}"/>
              </a:ext>
            </a:extLst>
          </p:cNvPr>
          <p:cNvCxnSpPr>
            <a:cxnSpLocks/>
          </p:cNvCxnSpPr>
          <p:nvPr/>
        </p:nvCxnSpPr>
        <p:spPr>
          <a:xfrm>
            <a:off x="2195736" y="5445224"/>
            <a:ext cx="0" cy="3600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F7DF22-233B-189C-9C8B-6032DBE31B2E}"/>
              </a:ext>
            </a:extLst>
          </p:cNvPr>
          <p:cNvCxnSpPr>
            <a:cxnSpLocks/>
          </p:cNvCxnSpPr>
          <p:nvPr/>
        </p:nvCxnSpPr>
        <p:spPr>
          <a:xfrm>
            <a:off x="4139952" y="6388598"/>
            <a:ext cx="96609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56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6505</TotalTime>
  <Words>1203</Words>
  <Application>Microsoft Office PowerPoint</Application>
  <PresentationFormat>On-screen Show (4:3)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Abadi ExtraLight</vt:lpstr>
      <vt:lpstr>Arial</vt:lpstr>
      <vt:lpstr>Calibri</vt:lpstr>
      <vt:lpstr>Courier New</vt:lpstr>
      <vt:lpstr>Office Theme</vt:lpstr>
      <vt:lpstr>Python - Basics</vt:lpstr>
      <vt:lpstr>Storing and Manipulating Values</vt:lpstr>
      <vt:lpstr>Working with strings</vt:lpstr>
      <vt:lpstr>Working with strings</vt:lpstr>
      <vt:lpstr>Working with strings</vt:lpstr>
      <vt:lpstr>Working with strings</vt:lpstr>
      <vt:lpstr>Working with strings</vt:lpstr>
      <vt:lpstr>Working with strings</vt:lpstr>
      <vt:lpstr>Working with strings</vt:lpstr>
      <vt:lpstr>Working with strings</vt:lpstr>
      <vt:lpstr>Working with strings</vt:lpstr>
      <vt:lpstr>Lower, Upper case, Indentation</vt:lpstr>
      <vt:lpstr>Working with strings</vt:lpstr>
      <vt:lpstr>Working with strings</vt:lpstr>
      <vt:lpstr>Formatting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Basics</dc:title>
  <dc:creator>Mireilla Bikanga</dc:creator>
  <cp:lastModifiedBy>Mireilla Bikanga Ada</cp:lastModifiedBy>
  <cp:revision>91</cp:revision>
  <dcterms:created xsi:type="dcterms:W3CDTF">2019-08-12T15:44:16Z</dcterms:created>
  <dcterms:modified xsi:type="dcterms:W3CDTF">2026-09-14T18:59:15Z</dcterms:modified>
</cp:coreProperties>
</file>
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632191-2B86-4A29-93BD-230232955CC9}" v="1" dt="2026-09-17T10:07:51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90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eilla Bikanga Ada" userId="b964f4d4-5927-4a33-a1eb-35030e652755" providerId="ADAL" clId="{A46988CF-BACF-4872-8EC1-69BC73F08BCA}"/>
    <pc:docChg chg="custSel modSld">
      <pc:chgData name="Mireilla Bikanga Ada" userId="b964f4d4-5927-4a33-a1eb-35030e652755" providerId="ADAL" clId="{A46988CF-BACF-4872-8EC1-69BC73F08BCA}" dt="2026-09-17T10:08:15.805" v="42" actId="1076"/>
      <pc:docMkLst>
        <pc:docMk/>
      </pc:docMkLst>
      <pc:sldChg chg="addSp modSp mod">
        <pc:chgData name="Mireilla Bikanga Ada" userId="b964f4d4-5927-4a33-a1eb-35030e652755" providerId="ADAL" clId="{A46988CF-BACF-4872-8EC1-69BC73F08BCA}" dt="2026-09-17T10:08:15.805" v="42" actId="1076"/>
        <pc:sldMkLst>
          <pc:docMk/>
          <pc:sldMk cId="1391614617" sldId="260"/>
        </pc:sldMkLst>
        <pc:spChg chg="add mod">
          <ac:chgData name="Mireilla Bikanga Ada" userId="b964f4d4-5927-4a33-a1eb-35030e652755" providerId="ADAL" clId="{A46988CF-BACF-4872-8EC1-69BC73F08BCA}" dt="2026-09-17T10:08:15.805" v="42" actId="1076"/>
          <ac:spMkLst>
            <pc:docMk/>
            <pc:sldMk cId="1391614617" sldId="260"/>
            <ac:spMk id="5" creationId="{E2D1DE1C-25D5-A9F2-9B93-F173D0FCBB99}"/>
          </ac:spMkLst>
        </pc:spChg>
        <pc:picChg chg="add mod">
          <ac:chgData name="Mireilla Bikanga Ada" userId="b964f4d4-5927-4a33-a1eb-35030e652755" providerId="ADAL" clId="{A46988CF-BACF-4872-8EC1-69BC73F08BCA}" dt="2026-09-17T10:07:47.902" v="5" actId="1076"/>
          <ac:picMkLst>
            <pc:docMk/>
            <pc:sldMk cId="1391614617" sldId="260"/>
            <ac:picMk id="4" creationId="{999002DD-DBC7-9FA8-B732-C6028C9CD5A9}"/>
          </ac:picMkLst>
        </pc:picChg>
        <pc:picChg chg="mod">
          <ac:chgData name="Mireilla Bikanga Ada" userId="b964f4d4-5927-4a33-a1eb-35030e652755" providerId="ADAL" clId="{A46988CF-BACF-4872-8EC1-69BC73F08BCA}" dt="2026-09-17T10:07:16.911" v="2" actId="14100"/>
          <ac:picMkLst>
            <pc:docMk/>
            <pc:sldMk cId="1391614617" sldId="260"/>
            <ac:picMk id="7" creationId="{BCE0505C-7AF9-4129-9BE0-DD5F3E8AE13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70B02-2A47-4243-9DB2-14142851D6F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8987-14E1-40A9-BC3C-8BC3553952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913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70B02-2A47-4243-9DB2-14142851D6F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8987-14E1-40A9-BC3C-8BC3553952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212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70B02-2A47-4243-9DB2-14142851D6F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8987-14E1-40A9-BC3C-8BC3553952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8730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70B02-2A47-4243-9DB2-14142851D6F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8987-14E1-40A9-BC3C-8BC3553952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0437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70B02-2A47-4243-9DB2-14142851D6F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8987-14E1-40A9-BC3C-8BC3553952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640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70B02-2A47-4243-9DB2-14142851D6F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8987-14E1-40A9-BC3C-8BC3553952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8599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70B02-2A47-4243-9DB2-14142851D6F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8987-14E1-40A9-BC3C-8BC3553952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179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70B02-2A47-4243-9DB2-14142851D6F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8987-14E1-40A9-BC3C-8BC3553952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216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70B02-2A47-4243-9DB2-14142851D6F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8987-14E1-40A9-BC3C-8BC3553952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794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70B02-2A47-4243-9DB2-14142851D6F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8987-14E1-40A9-BC3C-8BC3553952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487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70B02-2A47-4243-9DB2-14142851D6F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8987-14E1-40A9-BC3C-8BC3553952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006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70B02-2A47-4243-9DB2-14142851D6F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CF8987-14E1-40A9-BC3C-8BC3553952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0141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Object-Oriented Programming (OOP) in Python</a:t>
            </a:r>
          </a:p>
        </p:txBody>
      </p:sp>
    </p:spTree>
    <p:extLst>
      <p:ext uri="{BB962C8B-B14F-4D97-AF65-F5344CB8AC3E}">
        <p14:creationId xmlns:p14="http://schemas.microsoft.com/office/powerpoint/2010/main" val="986930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D44E8-2CF8-4340-A0EF-779AF59B0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Object-Oriented Programming(OOP)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0575C-9BB1-4B94-A3E5-0D1E291FD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050904" cy="4525963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OOP is a programming paradigm that allows us to  structure programs in a way that 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properties (or attributes)</a:t>
            </a:r>
            <a:r>
              <a:rPr lang="en-GB" dirty="0"/>
              <a:t> and 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behaviours</a:t>
            </a:r>
            <a:r>
              <a:rPr lang="en-GB" dirty="0"/>
              <a:t> of real things are combined into separated objects. In other words, real objects are modelled as program objects.</a:t>
            </a:r>
          </a:p>
          <a:p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OOP </a:t>
            </a:r>
            <a:r>
              <a:rPr lang="en-US" dirty="0" err="1"/>
              <a:t>organises</a:t>
            </a:r>
            <a:r>
              <a:rPr lang="en-US" dirty="0"/>
              <a:t> programs around objects that combine data (attributes) and behaviour (methods).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29065-5CE5-4908-8600-79E83895C77E}"/>
              </a:ext>
            </a:extLst>
          </p:cNvPr>
          <p:cNvSpPr txBox="1"/>
          <p:nvPr/>
        </p:nvSpPr>
        <p:spPr>
          <a:xfrm>
            <a:off x="5868144" y="1844824"/>
            <a:ext cx="3024336" cy="3416320"/>
          </a:xfrm>
          <a:prstGeom prst="rect">
            <a:avLst/>
          </a:prstGeom>
          <a:noFill/>
          <a:ln>
            <a:solidFill>
              <a:srgbClr val="7030A0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Example: An object can represent a person with a name, age, address, height, etc. the behaviours of that person could be walking, talking and running.</a:t>
            </a:r>
          </a:p>
        </p:txBody>
      </p:sp>
    </p:spTree>
    <p:extLst>
      <p:ext uri="{BB962C8B-B14F-4D97-AF65-F5344CB8AC3E}">
        <p14:creationId xmlns:p14="http://schemas.microsoft.com/office/powerpoint/2010/main" val="2776551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6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F755A0-E255-4A7B-BFDC-5923D446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" y="29326"/>
            <a:ext cx="3418696" cy="807386"/>
          </a:xfrm>
        </p:spPr>
        <p:txBody>
          <a:bodyPr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Python Classes and Objects (Instances)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659144"/>
            <a:ext cx="2674620" cy="18288"/>
          </a:xfrm>
          <a:custGeom>
            <a:avLst/>
            <a:gdLst>
              <a:gd name="csX0" fmla="*/ 0 w 2674620"/>
              <a:gd name="csY0" fmla="*/ 0 h 18288"/>
              <a:gd name="csX1" fmla="*/ 668655 w 2674620"/>
              <a:gd name="csY1" fmla="*/ 0 h 18288"/>
              <a:gd name="csX2" fmla="*/ 1364056 w 2674620"/>
              <a:gd name="csY2" fmla="*/ 0 h 18288"/>
              <a:gd name="csX3" fmla="*/ 2005965 w 2674620"/>
              <a:gd name="csY3" fmla="*/ 0 h 18288"/>
              <a:gd name="csX4" fmla="*/ 2674620 w 2674620"/>
              <a:gd name="csY4" fmla="*/ 0 h 18288"/>
              <a:gd name="csX5" fmla="*/ 2674620 w 2674620"/>
              <a:gd name="csY5" fmla="*/ 18288 h 18288"/>
              <a:gd name="csX6" fmla="*/ 1979219 w 2674620"/>
              <a:gd name="csY6" fmla="*/ 18288 h 18288"/>
              <a:gd name="csX7" fmla="*/ 1364056 w 2674620"/>
              <a:gd name="csY7" fmla="*/ 18288 h 18288"/>
              <a:gd name="csX8" fmla="*/ 748894 w 2674620"/>
              <a:gd name="csY8" fmla="*/ 18288 h 18288"/>
              <a:gd name="csX9" fmla="*/ 0 w 2674620"/>
              <a:gd name="csY9" fmla="*/ 18288 h 18288"/>
              <a:gd name="csX10" fmla="*/ 0 w 267462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74620" h="18288" fill="none" extrusionOk="0">
                <a:moveTo>
                  <a:pt x="0" y="0"/>
                </a:moveTo>
                <a:cubicBezTo>
                  <a:pt x="244784" y="-59462"/>
                  <a:pt x="371059" y="-9567"/>
                  <a:pt x="641909" y="0"/>
                </a:cubicBezTo>
                <a:cubicBezTo>
                  <a:pt x="852702" y="-34394"/>
                  <a:pt x="1150197" y="-13026"/>
                  <a:pt x="1337310" y="0"/>
                </a:cubicBezTo>
                <a:cubicBezTo>
                  <a:pt x="1545002" y="462"/>
                  <a:pt x="1824883" y="-27411"/>
                  <a:pt x="1979219" y="0"/>
                </a:cubicBezTo>
                <a:cubicBezTo>
                  <a:pt x="2152005" y="-16441"/>
                  <a:pt x="2392100" y="-18994"/>
                  <a:pt x="2674620" y="0"/>
                </a:cubicBezTo>
                <a:cubicBezTo>
                  <a:pt x="2674339" y="6049"/>
                  <a:pt x="2675054" y="9680"/>
                  <a:pt x="2674620" y="18288"/>
                </a:cubicBezTo>
                <a:cubicBezTo>
                  <a:pt x="2423389" y="24148"/>
                  <a:pt x="2141968" y="-7936"/>
                  <a:pt x="1952473" y="18288"/>
                </a:cubicBezTo>
                <a:cubicBezTo>
                  <a:pt x="1780305" y="17626"/>
                  <a:pt x="1496173" y="19594"/>
                  <a:pt x="1257071" y="18288"/>
                </a:cubicBezTo>
                <a:cubicBezTo>
                  <a:pt x="1056953" y="-3384"/>
                  <a:pt x="901133" y="52866"/>
                  <a:pt x="615163" y="18288"/>
                </a:cubicBezTo>
                <a:cubicBezTo>
                  <a:pt x="349800" y="-20258"/>
                  <a:pt x="273215" y="4261"/>
                  <a:pt x="0" y="18288"/>
                </a:cubicBezTo>
                <a:cubicBezTo>
                  <a:pt x="114" y="10799"/>
                  <a:pt x="22" y="7235"/>
                  <a:pt x="0" y="0"/>
                </a:cubicBezTo>
                <a:close/>
              </a:path>
              <a:path w="2674620" h="18288" stroke="0" extrusionOk="0">
                <a:moveTo>
                  <a:pt x="0" y="0"/>
                </a:moveTo>
                <a:cubicBezTo>
                  <a:pt x="204439" y="-5824"/>
                  <a:pt x="392275" y="-30066"/>
                  <a:pt x="668655" y="0"/>
                </a:cubicBezTo>
                <a:cubicBezTo>
                  <a:pt x="957286" y="-376"/>
                  <a:pt x="1203158" y="45046"/>
                  <a:pt x="1364056" y="0"/>
                </a:cubicBezTo>
                <a:cubicBezTo>
                  <a:pt x="1550728" y="-8702"/>
                  <a:pt x="1671920" y="-3421"/>
                  <a:pt x="2005965" y="0"/>
                </a:cubicBezTo>
                <a:cubicBezTo>
                  <a:pt x="2322666" y="-135"/>
                  <a:pt x="2467652" y="-30677"/>
                  <a:pt x="2674620" y="0"/>
                </a:cubicBezTo>
                <a:cubicBezTo>
                  <a:pt x="2674455" y="7408"/>
                  <a:pt x="2674515" y="10716"/>
                  <a:pt x="2674620" y="18288"/>
                </a:cubicBezTo>
                <a:cubicBezTo>
                  <a:pt x="2371053" y="15470"/>
                  <a:pt x="2240924" y="26204"/>
                  <a:pt x="1979219" y="18288"/>
                </a:cubicBezTo>
                <a:cubicBezTo>
                  <a:pt x="1712405" y="9551"/>
                  <a:pt x="1538156" y="12622"/>
                  <a:pt x="1364056" y="18288"/>
                </a:cubicBezTo>
                <a:cubicBezTo>
                  <a:pt x="1249783" y="39943"/>
                  <a:pt x="985576" y="-5190"/>
                  <a:pt x="748894" y="18288"/>
                </a:cubicBezTo>
                <a:cubicBezTo>
                  <a:pt x="476497" y="7820"/>
                  <a:pt x="170842" y="20123"/>
                  <a:pt x="0" y="18288"/>
                </a:cubicBezTo>
                <a:cubicBezTo>
                  <a:pt x="-1620" y="12908"/>
                  <a:pt x="1024" y="6832"/>
                  <a:pt x="0" y="0"/>
                </a:cubicBezTo>
                <a:close/>
              </a:path>
              <a:path w="2674620" h="18288" fill="none" stroke="0" extrusionOk="0">
                <a:moveTo>
                  <a:pt x="0" y="0"/>
                </a:moveTo>
                <a:cubicBezTo>
                  <a:pt x="232099" y="-30512"/>
                  <a:pt x="411137" y="-34014"/>
                  <a:pt x="641909" y="0"/>
                </a:cubicBezTo>
                <a:cubicBezTo>
                  <a:pt x="859586" y="38119"/>
                  <a:pt x="1134207" y="4042"/>
                  <a:pt x="1337310" y="0"/>
                </a:cubicBezTo>
                <a:cubicBezTo>
                  <a:pt x="1567199" y="2223"/>
                  <a:pt x="1786850" y="8560"/>
                  <a:pt x="1979219" y="0"/>
                </a:cubicBezTo>
                <a:cubicBezTo>
                  <a:pt x="2153019" y="-5186"/>
                  <a:pt x="2360582" y="-4792"/>
                  <a:pt x="2674620" y="0"/>
                </a:cubicBezTo>
                <a:cubicBezTo>
                  <a:pt x="2674701" y="6251"/>
                  <a:pt x="2673798" y="9735"/>
                  <a:pt x="2674620" y="18288"/>
                </a:cubicBezTo>
                <a:cubicBezTo>
                  <a:pt x="2399111" y="61308"/>
                  <a:pt x="2147818" y="-25906"/>
                  <a:pt x="1952473" y="18288"/>
                </a:cubicBezTo>
                <a:cubicBezTo>
                  <a:pt x="1782364" y="48296"/>
                  <a:pt x="1427541" y="40602"/>
                  <a:pt x="1257071" y="18288"/>
                </a:cubicBezTo>
                <a:cubicBezTo>
                  <a:pt x="1035614" y="24244"/>
                  <a:pt x="862673" y="27626"/>
                  <a:pt x="615163" y="18288"/>
                </a:cubicBezTo>
                <a:cubicBezTo>
                  <a:pt x="345340" y="-22046"/>
                  <a:pt x="289158" y="22972"/>
                  <a:pt x="0" y="18288"/>
                </a:cubicBezTo>
                <a:cubicBezTo>
                  <a:pt x="1013" y="10844"/>
                  <a:pt x="-1097" y="783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custGeom>
                    <a:avLst/>
                    <a:gdLst>
                      <a:gd name="connsiteX0" fmla="*/ 0 w 2674620"/>
                      <a:gd name="connsiteY0" fmla="*/ 0 h 18288"/>
                      <a:gd name="connsiteX1" fmla="*/ 641909 w 2674620"/>
                      <a:gd name="connsiteY1" fmla="*/ 0 h 18288"/>
                      <a:gd name="connsiteX2" fmla="*/ 1337310 w 2674620"/>
                      <a:gd name="connsiteY2" fmla="*/ 0 h 18288"/>
                      <a:gd name="connsiteX3" fmla="*/ 1979219 w 2674620"/>
                      <a:gd name="connsiteY3" fmla="*/ 0 h 18288"/>
                      <a:gd name="connsiteX4" fmla="*/ 2674620 w 2674620"/>
                      <a:gd name="connsiteY4" fmla="*/ 0 h 18288"/>
                      <a:gd name="connsiteX5" fmla="*/ 2674620 w 2674620"/>
                      <a:gd name="connsiteY5" fmla="*/ 18288 h 18288"/>
                      <a:gd name="connsiteX6" fmla="*/ 1952473 w 2674620"/>
                      <a:gd name="connsiteY6" fmla="*/ 18288 h 18288"/>
                      <a:gd name="connsiteX7" fmla="*/ 1257071 w 2674620"/>
                      <a:gd name="connsiteY7" fmla="*/ 18288 h 18288"/>
                      <a:gd name="connsiteX8" fmla="*/ 615163 w 2674620"/>
                      <a:gd name="connsiteY8" fmla="*/ 18288 h 18288"/>
                      <a:gd name="connsiteX9" fmla="*/ 0 w 2674620"/>
                      <a:gd name="connsiteY9" fmla="*/ 18288 h 18288"/>
                      <a:gd name="connsiteX10" fmla="*/ 0 w 2674620"/>
                      <a:gd name="connsiteY10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74620" h="18288" fill="none" extrusionOk="0">
                        <a:moveTo>
                          <a:pt x="0" y="0"/>
                        </a:moveTo>
                        <a:cubicBezTo>
                          <a:pt x="223686" y="-27283"/>
                          <a:pt x="416037" y="8041"/>
                          <a:pt x="641909" y="0"/>
                        </a:cubicBezTo>
                        <a:cubicBezTo>
                          <a:pt x="867781" y="-8041"/>
                          <a:pt x="1125885" y="15252"/>
                          <a:pt x="1337310" y="0"/>
                        </a:cubicBezTo>
                        <a:cubicBezTo>
                          <a:pt x="1548735" y="-15252"/>
                          <a:pt x="1809020" y="-2338"/>
                          <a:pt x="1979219" y="0"/>
                        </a:cubicBezTo>
                        <a:cubicBezTo>
                          <a:pt x="2149418" y="2338"/>
                          <a:pt x="2403746" y="-23101"/>
                          <a:pt x="2674620" y="0"/>
                        </a:cubicBezTo>
                        <a:cubicBezTo>
                          <a:pt x="2674874" y="6173"/>
                          <a:pt x="2674321" y="9417"/>
                          <a:pt x="2674620" y="18288"/>
                        </a:cubicBezTo>
                        <a:cubicBezTo>
                          <a:pt x="2384204" y="39407"/>
                          <a:pt x="2124794" y="9377"/>
                          <a:pt x="1952473" y="18288"/>
                        </a:cubicBezTo>
                        <a:cubicBezTo>
                          <a:pt x="1780152" y="27199"/>
                          <a:pt x="1469502" y="9163"/>
                          <a:pt x="1257071" y="18288"/>
                        </a:cubicBezTo>
                        <a:cubicBezTo>
                          <a:pt x="1044640" y="27413"/>
                          <a:pt x="886842" y="49997"/>
                          <a:pt x="615163" y="18288"/>
                        </a:cubicBezTo>
                        <a:cubicBezTo>
                          <a:pt x="343484" y="-13421"/>
                          <a:pt x="280198" y="10146"/>
                          <a:pt x="0" y="18288"/>
                        </a:cubicBezTo>
                        <a:cubicBezTo>
                          <a:pt x="569" y="10806"/>
                          <a:pt x="-314" y="7671"/>
                          <a:pt x="0" y="0"/>
                        </a:cubicBezTo>
                        <a:close/>
                      </a:path>
                      <a:path w="2674620" h="18288" stroke="0" extrusionOk="0">
                        <a:moveTo>
                          <a:pt x="0" y="0"/>
                        </a:moveTo>
                        <a:cubicBezTo>
                          <a:pt x="231855" y="-1293"/>
                          <a:pt x="402066" y="-28662"/>
                          <a:pt x="668655" y="0"/>
                        </a:cubicBezTo>
                        <a:cubicBezTo>
                          <a:pt x="935244" y="28662"/>
                          <a:pt x="1178759" y="24409"/>
                          <a:pt x="1364056" y="0"/>
                        </a:cubicBezTo>
                        <a:cubicBezTo>
                          <a:pt x="1549353" y="-24409"/>
                          <a:pt x="1706883" y="-9273"/>
                          <a:pt x="2005965" y="0"/>
                        </a:cubicBezTo>
                        <a:cubicBezTo>
                          <a:pt x="2305047" y="9273"/>
                          <a:pt x="2446507" y="-22114"/>
                          <a:pt x="2674620" y="0"/>
                        </a:cubicBezTo>
                        <a:cubicBezTo>
                          <a:pt x="2674290" y="6753"/>
                          <a:pt x="2674363" y="10653"/>
                          <a:pt x="2674620" y="18288"/>
                        </a:cubicBezTo>
                        <a:cubicBezTo>
                          <a:pt x="2376619" y="8269"/>
                          <a:pt x="2249009" y="47455"/>
                          <a:pt x="1979219" y="18288"/>
                        </a:cubicBezTo>
                        <a:cubicBezTo>
                          <a:pt x="1709429" y="-10879"/>
                          <a:pt x="1513733" y="36040"/>
                          <a:pt x="1364056" y="18288"/>
                        </a:cubicBezTo>
                        <a:cubicBezTo>
                          <a:pt x="1214379" y="536"/>
                          <a:pt x="982991" y="18989"/>
                          <a:pt x="748894" y="18288"/>
                        </a:cubicBezTo>
                        <a:cubicBezTo>
                          <a:pt x="514797" y="17587"/>
                          <a:pt x="177151" y="-5811"/>
                          <a:pt x="0" y="18288"/>
                        </a:cubicBezTo>
                        <a:cubicBezTo>
                          <a:pt x="-751" y="13461"/>
                          <a:pt x="911" y="748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50609-0113-48DD-B9EF-0B1ACE91A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25" y="910069"/>
            <a:ext cx="4230182" cy="3160504"/>
          </a:xfrm>
          <a:ln>
            <a:solidFill>
              <a:schemeClr val="accent5">
                <a:lumMod val="50000"/>
              </a:schemeClr>
            </a:solidFill>
            <a:prstDash val="lgDashDot"/>
          </a:ln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1600" dirty="0"/>
              <a:t>A </a:t>
            </a:r>
            <a:r>
              <a:rPr lang="en-GB" sz="1600" b="1" dirty="0"/>
              <a:t>class</a:t>
            </a:r>
            <a:r>
              <a:rPr lang="en-GB" sz="1600" dirty="0"/>
              <a:t> is a program template that allows us to create objects. It </a:t>
            </a:r>
            <a:r>
              <a:rPr lang="en-US" sz="1600" dirty="0"/>
              <a:t>is a blueprint for creating objects.</a:t>
            </a:r>
            <a:endParaRPr lang="en-GB" sz="1600" dirty="0"/>
          </a:p>
          <a:p>
            <a:pPr>
              <a:lnSpc>
                <a:spcPct val="90000"/>
              </a:lnSpc>
            </a:pPr>
            <a:endParaRPr lang="en-GB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600" dirty="0"/>
              <a:t>The keyword </a:t>
            </a:r>
            <a:r>
              <a:rPr lang="en-GB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GB" sz="1600" dirty="0"/>
              <a:t> is used to create a class.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600" dirty="0"/>
              <a:t>For example we could create a Employees() class that will indicate that the name and other details that are required.</a:t>
            </a:r>
          </a:p>
          <a:p>
            <a:pPr>
              <a:lnSpc>
                <a:spcPct val="90000"/>
              </a:lnSpc>
            </a:pPr>
            <a:endParaRPr lang="en-GB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600" dirty="0"/>
              <a:t>A class does not tell us what the name or other details are. It is an abstract concept. A class helps organise information. We can think of a class as an empty form.</a:t>
            </a:r>
          </a:p>
          <a:p>
            <a:pPr>
              <a:lnSpc>
                <a:spcPct val="90000"/>
              </a:lnSpc>
            </a:pPr>
            <a:endParaRPr lang="en-GB" sz="1600" dirty="0"/>
          </a:p>
          <a:p>
            <a:pPr>
              <a:lnSpc>
                <a:spcPct val="90000"/>
              </a:lnSpc>
            </a:pPr>
            <a:endParaRPr lang="en-GB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876A36-CAA3-497E-80C3-BC42A4233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950" y="3447687"/>
            <a:ext cx="2324862" cy="1040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F5904C-B0A0-4E54-BD8A-F7F354DC1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606" y="444192"/>
            <a:ext cx="4319569" cy="18466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E5E397-B310-4532-8219-350F870DE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7483" y="4250218"/>
            <a:ext cx="2324862" cy="10345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403292-E4FF-48CF-9833-0CA13A16DD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028" y="5217798"/>
            <a:ext cx="2839212" cy="1263449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C7129C-FD63-4349-B20C-87A45805CA2D}"/>
              </a:ext>
            </a:extLst>
          </p:cNvPr>
          <p:cNvSpPr txBox="1">
            <a:spLocks/>
          </p:cNvSpPr>
          <p:nvPr/>
        </p:nvSpPr>
        <p:spPr>
          <a:xfrm>
            <a:off x="4716016" y="1268760"/>
            <a:ext cx="38267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1B2B68-5E89-4F4E-B36E-A75EFBE22525}"/>
              </a:ext>
            </a:extLst>
          </p:cNvPr>
          <p:cNvCxnSpPr>
            <a:cxnSpLocks/>
          </p:cNvCxnSpPr>
          <p:nvPr/>
        </p:nvCxnSpPr>
        <p:spPr>
          <a:xfrm flipV="1">
            <a:off x="4441827" y="2106305"/>
            <a:ext cx="552153" cy="701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8CE464A-30CB-4D3E-9A0F-951F03577158}"/>
              </a:ext>
            </a:extLst>
          </p:cNvPr>
          <p:cNvSpPr txBox="1"/>
          <p:nvPr/>
        </p:nvSpPr>
        <p:spPr>
          <a:xfrm>
            <a:off x="34033" y="4204718"/>
            <a:ext cx="5343450" cy="1477328"/>
          </a:xfrm>
          <a:custGeom>
            <a:avLst/>
            <a:gdLst>
              <a:gd name="csX0" fmla="*/ 0 w 5343450"/>
              <a:gd name="csY0" fmla="*/ 0 h 1477328"/>
              <a:gd name="csX1" fmla="*/ 540282 w 5343450"/>
              <a:gd name="csY1" fmla="*/ 0 h 1477328"/>
              <a:gd name="csX2" fmla="*/ 973695 w 5343450"/>
              <a:gd name="csY2" fmla="*/ 0 h 1477328"/>
              <a:gd name="csX3" fmla="*/ 1674281 w 5343450"/>
              <a:gd name="csY3" fmla="*/ 0 h 1477328"/>
              <a:gd name="csX4" fmla="*/ 2214563 w 5343450"/>
              <a:gd name="csY4" fmla="*/ 0 h 1477328"/>
              <a:gd name="csX5" fmla="*/ 2754845 w 5343450"/>
              <a:gd name="csY5" fmla="*/ 0 h 1477328"/>
              <a:gd name="csX6" fmla="*/ 3455431 w 5343450"/>
              <a:gd name="csY6" fmla="*/ 0 h 1477328"/>
              <a:gd name="csX7" fmla="*/ 3942279 w 5343450"/>
              <a:gd name="csY7" fmla="*/ 0 h 1477328"/>
              <a:gd name="csX8" fmla="*/ 4642864 w 5343450"/>
              <a:gd name="csY8" fmla="*/ 0 h 1477328"/>
              <a:gd name="csX9" fmla="*/ 5343450 w 5343450"/>
              <a:gd name="csY9" fmla="*/ 0 h 1477328"/>
              <a:gd name="csX10" fmla="*/ 5343450 w 5343450"/>
              <a:gd name="csY10" fmla="*/ 492443 h 1477328"/>
              <a:gd name="csX11" fmla="*/ 5343450 w 5343450"/>
              <a:gd name="csY11" fmla="*/ 984885 h 1477328"/>
              <a:gd name="csX12" fmla="*/ 5343450 w 5343450"/>
              <a:gd name="csY12" fmla="*/ 1477328 h 1477328"/>
              <a:gd name="csX13" fmla="*/ 4910037 w 5343450"/>
              <a:gd name="csY13" fmla="*/ 1477328 h 1477328"/>
              <a:gd name="csX14" fmla="*/ 4209451 w 5343450"/>
              <a:gd name="csY14" fmla="*/ 1477328 h 1477328"/>
              <a:gd name="csX15" fmla="*/ 3722604 w 5343450"/>
              <a:gd name="csY15" fmla="*/ 1477328 h 1477328"/>
              <a:gd name="csX16" fmla="*/ 3128887 w 5343450"/>
              <a:gd name="csY16" fmla="*/ 1477328 h 1477328"/>
              <a:gd name="csX17" fmla="*/ 2428301 w 5343450"/>
              <a:gd name="csY17" fmla="*/ 1477328 h 1477328"/>
              <a:gd name="csX18" fmla="*/ 1834585 w 5343450"/>
              <a:gd name="csY18" fmla="*/ 1477328 h 1477328"/>
              <a:gd name="csX19" fmla="*/ 1401171 w 5343450"/>
              <a:gd name="csY19" fmla="*/ 1477328 h 1477328"/>
              <a:gd name="csX20" fmla="*/ 914324 w 5343450"/>
              <a:gd name="csY20" fmla="*/ 1477328 h 1477328"/>
              <a:gd name="csX21" fmla="*/ 0 w 5343450"/>
              <a:gd name="csY21" fmla="*/ 1477328 h 1477328"/>
              <a:gd name="csX22" fmla="*/ 0 w 5343450"/>
              <a:gd name="csY22" fmla="*/ 984885 h 1477328"/>
              <a:gd name="csX23" fmla="*/ 0 w 5343450"/>
              <a:gd name="csY23" fmla="*/ 492443 h 1477328"/>
              <a:gd name="csX24" fmla="*/ 0 w 5343450"/>
              <a:gd name="csY24" fmla="*/ 0 h 14773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343450" h="1477328" extrusionOk="0">
                <a:moveTo>
                  <a:pt x="0" y="0"/>
                </a:moveTo>
                <a:cubicBezTo>
                  <a:pt x="121753" y="-55537"/>
                  <a:pt x="353523" y="63166"/>
                  <a:pt x="540282" y="0"/>
                </a:cubicBezTo>
                <a:cubicBezTo>
                  <a:pt x="727041" y="-63166"/>
                  <a:pt x="797568" y="30884"/>
                  <a:pt x="973695" y="0"/>
                </a:cubicBezTo>
                <a:cubicBezTo>
                  <a:pt x="1149822" y="-30884"/>
                  <a:pt x="1531930" y="32759"/>
                  <a:pt x="1674281" y="0"/>
                </a:cubicBezTo>
                <a:cubicBezTo>
                  <a:pt x="1816632" y="-32759"/>
                  <a:pt x="2035264" y="57063"/>
                  <a:pt x="2214563" y="0"/>
                </a:cubicBezTo>
                <a:cubicBezTo>
                  <a:pt x="2393862" y="-57063"/>
                  <a:pt x="2560858" y="4115"/>
                  <a:pt x="2754845" y="0"/>
                </a:cubicBezTo>
                <a:cubicBezTo>
                  <a:pt x="2948832" y="-4115"/>
                  <a:pt x="3240272" y="58508"/>
                  <a:pt x="3455431" y="0"/>
                </a:cubicBezTo>
                <a:cubicBezTo>
                  <a:pt x="3670590" y="-58508"/>
                  <a:pt x="3712409" y="55793"/>
                  <a:pt x="3942279" y="0"/>
                </a:cubicBezTo>
                <a:cubicBezTo>
                  <a:pt x="4172149" y="-55793"/>
                  <a:pt x="4438038" y="35132"/>
                  <a:pt x="4642864" y="0"/>
                </a:cubicBezTo>
                <a:cubicBezTo>
                  <a:pt x="4847690" y="-35132"/>
                  <a:pt x="5042111" y="17569"/>
                  <a:pt x="5343450" y="0"/>
                </a:cubicBezTo>
                <a:cubicBezTo>
                  <a:pt x="5377642" y="165707"/>
                  <a:pt x="5341660" y="320163"/>
                  <a:pt x="5343450" y="492443"/>
                </a:cubicBezTo>
                <a:cubicBezTo>
                  <a:pt x="5345240" y="664723"/>
                  <a:pt x="5343218" y="752494"/>
                  <a:pt x="5343450" y="984885"/>
                </a:cubicBezTo>
                <a:cubicBezTo>
                  <a:pt x="5343682" y="1217276"/>
                  <a:pt x="5319594" y="1340003"/>
                  <a:pt x="5343450" y="1477328"/>
                </a:cubicBezTo>
                <a:cubicBezTo>
                  <a:pt x="5170002" y="1497033"/>
                  <a:pt x="5101060" y="1457526"/>
                  <a:pt x="4910037" y="1477328"/>
                </a:cubicBezTo>
                <a:cubicBezTo>
                  <a:pt x="4719014" y="1497130"/>
                  <a:pt x="4521420" y="1442134"/>
                  <a:pt x="4209451" y="1477328"/>
                </a:cubicBezTo>
                <a:cubicBezTo>
                  <a:pt x="3897482" y="1512522"/>
                  <a:pt x="3877653" y="1433040"/>
                  <a:pt x="3722604" y="1477328"/>
                </a:cubicBezTo>
                <a:cubicBezTo>
                  <a:pt x="3567555" y="1521616"/>
                  <a:pt x="3418582" y="1443532"/>
                  <a:pt x="3128887" y="1477328"/>
                </a:cubicBezTo>
                <a:cubicBezTo>
                  <a:pt x="2839192" y="1511124"/>
                  <a:pt x="2632224" y="1462209"/>
                  <a:pt x="2428301" y="1477328"/>
                </a:cubicBezTo>
                <a:cubicBezTo>
                  <a:pt x="2224378" y="1492447"/>
                  <a:pt x="2104735" y="1462990"/>
                  <a:pt x="1834585" y="1477328"/>
                </a:cubicBezTo>
                <a:cubicBezTo>
                  <a:pt x="1564435" y="1491666"/>
                  <a:pt x="1564730" y="1440563"/>
                  <a:pt x="1401171" y="1477328"/>
                </a:cubicBezTo>
                <a:cubicBezTo>
                  <a:pt x="1237612" y="1514093"/>
                  <a:pt x="1118787" y="1471122"/>
                  <a:pt x="914324" y="1477328"/>
                </a:cubicBezTo>
                <a:cubicBezTo>
                  <a:pt x="709861" y="1483534"/>
                  <a:pt x="288374" y="1441059"/>
                  <a:pt x="0" y="1477328"/>
                </a:cubicBezTo>
                <a:cubicBezTo>
                  <a:pt x="-19344" y="1287804"/>
                  <a:pt x="57740" y="1163878"/>
                  <a:pt x="0" y="984885"/>
                </a:cubicBezTo>
                <a:cubicBezTo>
                  <a:pt x="-57740" y="805892"/>
                  <a:pt x="21220" y="605977"/>
                  <a:pt x="0" y="492443"/>
                </a:cubicBezTo>
                <a:cubicBezTo>
                  <a:pt x="-21220" y="378909"/>
                  <a:pt x="26221" y="147982"/>
                  <a:pt x="0" y="0"/>
                </a:cubicBezTo>
                <a:close/>
              </a:path>
            </a:pathLst>
          </a:custGeom>
          <a:noFill/>
          <a:ln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GB" dirty="0"/>
              <a:t>An 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instance</a:t>
            </a:r>
            <a:r>
              <a:rPr lang="en-GB" dirty="0"/>
              <a:t> is a copy of a class with actual values; it is a specific object created from that class. Many copies can be created. But we need the class (form) to know what information is required. Creating an object of a class is called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instantiation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3A54A3D-C208-48D8-AB14-9BC78D327332}"/>
              </a:ext>
            </a:extLst>
          </p:cNvPr>
          <p:cNvCxnSpPr>
            <a:cxnSpLocks/>
          </p:cNvCxnSpPr>
          <p:nvPr/>
        </p:nvCxnSpPr>
        <p:spPr>
          <a:xfrm>
            <a:off x="5377483" y="5517232"/>
            <a:ext cx="584555" cy="190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Down 24">
            <a:extLst>
              <a:ext uri="{FF2B5EF4-FFF2-40B4-BE49-F238E27FC236}">
                <a16:creationId xmlns:a16="http://schemas.microsoft.com/office/drawing/2014/main" id="{F1C62BA8-A19E-4FD8-8B43-1B7EE9AEF4E5}"/>
              </a:ext>
            </a:extLst>
          </p:cNvPr>
          <p:cNvSpPr/>
          <p:nvPr/>
        </p:nvSpPr>
        <p:spPr>
          <a:xfrm>
            <a:off x="6698593" y="2430776"/>
            <a:ext cx="249671" cy="5243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181DB0-7368-2DD3-B1F8-132ED5BF7D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825" y="5745129"/>
            <a:ext cx="1971950" cy="9812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DEB6A8-E8D8-9FC0-8E21-51F39CEBEBFE}"/>
              </a:ext>
            </a:extLst>
          </p:cNvPr>
          <p:cNvSpPr txBox="1"/>
          <p:nvPr/>
        </p:nvSpPr>
        <p:spPr>
          <a:xfrm>
            <a:off x="2699792" y="5943008"/>
            <a:ext cx="3024336" cy="923330"/>
          </a:xfrm>
          <a:custGeom>
            <a:avLst/>
            <a:gdLst>
              <a:gd name="csX0" fmla="*/ 0 w 3024336"/>
              <a:gd name="csY0" fmla="*/ 0 h 923330"/>
              <a:gd name="csX1" fmla="*/ 473813 w 3024336"/>
              <a:gd name="csY1" fmla="*/ 0 h 923330"/>
              <a:gd name="csX2" fmla="*/ 887139 w 3024336"/>
              <a:gd name="csY2" fmla="*/ 0 h 923330"/>
              <a:gd name="csX3" fmla="*/ 1451681 w 3024336"/>
              <a:gd name="csY3" fmla="*/ 0 h 923330"/>
              <a:gd name="csX4" fmla="*/ 1925494 w 3024336"/>
              <a:gd name="csY4" fmla="*/ 0 h 923330"/>
              <a:gd name="csX5" fmla="*/ 2399307 w 3024336"/>
              <a:gd name="csY5" fmla="*/ 0 h 923330"/>
              <a:gd name="csX6" fmla="*/ 3024336 w 3024336"/>
              <a:gd name="csY6" fmla="*/ 0 h 923330"/>
              <a:gd name="csX7" fmla="*/ 3024336 w 3024336"/>
              <a:gd name="csY7" fmla="*/ 443198 h 923330"/>
              <a:gd name="csX8" fmla="*/ 3024336 w 3024336"/>
              <a:gd name="csY8" fmla="*/ 923330 h 923330"/>
              <a:gd name="csX9" fmla="*/ 2580767 w 3024336"/>
              <a:gd name="csY9" fmla="*/ 923330 h 923330"/>
              <a:gd name="csX10" fmla="*/ 2076711 w 3024336"/>
              <a:gd name="csY10" fmla="*/ 923330 h 923330"/>
              <a:gd name="csX11" fmla="*/ 1572655 w 3024336"/>
              <a:gd name="csY11" fmla="*/ 923330 h 923330"/>
              <a:gd name="csX12" fmla="*/ 1098842 w 3024336"/>
              <a:gd name="csY12" fmla="*/ 923330 h 923330"/>
              <a:gd name="csX13" fmla="*/ 534299 w 3024336"/>
              <a:gd name="csY13" fmla="*/ 923330 h 923330"/>
              <a:gd name="csX14" fmla="*/ 0 w 3024336"/>
              <a:gd name="csY14" fmla="*/ 923330 h 923330"/>
              <a:gd name="csX15" fmla="*/ 0 w 3024336"/>
              <a:gd name="csY15" fmla="*/ 480132 h 923330"/>
              <a:gd name="csX16" fmla="*/ 0 w 3024336"/>
              <a:gd name="csY16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024336" h="923330" extrusionOk="0">
                <a:moveTo>
                  <a:pt x="0" y="0"/>
                </a:moveTo>
                <a:cubicBezTo>
                  <a:pt x="95475" y="-52806"/>
                  <a:pt x="263232" y="26513"/>
                  <a:pt x="473813" y="0"/>
                </a:cubicBezTo>
                <a:cubicBezTo>
                  <a:pt x="684394" y="-26513"/>
                  <a:pt x="762995" y="3009"/>
                  <a:pt x="887139" y="0"/>
                </a:cubicBezTo>
                <a:cubicBezTo>
                  <a:pt x="1011283" y="-3009"/>
                  <a:pt x="1176593" y="53231"/>
                  <a:pt x="1451681" y="0"/>
                </a:cubicBezTo>
                <a:cubicBezTo>
                  <a:pt x="1726769" y="-53231"/>
                  <a:pt x="1708099" y="592"/>
                  <a:pt x="1925494" y="0"/>
                </a:cubicBezTo>
                <a:cubicBezTo>
                  <a:pt x="2142889" y="-592"/>
                  <a:pt x="2228814" y="29264"/>
                  <a:pt x="2399307" y="0"/>
                </a:cubicBezTo>
                <a:cubicBezTo>
                  <a:pt x="2569800" y="-29264"/>
                  <a:pt x="2880646" y="19360"/>
                  <a:pt x="3024336" y="0"/>
                </a:cubicBezTo>
                <a:cubicBezTo>
                  <a:pt x="3062669" y="188300"/>
                  <a:pt x="3024072" y="328992"/>
                  <a:pt x="3024336" y="443198"/>
                </a:cubicBezTo>
                <a:cubicBezTo>
                  <a:pt x="3024600" y="557404"/>
                  <a:pt x="3021266" y="805706"/>
                  <a:pt x="3024336" y="923330"/>
                </a:cubicBezTo>
                <a:cubicBezTo>
                  <a:pt x="2808808" y="934420"/>
                  <a:pt x="2712851" y="900019"/>
                  <a:pt x="2580767" y="923330"/>
                </a:cubicBezTo>
                <a:cubicBezTo>
                  <a:pt x="2448683" y="946641"/>
                  <a:pt x="2300612" y="876321"/>
                  <a:pt x="2076711" y="923330"/>
                </a:cubicBezTo>
                <a:cubicBezTo>
                  <a:pt x="1852810" y="970339"/>
                  <a:pt x="1732470" y="899076"/>
                  <a:pt x="1572655" y="923330"/>
                </a:cubicBezTo>
                <a:cubicBezTo>
                  <a:pt x="1412840" y="947584"/>
                  <a:pt x="1277930" y="867177"/>
                  <a:pt x="1098842" y="923330"/>
                </a:cubicBezTo>
                <a:cubicBezTo>
                  <a:pt x="919754" y="979483"/>
                  <a:pt x="744826" y="872269"/>
                  <a:pt x="534299" y="923330"/>
                </a:cubicBezTo>
                <a:cubicBezTo>
                  <a:pt x="323772" y="974391"/>
                  <a:pt x="181317" y="874996"/>
                  <a:pt x="0" y="923330"/>
                </a:cubicBezTo>
                <a:cubicBezTo>
                  <a:pt x="-11937" y="782128"/>
                  <a:pt x="6703" y="625898"/>
                  <a:pt x="0" y="480132"/>
                </a:cubicBezTo>
                <a:cubicBezTo>
                  <a:pt x="-6703" y="334366"/>
                  <a:pt x="41595" y="124121"/>
                  <a:pt x="0" y="0"/>
                </a:cubicBezTo>
                <a:close/>
              </a:path>
            </a:pathLst>
          </a:custGeom>
          <a:noFill/>
          <a:ln w="2222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dirty="0"/>
              <a:t>employee1 and employee2 are different instances of the Employee class.</a:t>
            </a:r>
            <a:endParaRPr lang="en-GB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144A0F-6939-5F10-16AE-96CA12CB5156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2185655" y="6235735"/>
            <a:ext cx="514137" cy="1689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635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04CD3-85EB-4A6C-9CA9-0CBD167C8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15205"/>
          </a:xfrm>
        </p:spPr>
        <p:txBody>
          <a:bodyPr>
            <a:normAutofit fontScale="90000"/>
          </a:bodyPr>
          <a:lstStyle/>
          <a:p>
            <a:r>
              <a:rPr lang="en-GB" dirty="0"/>
              <a:t>Instance Attribute &amp; Class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58D00-F4BD-4ED9-AB87-94C12EB5D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972067"/>
            <a:ext cx="4176464" cy="454516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dirty="0"/>
              <a:t>Class create objects. All objects contains characteristics called 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attributes</a:t>
            </a:r>
            <a:r>
              <a:rPr lang="en-GB" dirty="0"/>
              <a:t> (properties).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</a:t>
            </a:r>
            <a:r>
              <a:rPr lang="en-GB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() </a:t>
            </a:r>
            <a:r>
              <a:rPr lang="en-US" dirty="0"/>
              <a:t>is a special method that is automatically called after a new instance is created. It is commonly used to </a:t>
            </a:r>
            <a:r>
              <a:rPr lang="en-US" dirty="0" err="1"/>
              <a:t>initialise</a:t>
            </a:r>
            <a:r>
              <a:rPr lang="en-US" dirty="0"/>
              <a:t> instance attributes.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</a:t>
            </a:r>
            <a:r>
              <a:rPr lang="en-GB" dirty="0" err="1"/>
              <a:t>init</a:t>
            </a:r>
            <a:r>
              <a:rPr lang="en-GB" dirty="0"/>
              <a:t> () method should have at least one argument.  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GB" dirty="0"/>
              <a:t> </a:t>
            </a:r>
            <a:r>
              <a:rPr lang="en-US" dirty="0"/>
              <a:t>refers to the current object (instance) of the class. It is used to access that object's attributes and methods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</a:rPr>
              <a:t>self.name</a:t>
            </a: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dirty="0"/>
              <a:t>means the </a:t>
            </a:r>
            <a:r>
              <a:rPr lang="en-GB" dirty="0">
                <a:latin typeface="Courier New" panose="02070309020205020404" pitchFamily="49" charset="0"/>
              </a:rPr>
              <a:t>name</a:t>
            </a:r>
            <a:r>
              <a:rPr lang="en-GB" dirty="0"/>
              <a:t> attribute belonging to that particular </a:t>
            </a:r>
            <a:r>
              <a:rPr lang="en-GB" dirty="0">
                <a:latin typeface="Courier New" panose="02070309020205020404" pitchFamily="49" charset="0"/>
              </a:rPr>
              <a:t>Employee</a:t>
            </a:r>
            <a:r>
              <a:rPr lang="en-GB" dirty="0"/>
              <a:t> object.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self is the standard Python convention for the first parameter of an instance method.</a:t>
            </a: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US" b="1" dirty="0">
                <a:cs typeface="Courier New" panose="02070309020205020404" pitchFamily="49" charset="0"/>
              </a:rPr>
              <a:t>__</a:t>
            </a:r>
            <a:r>
              <a:rPr lang="en-US" b="1" dirty="0" err="1">
                <a:cs typeface="Courier New" panose="02070309020205020404" pitchFamily="49" charset="0"/>
              </a:rPr>
              <a:t>init</a:t>
            </a:r>
            <a:r>
              <a:rPr lang="en-US" dirty="0">
                <a:cs typeface="Courier New" panose="02070309020205020404" pitchFamily="49" charset="0"/>
              </a:rPr>
              <a:t>__() is often informally referred to as the </a:t>
            </a:r>
            <a:r>
              <a:rPr lang="en-US" b="1" dirty="0">
                <a:solidFill>
                  <a:srgbClr val="FF0000"/>
                </a:solidFill>
                <a:cs typeface="Courier New" panose="02070309020205020404" pitchFamily="49" charset="0"/>
              </a:rPr>
              <a:t>constructor</a:t>
            </a:r>
            <a:r>
              <a:rPr lang="en-US" dirty="0">
                <a:cs typeface="Courier New" panose="02070309020205020404" pitchFamily="49" charset="0"/>
              </a:rPr>
              <a:t> in introductory Python teaching, but its main role is to </a:t>
            </a:r>
            <a:r>
              <a:rPr lang="en-US" dirty="0" err="1">
                <a:cs typeface="Courier New" panose="02070309020205020404" pitchFamily="49" charset="0"/>
              </a:rPr>
              <a:t>initialise</a:t>
            </a:r>
            <a:r>
              <a:rPr lang="en-US" dirty="0">
                <a:cs typeface="Courier New" panose="02070309020205020404" pitchFamily="49" charset="0"/>
              </a:rPr>
              <a:t> a newly created object</a:t>
            </a:r>
            <a:r>
              <a:rPr lang="en-GB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D8133F-B4F1-4621-B193-0559D6CDB38D}"/>
              </a:ext>
            </a:extLst>
          </p:cNvPr>
          <p:cNvSpPr txBox="1"/>
          <p:nvPr/>
        </p:nvSpPr>
        <p:spPr>
          <a:xfrm>
            <a:off x="467524" y="5147269"/>
            <a:ext cx="38164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Instance attributes are specific to each object.</a:t>
            </a:r>
          </a:p>
          <a:p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Class attributes are the same for </a:t>
            </a:r>
            <a:r>
              <a:rPr lang="en-GB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instances.</a:t>
            </a:r>
          </a:p>
          <a:p>
            <a:endParaRPr lang="en-GB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A00290-B8AF-403B-B9B7-80AE523E0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4" y="3429000"/>
            <a:ext cx="3438525" cy="1838325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99BBAC29-22EB-42F8-8483-3E0B1876FBAB}"/>
              </a:ext>
            </a:extLst>
          </p:cNvPr>
          <p:cNvSpPr/>
          <p:nvPr/>
        </p:nvSpPr>
        <p:spPr>
          <a:xfrm>
            <a:off x="5508103" y="1249377"/>
            <a:ext cx="3294509" cy="1872208"/>
          </a:xfrm>
          <a:prstGeom prst="wedgeRoundRect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accent1">
                    <a:shade val="5000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49DC1-E5CA-4995-8EE5-EBAE438C181F}"/>
              </a:ext>
            </a:extLst>
          </p:cNvPr>
          <p:cNvSpPr txBox="1"/>
          <p:nvPr/>
        </p:nvSpPr>
        <p:spPr>
          <a:xfrm>
            <a:off x="5652120" y="1308318"/>
            <a:ext cx="3034680" cy="1754326"/>
          </a:xfrm>
          <a:custGeom>
            <a:avLst/>
            <a:gdLst>
              <a:gd name="csX0" fmla="*/ 0 w 3034680"/>
              <a:gd name="csY0" fmla="*/ 0 h 1754326"/>
              <a:gd name="csX1" fmla="*/ 3034680 w 3034680"/>
              <a:gd name="csY1" fmla="*/ 0 h 1754326"/>
              <a:gd name="csX2" fmla="*/ 3034680 w 3034680"/>
              <a:gd name="csY2" fmla="*/ 1754326 h 1754326"/>
              <a:gd name="csX3" fmla="*/ 0 w 3034680"/>
              <a:gd name="csY3" fmla="*/ 1754326 h 1754326"/>
              <a:gd name="csX4" fmla="*/ 0 w 3034680"/>
              <a:gd name="csY4" fmla="*/ 0 h 17543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34680" h="1754326" extrusionOk="0">
                <a:moveTo>
                  <a:pt x="0" y="0"/>
                </a:moveTo>
                <a:cubicBezTo>
                  <a:pt x="454748" y="118645"/>
                  <a:pt x="1889213" y="116012"/>
                  <a:pt x="3034680" y="0"/>
                </a:cubicBezTo>
                <a:cubicBezTo>
                  <a:pt x="3051954" y="469620"/>
                  <a:pt x="2922934" y="1143791"/>
                  <a:pt x="3034680" y="1754326"/>
                </a:cubicBezTo>
                <a:cubicBezTo>
                  <a:pt x="1879102" y="1888926"/>
                  <a:pt x="545827" y="1597130"/>
                  <a:pt x="0" y="1754326"/>
                </a:cubicBezTo>
                <a:cubicBezTo>
                  <a:pt x="111227" y="936605"/>
                  <a:pt x="-8620" y="293506"/>
                  <a:pt x="0" y="0"/>
                </a:cubicBezTo>
                <a:close/>
              </a:path>
            </a:pathLst>
          </a:custGeom>
          <a:noFill/>
          <a:ln>
            <a:solidFill>
              <a:schemeClr val="accent1">
                <a:shade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Although each employee has a unique name and age, each employee will be active (currently employed)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AB13F91-4217-EF49-9F0E-2AA68C1672E0}"/>
              </a:ext>
            </a:extLst>
          </p:cNvPr>
          <p:cNvCxnSpPr>
            <a:cxnSpLocks/>
          </p:cNvCxnSpPr>
          <p:nvPr/>
        </p:nvCxnSpPr>
        <p:spPr>
          <a:xfrm>
            <a:off x="4283948" y="2185481"/>
            <a:ext cx="1512188" cy="2369335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9A33D8-71B2-5719-C93E-52DEC1135E8F}"/>
              </a:ext>
            </a:extLst>
          </p:cNvPr>
          <p:cNvCxnSpPr>
            <a:cxnSpLocks/>
          </p:cNvCxnSpPr>
          <p:nvPr/>
        </p:nvCxnSpPr>
        <p:spPr>
          <a:xfrm>
            <a:off x="4499992" y="3717032"/>
            <a:ext cx="1512168" cy="1224136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450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D9530-FC43-434A-B8BF-B9204C37E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15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dirty="0"/>
              <a:t>Class Employee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0505C-7AF9-4129-9BE0-DD5F3E8AE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904875"/>
            <a:ext cx="5112568" cy="5048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A8757B-2A60-471F-A1E9-DF9AD1042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225" y="4869160"/>
            <a:ext cx="2847975" cy="5048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9002DD-DBC7-9FA8-B732-C6028C9CD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1816" y="2420888"/>
            <a:ext cx="3456384" cy="12574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D1DE1C-25D5-A9F2-9B93-F173D0FCBB99}"/>
              </a:ext>
            </a:extLst>
          </p:cNvPr>
          <p:cNvSpPr txBox="1"/>
          <p:nvPr/>
        </p:nvSpPr>
        <p:spPr>
          <a:xfrm>
            <a:off x="5545475" y="1861917"/>
            <a:ext cx="341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Another example class vs attribute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1614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D7FC5-363D-44B5-AB95-B469BB96D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7" y="116632"/>
            <a:ext cx="4284009" cy="418058"/>
          </a:xfrm>
        </p:spPr>
        <p:txBody>
          <a:bodyPr>
            <a:normAutofit fontScale="90000"/>
          </a:bodyPr>
          <a:lstStyle/>
          <a:p>
            <a:r>
              <a:rPr lang="en-GB" dirty="0"/>
              <a:t>Instance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BB27B-4634-4B62-B381-191157EEF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3294" y="1196752"/>
            <a:ext cx="1872208" cy="271083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Instance methods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/>
              <a:t>define behaviour for an object and can access or modify its instance attributes through </a:t>
            </a:r>
            <a:r>
              <a:rPr lang="en-GB" dirty="0">
                <a:latin typeface="Courier New" panose="02070309020205020404" pitchFamily="49" charset="0"/>
              </a:rPr>
              <a:t>self.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3EA1D4-A1C2-46AF-BF96-244F09E2E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98" y="865823"/>
            <a:ext cx="6810375" cy="42484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C33629-67F1-459C-8032-02F03302C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98" y="5342766"/>
            <a:ext cx="6410325" cy="129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73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5C955-86E4-41E4-8EAD-98DC7C815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0568" y="476672"/>
            <a:ext cx="4226024" cy="192062"/>
          </a:xfrm>
        </p:spPr>
        <p:txBody>
          <a:bodyPr>
            <a:noAutofit/>
          </a:bodyPr>
          <a:lstStyle/>
          <a:p>
            <a:r>
              <a:rPr lang="en-GB" sz="3600" dirty="0"/>
              <a:t>Python Object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18175-C05B-40AC-8DA2-D8C5D43CE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90" y="1268759"/>
            <a:ext cx="3030875" cy="438344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sz="3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Inheritance</a:t>
            </a:r>
            <a:r>
              <a:rPr lang="en-GB" sz="3800" dirty="0"/>
              <a:t> </a:t>
            </a:r>
            <a:r>
              <a:rPr lang="en-GB" sz="4000" dirty="0"/>
              <a:t>allows a child class to reuse and extend behaviour from a parent class</a:t>
            </a:r>
            <a:r>
              <a:rPr lang="en-GB" sz="3800" dirty="0"/>
              <a:t>.</a:t>
            </a:r>
          </a:p>
          <a:p>
            <a:endParaRPr lang="en-GB" sz="3800" dirty="0"/>
          </a:p>
          <a:p>
            <a:pPr marL="0" indent="0">
              <a:buNone/>
            </a:pPr>
            <a:r>
              <a:rPr lang="en-GB" sz="3800" b="1" dirty="0"/>
              <a:t>Child class</a:t>
            </a:r>
            <a:r>
              <a:rPr lang="en-GB" sz="3800" dirty="0"/>
              <a:t>: newly created class.</a:t>
            </a:r>
          </a:p>
          <a:p>
            <a:endParaRPr lang="en-GB" sz="3800" dirty="0"/>
          </a:p>
          <a:p>
            <a:pPr marL="0" indent="0">
              <a:buNone/>
            </a:pPr>
            <a:r>
              <a:rPr lang="en-GB" sz="3800" b="1" dirty="0"/>
              <a:t>Parent class</a:t>
            </a:r>
            <a:r>
              <a:rPr lang="en-GB" sz="3800" dirty="0"/>
              <a:t>: a class from which a child class derives.</a:t>
            </a:r>
          </a:p>
          <a:p>
            <a:endParaRPr lang="en-GB" sz="3800" dirty="0"/>
          </a:p>
          <a:p>
            <a:pPr marL="0" indent="0">
              <a:buNone/>
            </a:pPr>
            <a:r>
              <a:rPr lang="en-GB" sz="3800" dirty="0"/>
              <a:t>Child class </a:t>
            </a:r>
            <a:r>
              <a:rPr lang="en-GB" sz="3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overrides</a:t>
            </a:r>
            <a:r>
              <a:rPr lang="en-GB" sz="3800" dirty="0"/>
              <a:t> or </a:t>
            </a:r>
            <a:r>
              <a:rPr lang="en-GB" sz="3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GB" sz="3800" dirty="0"/>
              <a:t> functionalities: It will take (inherit) all the attributes and behaviour of a parent class and can define further behaviours.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BEEC65-6A11-4C92-9F8F-B2208CCFE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987" y="13414"/>
            <a:ext cx="5684710" cy="48484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F43B08-CB51-43DF-944A-0219013EAF08}"/>
              </a:ext>
            </a:extLst>
          </p:cNvPr>
          <p:cNvSpPr txBox="1"/>
          <p:nvPr/>
        </p:nvSpPr>
        <p:spPr>
          <a:xfrm>
            <a:off x="251519" y="5652203"/>
            <a:ext cx="2716091" cy="1200329"/>
          </a:xfrm>
          <a:custGeom>
            <a:avLst/>
            <a:gdLst>
              <a:gd name="csX0" fmla="*/ 0 w 2716091"/>
              <a:gd name="csY0" fmla="*/ 0 h 1200329"/>
              <a:gd name="csX1" fmla="*/ 516057 w 2716091"/>
              <a:gd name="csY1" fmla="*/ 0 h 1200329"/>
              <a:gd name="csX2" fmla="*/ 977793 w 2716091"/>
              <a:gd name="csY2" fmla="*/ 0 h 1200329"/>
              <a:gd name="csX3" fmla="*/ 1575333 w 2716091"/>
              <a:gd name="csY3" fmla="*/ 0 h 1200329"/>
              <a:gd name="csX4" fmla="*/ 2091390 w 2716091"/>
              <a:gd name="csY4" fmla="*/ 0 h 1200329"/>
              <a:gd name="csX5" fmla="*/ 2716091 w 2716091"/>
              <a:gd name="csY5" fmla="*/ 0 h 1200329"/>
              <a:gd name="csX6" fmla="*/ 2716091 w 2716091"/>
              <a:gd name="csY6" fmla="*/ 424116 h 1200329"/>
              <a:gd name="csX7" fmla="*/ 2716091 w 2716091"/>
              <a:gd name="csY7" fmla="*/ 824226 h 1200329"/>
              <a:gd name="csX8" fmla="*/ 2716091 w 2716091"/>
              <a:gd name="csY8" fmla="*/ 1200329 h 1200329"/>
              <a:gd name="csX9" fmla="*/ 2227195 w 2716091"/>
              <a:gd name="csY9" fmla="*/ 1200329 h 1200329"/>
              <a:gd name="csX10" fmla="*/ 1683976 w 2716091"/>
              <a:gd name="csY10" fmla="*/ 1200329 h 1200329"/>
              <a:gd name="csX11" fmla="*/ 1140758 w 2716091"/>
              <a:gd name="csY11" fmla="*/ 1200329 h 1200329"/>
              <a:gd name="csX12" fmla="*/ 624701 w 2716091"/>
              <a:gd name="csY12" fmla="*/ 1200329 h 1200329"/>
              <a:gd name="csX13" fmla="*/ 0 w 2716091"/>
              <a:gd name="csY13" fmla="*/ 1200329 h 1200329"/>
              <a:gd name="csX14" fmla="*/ 0 w 2716091"/>
              <a:gd name="csY14" fmla="*/ 776213 h 1200329"/>
              <a:gd name="csX15" fmla="*/ 0 w 2716091"/>
              <a:gd name="csY15" fmla="*/ 352097 h 1200329"/>
              <a:gd name="csX16" fmla="*/ 0 w 2716091"/>
              <a:gd name="csY16" fmla="*/ 0 h 1200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716091" h="1200329" extrusionOk="0">
                <a:moveTo>
                  <a:pt x="0" y="0"/>
                </a:moveTo>
                <a:cubicBezTo>
                  <a:pt x="172789" y="-5679"/>
                  <a:pt x="290441" y="56069"/>
                  <a:pt x="516057" y="0"/>
                </a:cubicBezTo>
                <a:cubicBezTo>
                  <a:pt x="741673" y="-56069"/>
                  <a:pt x="787235" y="9482"/>
                  <a:pt x="977793" y="0"/>
                </a:cubicBezTo>
                <a:cubicBezTo>
                  <a:pt x="1168351" y="-9482"/>
                  <a:pt x="1444469" y="24960"/>
                  <a:pt x="1575333" y="0"/>
                </a:cubicBezTo>
                <a:cubicBezTo>
                  <a:pt x="1706197" y="-24960"/>
                  <a:pt x="1888121" y="38397"/>
                  <a:pt x="2091390" y="0"/>
                </a:cubicBezTo>
                <a:cubicBezTo>
                  <a:pt x="2294659" y="-38397"/>
                  <a:pt x="2577087" y="10459"/>
                  <a:pt x="2716091" y="0"/>
                </a:cubicBezTo>
                <a:cubicBezTo>
                  <a:pt x="2731860" y="122159"/>
                  <a:pt x="2687276" y="286271"/>
                  <a:pt x="2716091" y="424116"/>
                </a:cubicBezTo>
                <a:cubicBezTo>
                  <a:pt x="2744906" y="561961"/>
                  <a:pt x="2703758" y="650178"/>
                  <a:pt x="2716091" y="824226"/>
                </a:cubicBezTo>
                <a:cubicBezTo>
                  <a:pt x="2728424" y="998274"/>
                  <a:pt x="2688575" y="1018621"/>
                  <a:pt x="2716091" y="1200329"/>
                </a:cubicBezTo>
                <a:cubicBezTo>
                  <a:pt x="2511182" y="1219156"/>
                  <a:pt x="2357512" y="1176902"/>
                  <a:pt x="2227195" y="1200329"/>
                </a:cubicBezTo>
                <a:cubicBezTo>
                  <a:pt x="2096878" y="1223756"/>
                  <a:pt x="1939249" y="1148485"/>
                  <a:pt x="1683976" y="1200329"/>
                </a:cubicBezTo>
                <a:cubicBezTo>
                  <a:pt x="1428703" y="1252173"/>
                  <a:pt x="1269224" y="1164883"/>
                  <a:pt x="1140758" y="1200329"/>
                </a:cubicBezTo>
                <a:cubicBezTo>
                  <a:pt x="1012292" y="1235775"/>
                  <a:pt x="812672" y="1167418"/>
                  <a:pt x="624701" y="1200329"/>
                </a:cubicBezTo>
                <a:cubicBezTo>
                  <a:pt x="436730" y="1233240"/>
                  <a:pt x="208106" y="1144407"/>
                  <a:pt x="0" y="1200329"/>
                </a:cubicBezTo>
                <a:cubicBezTo>
                  <a:pt x="-50310" y="1067409"/>
                  <a:pt x="23771" y="957076"/>
                  <a:pt x="0" y="776213"/>
                </a:cubicBezTo>
                <a:cubicBezTo>
                  <a:pt x="-23771" y="595350"/>
                  <a:pt x="24572" y="550718"/>
                  <a:pt x="0" y="352097"/>
                </a:cubicBezTo>
                <a:cubicBezTo>
                  <a:pt x="-24572" y="153476"/>
                  <a:pt x="2515" y="110124"/>
                  <a:pt x="0" y="0"/>
                </a:cubicBezTo>
                <a:close/>
              </a:path>
            </a:pathLst>
          </a:custGeom>
          <a:noFill/>
          <a:ln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dirty="0"/>
              <a:t>To determine if the instance is an instance of a specific parent class, use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isinstance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4064E5-DFDC-41F9-873F-EF555973078B}"/>
              </a:ext>
            </a:extLst>
          </p:cNvPr>
          <p:cNvCxnSpPr>
            <a:cxnSpLocks/>
          </p:cNvCxnSpPr>
          <p:nvPr/>
        </p:nvCxnSpPr>
        <p:spPr>
          <a:xfrm flipV="1">
            <a:off x="3059832" y="5877272"/>
            <a:ext cx="322995" cy="144016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197A939-9C3C-4108-9282-42AC65CFBB80}"/>
              </a:ext>
            </a:extLst>
          </p:cNvPr>
          <p:cNvCxnSpPr/>
          <p:nvPr/>
        </p:nvCxnSpPr>
        <p:spPr>
          <a:xfrm>
            <a:off x="2699792" y="1484784"/>
            <a:ext cx="683115" cy="1152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BB513AA3-BFC2-48D9-9CB0-A6BC93B89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907" y="4732392"/>
            <a:ext cx="5295900" cy="20002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A03A36-BB1C-471F-9E45-D12340385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898" y="5343832"/>
            <a:ext cx="7620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54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547</Words>
  <Application>Microsoft Office PowerPoint</Application>
  <PresentationFormat>On-screen Show (4:3)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Object-Oriented Programming (OOP) in Python</vt:lpstr>
      <vt:lpstr>Object-Oriented Programming(OOP)</vt:lpstr>
      <vt:lpstr>Python Classes and Objects (Instances)</vt:lpstr>
      <vt:lpstr>Instance Attribute &amp; Class Attribute</vt:lpstr>
      <vt:lpstr>Class Employee</vt:lpstr>
      <vt:lpstr>Instance Methods</vt:lpstr>
      <vt:lpstr>Python Object Inheritance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(OOP) in Python</dc:title>
  <dc:creator>Mireilla Bikanga Ada</dc:creator>
  <cp:lastModifiedBy>Mireilla Bikanga Ada</cp:lastModifiedBy>
  <cp:revision>3</cp:revision>
  <dcterms:created xsi:type="dcterms:W3CDTF">2020-12-18T11:37:52Z</dcterms:created>
  <dcterms:modified xsi:type="dcterms:W3CDTF">2026-09-17T10:08:16Z</dcterms:modified>
</cp:coreProperties>
</file>